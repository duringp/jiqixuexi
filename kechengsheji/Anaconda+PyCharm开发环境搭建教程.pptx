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2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9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今天的教程。在开始Python数据分析和机器学习的学习之前，第一步也是至关重要的一步，就是搭建一个稳定、高效的开发环境。今天，我们将一起学习如何使用Anaconda和PyCharm这两个强大的工具，来搭建一个最适合初学者的Python开发环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教程将分为十个部分。我们会先分别介绍Anaconda和PyCharm是什么，以及为什么要将它们搭配使用。然后，我们会一步步带大家完成安装和配置。最后，还会介绍一些常用命令和常见问题的解决方法，确保大家能够顺利上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我们来认识一下Anaconda。简单来说，它不是一个简单的软件，而是一个“Python全家桶”。它帮你打包好了Python解释器、包管理器以及数据分析和机器学习所需的大部分常用库。你可以把它理解为一个超级工具箱，开箱即用，省去了自己配置环境的大量麻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为什么我们强烈推荐初学者使用Anaconda呢？主要有三个核心优势。第一，它能完美解决Python版本和第三方库版本冲突的问题，让你的每个项目都有一个干净独立的环境。第二，它提供了强大的conda包管理器，让你可以一键安装各种复杂的科学计算库，再也不用为各种依赖问题头疼。第三，它跨平台，并且自带了一些非常好用的编辑器，让你安装完成后就能立刻开始编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说完了Anaconda，我们再来看看PyCharm。如果说Anaconda是我们的“军火库”，那么PyCharm就是我们的“作战指挥室”。它是一个专门用来写Python代码的专业编辑器。它的代码提示非常智能，能帮你节省大量查文档的时间；它还能实时检查语法错误，让你少走弯路。对于我们初学者来说，免费的社区版就完全够用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明白了，Anaconda和PyCharm的搭配逻辑非常清晰。Anaconda就像一个“环境管家”，在后台默默地为我们管理好Python环境和各种库。而PyCharm则是我们的“前线指挥官”，提供了一个友好的界面让我们来写代码、运行代码。两者结合，就能发挥出1+1&gt;2的效果，让我们的开发过程变得非常顺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接下来是实操环节。首先安装Anaconda。大家可以从官网下载，记得选择适合自己系统的版本。安装过程中，最关键的两点：一是安装路径不要有中文和空格，二是一定要勾选“Add Anaconda to my PATH”这个选项。安装完成后，我们可以打开Anaconda Prompt，输入conda --version来验证是否安装成功。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安装好Anaconda后，我们就可以使用conda命令来管理我们的环境了。这里列出了几个最常用的命令：查看环境列表、创建环境、进入和退出环境、删除环境，以及安装库。大家可以把这些命令保存下来，后续会经常用到。特别是`conda activate`和`conda install`，是使用频率最高的两个命令。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Anaconda安装好了，接下来安装PyCharm。同样是去官网下载，这次我们选择免费的社区版。安装过程非常傻瓜化，一路点击下一步就行。第一次打开的时候会有一些简单的配置，大家不用纠结，全部选默认就好，以后随时可以调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现在到了最核心的一步：如何让PyCharm使用我们Anaconda创建的虚拟环境。当我们在PyCharm里新建项目时，一定要选择“Existing environment”，然后手动找到我们Anaconda环境里的python.exe文件。这个文件的路径通常在Anaconda安装目录的envs文件夹下，对应你创建的环境名称。这样，PyCharm就能使用我们精心配置的环境来运行代码了。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配置完成后，我们来写一段简单的代码测试一下。这段代码导入了numpy、pandas和sklearn库，并打印出它们的版本号。如果代码能够顺利运行，没有报错，并且正确输出了版本信息，那么恭喜你，你的Anaconda+PyCharm开发环境已经完全搭建成功了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为了方便大家后续学习机器学习，这里提供一条非常实用的命令。在Anaconda Prompt中，进入你的虚拟环境，然后运行这条conda install命令，它会帮你一键安装好scikit-learn、matplotlib等所有机器学习入门所需的库。这样，你就可以无缝衔接我们接下来的sklearn课程了。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配置过程中，大家可能会遇到一些问题。这里列出了三个最常见的问题及其解决方案。比如命令行不认识conda，通常是环境变量没配置好。PyCharm找不到解释器，多半是路径选错了。而导入库时报错，基本都是因为库没有安装在当前使用的虚拟环境里。希望这些解决方案能帮大家顺利解决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我们来总结一下。今天我们学习了如何使用Anaconda来管理Python环境和库，以及如何使用PyCharm来编写和运行代码。记住这个核心逻辑：Anaconda管环境，PyCharm管代码。掌握了这个组合，你就拥有了一个强大且稳定的开发环境，可以毫无后顾之忧地开始你的Python学习之旅了。我的分享到此结束，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svg"/><Relationship Id="rId8" Type="http://schemas.openxmlformats.org/officeDocument/2006/relationships/image" Target="../media/image22.png"/><Relationship Id="rId7" Type="http://schemas.openxmlformats.org/officeDocument/2006/relationships/image" Target="../media/image21.svg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5.svg"/><Relationship Id="rId10" Type="http://schemas.openxmlformats.org/officeDocument/2006/relationships/image" Target="../media/image24.png"/><Relationship Id="rId1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1.svg"/><Relationship Id="rId7" Type="http://schemas.openxmlformats.org/officeDocument/2006/relationships/image" Target="../media/image30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Relationship Id="rId3" Type="http://schemas.openxmlformats.org/officeDocument/2006/relationships/image" Target="../media/image26.png"/><Relationship Id="rId2" Type="http://schemas.openxmlformats.org/officeDocument/2006/relationships/image" Target="../media/image15.jpeg"/><Relationship Id="rId10" Type="http://schemas.openxmlformats.org/officeDocument/2006/relationships/notesSlide" Target="../notesSlides/notesSlide6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jpeg"/><Relationship Id="rId8" Type="http://schemas.openxmlformats.org/officeDocument/2006/relationships/image" Target="../media/image39.svg"/><Relationship Id="rId7" Type="http://schemas.openxmlformats.org/officeDocument/2006/relationships/image" Target="../media/image38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2.svg"/><Relationship Id="rId6" Type="http://schemas.openxmlformats.org/officeDocument/2006/relationships/image" Target="../media/image41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3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9.svg"/><Relationship Id="rId1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0.jpe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svg"/><Relationship Id="rId8" Type="http://schemas.openxmlformats.org/officeDocument/2006/relationships/image" Target="../media/image58.png"/><Relationship Id="rId7" Type="http://schemas.openxmlformats.org/officeDocument/2006/relationships/image" Target="../media/image57.jpe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6.svg"/><Relationship Id="rId8" Type="http://schemas.openxmlformats.org/officeDocument/2006/relationships/image" Target="../media/image65.png"/><Relationship Id="rId7" Type="http://schemas.openxmlformats.org/officeDocument/2006/relationships/image" Target="../media/image64.svg"/><Relationship Id="rId6" Type="http://schemas.openxmlformats.org/officeDocument/2006/relationships/image" Target="../media/image63.png"/><Relationship Id="rId5" Type="http://schemas.openxmlformats.org/officeDocument/2006/relationships/image" Target="../media/image62.svg"/><Relationship Id="rId4" Type="http://schemas.openxmlformats.org/officeDocument/2006/relationships/image" Target="../media/image61.png"/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1" Type="http://schemas.openxmlformats.org/officeDocument/2006/relationships/notesSlide" Target="../notesSlides/notesSlide1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6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239000" y="2336800"/>
            <a:ext cx="101600" cy="1270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0" y="2222500"/>
            <a:ext cx="419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开发环境搭建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0" y="3810000"/>
            <a:ext cx="419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FFFF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Anaconda + PyCharm 基础教程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0" y="5207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 数据分析 &amp; 机器学习 必备环境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58800"/>
            <a:ext cx="76200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482600"/>
            <a:ext cx="254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812800"/>
          </a:xfrm>
          <a:prstGeom prst="roundRect">
            <a:avLst>
              <a:gd name="adj" fmla="val 125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812800" cy="812800"/>
          </a:xfrm>
          <a:prstGeom prst="roundRect">
            <a:avLst>
              <a:gd name="adj" fmla="val 125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8128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1524000"/>
            <a:ext cx="3937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 Anaconda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603500"/>
            <a:ext cx="5207000" cy="812800"/>
          </a:xfrm>
          <a:prstGeom prst="roundRect">
            <a:avLst>
              <a:gd name="adj" fmla="val 125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2603500"/>
            <a:ext cx="812800" cy="812800"/>
          </a:xfrm>
          <a:prstGeom prst="roundRect">
            <a:avLst>
              <a:gd name="adj" fmla="val 125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2603500"/>
            <a:ext cx="8128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778000" y="2603500"/>
            <a:ext cx="3937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Anaconda 优势与作用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683000"/>
            <a:ext cx="5207000" cy="812800"/>
          </a:xfrm>
          <a:prstGeom prst="roundRect">
            <a:avLst>
              <a:gd name="adj" fmla="val 125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3683000"/>
            <a:ext cx="812800" cy="812800"/>
          </a:xfrm>
          <a:prstGeom prst="roundRect">
            <a:avLst>
              <a:gd name="adj" fmla="val 125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3683000"/>
            <a:ext cx="8128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778000" y="3683000"/>
            <a:ext cx="3937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 PyCharm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762500"/>
            <a:ext cx="5207000" cy="812800"/>
          </a:xfrm>
          <a:prstGeom prst="roundRect">
            <a:avLst>
              <a:gd name="adj" fmla="val 125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762500"/>
            <a:ext cx="812800" cy="812800"/>
          </a:xfrm>
          <a:prstGeom prst="roundRect">
            <a:avLst>
              <a:gd name="adj" fmla="val 125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4762500"/>
            <a:ext cx="8128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778000" y="4762500"/>
            <a:ext cx="3937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两款软件搭配意义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715000"/>
            <a:ext cx="5207000" cy="812800"/>
          </a:xfrm>
          <a:prstGeom prst="roundRect">
            <a:avLst>
              <a:gd name="adj" fmla="val 125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5715000"/>
            <a:ext cx="812800" cy="812800"/>
          </a:xfrm>
          <a:prstGeom prst="roundRect">
            <a:avLst>
              <a:gd name="adj" fmla="val 125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5715000"/>
            <a:ext cx="8128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778000" y="5715000"/>
            <a:ext cx="3937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Anaconda 安装步骤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1524000"/>
            <a:ext cx="5207000" cy="812800"/>
          </a:xfrm>
          <a:prstGeom prst="roundRect">
            <a:avLst>
              <a:gd name="adj" fmla="val 125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223000" y="1524000"/>
            <a:ext cx="812800" cy="812800"/>
          </a:xfrm>
          <a:prstGeom prst="roundRect">
            <a:avLst>
              <a:gd name="adj" fmla="val 125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223000" y="1524000"/>
            <a:ext cx="8128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239000" y="1524000"/>
            <a:ext cx="3937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虚拟环境创建与管理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23000" y="2603500"/>
            <a:ext cx="5207000" cy="812800"/>
          </a:xfrm>
          <a:prstGeom prst="roundRect">
            <a:avLst>
              <a:gd name="adj" fmla="val 125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223000" y="2603500"/>
            <a:ext cx="812800" cy="812800"/>
          </a:xfrm>
          <a:prstGeom prst="roundRect">
            <a:avLst>
              <a:gd name="adj" fmla="val 125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223000" y="2603500"/>
            <a:ext cx="8128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239000" y="2603500"/>
            <a:ext cx="3937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PyCharm 安装配置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223000" y="3683000"/>
            <a:ext cx="5207000" cy="812800"/>
          </a:xfrm>
          <a:prstGeom prst="roundRect">
            <a:avLst>
              <a:gd name="adj" fmla="val 125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6223000" y="3683000"/>
            <a:ext cx="812800" cy="812800"/>
          </a:xfrm>
          <a:prstGeom prst="roundRect">
            <a:avLst>
              <a:gd name="adj" fmla="val 125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223000" y="3683000"/>
            <a:ext cx="8128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239000" y="3683000"/>
            <a:ext cx="3937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PyCharm 关联 Anaconda 解释器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6223000" y="4762500"/>
            <a:ext cx="5207000" cy="812800"/>
          </a:xfrm>
          <a:prstGeom prst="roundRect">
            <a:avLst>
              <a:gd name="adj" fmla="val 125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6223000" y="4762500"/>
            <a:ext cx="812800" cy="812800"/>
          </a:xfrm>
          <a:prstGeom prst="roundRect">
            <a:avLst>
              <a:gd name="adj" fmla="val 125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6223000" y="4762500"/>
            <a:ext cx="8128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239000" y="4762500"/>
            <a:ext cx="3937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常用命令 + 实操演示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6223000" y="5715000"/>
            <a:ext cx="5207000" cy="812800"/>
          </a:xfrm>
          <a:prstGeom prst="roundRect">
            <a:avLst>
              <a:gd name="adj" fmla="val 125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6223000" y="5715000"/>
            <a:ext cx="812800" cy="812800"/>
          </a:xfrm>
          <a:prstGeom prst="roundRect">
            <a:avLst>
              <a:gd name="adj" fmla="val 125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6223000" y="5715000"/>
            <a:ext cx="8128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7239000" y="5715000"/>
            <a:ext cx="39370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常见报错解决方法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什么是Anaconda？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33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 集成环境管理工具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Anaconda 是一个开源的 Python 发行版本，被称为数据分析领域的“全家桶”。它内置了 conda、Python 解释器以及 180+ 常用科学计算包，开箱即用，极大降低了环境配置门槛。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302000"/>
            <a:ext cx="5334000" cy="1587500"/>
          </a:xfrm>
          <a:prstGeom prst="roundRect">
            <a:avLst>
              <a:gd name="adj" fmla="val 64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3492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34544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核心组成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000500"/>
            <a:ext cx="495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Python解释器：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运行代码的核心引擎。 •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Conda管理器：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一站式解决库的安装与更新。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预装库：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 NumPy, Pandas, Matplotlib 等数据分析神器。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5080000"/>
            <a:ext cx="5334000" cy="1460500"/>
          </a:xfrm>
          <a:prstGeom prst="roundRect">
            <a:avLst>
              <a:gd name="adj" fmla="val 695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5270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52324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57785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环境隔离：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为不同项目创建独立环境，彻底解决版本冲突问题。</a:t>
            </a:r>
            <a:b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版本切换：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轻松在 Python 2 和 Python 3 之间自由切换，兼容无忧。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rcRect t="20175" b="20175"/>
          <a:stretch>
            <a:fillRect/>
          </a:stretch>
        </p:blipFill>
        <p:spPr>
          <a:xfrm>
            <a:off x="6604000" y="1778000"/>
            <a:ext cx="4826000" cy="215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4" name="AutoShape 14"/>
          <p:cNvSpPr/>
          <p:nvPr/>
        </p:nvSpPr>
        <p:spPr>
          <a:xfrm>
            <a:off x="6604000" y="4318000"/>
            <a:ext cx="4826000" cy="2222500"/>
          </a:xfrm>
          <a:prstGeom prst="roundRect">
            <a:avLst>
              <a:gd name="adj" fmla="val 6857"/>
            </a:avLst>
          </a:prstGeom>
          <a:solidFill>
            <a:srgbClr val="F0FDF4">
              <a:alpha val="100000"/>
            </a:srgbClr>
          </a:solidFill>
          <a:ln w="25400" cap="flat" cmpd="sng">
            <a:solidFill>
              <a:srgbClr val="86EFA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0" y="4572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493000" y="45720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为什么选择 Anaconda？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858000" y="5334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4532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对于初学者或数据分析师，它能帮你避开繁琐的环境配置和依赖报错，将更多精力集中在数据探索与算法实现上。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为什么要用Anaconda？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3529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76200"/>
          </a:xfrm>
          <a:prstGeom prst="roundRect">
            <a:avLst>
              <a:gd name="adj" fmla="val 20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" y="22352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778000" y="2209800"/>
            <a:ext cx="3937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告别版本冲突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3175000"/>
            <a:ext cx="45974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为每个项目创建独立的虚拟环境，实现项目间环境隔离。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支持不同项目灵活使用不同版本的Python解释器和第三方库，互不干扰。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有效解决“这个电脑上能跑，换个电脑就报错”的环境配置难题。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76200"/>
          </a:xfrm>
          <a:prstGeom prst="roundRect">
            <a:avLst>
              <a:gd name="adj" fmla="val 20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7800" y="2159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88200" y="2133600"/>
            <a:ext cx="3937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一键安装海量库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527800" y="2921000"/>
            <a:ext cx="4597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内置强大的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conda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包管理器，一键快速安装 numpy、pandas、matplotlib、scikit-learn 等主流科学计算库，并自动处理复杂的库依赖关系。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4064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223000" y="4064000"/>
            <a:ext cx="5207000" cy="76200"/>
          </a:xfrm>
          <a:prstGeom prst="roundRect">
            <a:avLst>
              <a:gd name="adj" fmla="val 20000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7800" y="4445000"/>
            <a:ext cx="457200" cy="4572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188200" y="4419600"/>
            <a:ext cx="3937000" cy="48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跨平台与自带工具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527800" y="5207000"/>
            <a:ext cx="45974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完美支持 Windows、macOS、Linux 三大主流操作系统。并预装了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Jupyter Notebook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Spyder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等流行开发工具，开箱即用，降低上手门槛。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 PyCharm？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2000" y="1905000"/>
            <a:ext cx="2286000" cy="2286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762000" y="44450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 JetBrains 公司开发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 开发的行业标准 IDE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3556000" y="1524000"/>
            <a:ext cx="787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专业的 Python 代码编辑器 / IDE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一款专为 Python 设计的集成开发环境，旨在为开发者提供高效、智能的编码体验。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556000" y="2540000"/>
            <a:ext cx="7874000" cy="1905000"/>
          </a:xfrm>
          <a:prstGeom prst="roundRect">
            <a:avLst>
              <a:gd name="adj" fmla="val 533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0" y="27940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381500" y="2794000"/>
            <a:ext cx="152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智能代码提示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实时联想补全代码，大幅减少打字与查文档时间。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6000" y="2794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667500" y="2794000"/>
            <a:ext cx="152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实时语法纠错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代码输入即检查，提前发现潜在错误，少走弯路。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27940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826500" y="2794000"/>
            <a:ext cx="152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一键调试运行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内置运行环境与调试器，轻松排查逻辑错误。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556000" y="4699000"/>
            <a:ext cx="3746500" cy="1778000"/>
          </a:xfrm>
          <a:prstGeom prst="roundRect">
            <a:avLst>
              <a:gd name="adj" fmla="val 5714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46500" y="4953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318000" y="48895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社区版 (Community)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完全免费 · 教学首选</a:t>
            </a:r>
            <a:endParaRPr lang="en-US" sz="12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功能已非常强大，足以满足数据分析、机器学习和日常开发需求。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83500" y="4699000"/>
            <a:ext cx="3746500" cy="1778000"/>
          </a:xfrm>
          <a:prstGeom prst="roundRect">
            <a:avLst>
              <a:gd name="adj" fmla="val 5714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74000" y="4953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445500" y="4889500"/>
            <a:ext cx="279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3A8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专业版 (Professional)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付费订阅 · 进阶开发</a:t>
            </a:r>
            <a:endParaRPr lang="en-US" sz="1200" b="1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增加了 Web 开发、数据库支持、框架集成等高级功能，适合专业开发者。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Anaconda + PyCharm 搭配逻辑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540000"/>
          </a:xfrm>
          <a:prstGeom prst="roundRect">
            <a:avLst>
              <a:gd name="adj" fmla="val 6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12499" r="12499"/>
          <a:stretch>
            <a:fillRect/>
          </a:stretch>
        </p:blipFill>
        <p:spPr>
          <a:xfrm>
            <a:off x="1016000" y="1841500"/>
            <a:ext cx="1397000" cy="1397000"/>
          </a:xfrm>
          <a:prstGeom prst="roundRect">
            <a:avLst>
              <a:gd name="adj" fmla="val 10909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2667000" y="1778000"/>
            <a:ext cx="304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Anaconda</a:t>
            </a: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(环境管家)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📋 负责：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环境管理、Python版本、第三方库安装。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🎭 角色：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幕后英雄，为代码运行提供稳定可靠的“土壤”。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223000" y="1524000"/>
            <a:ext cx="5207000" cy="2540000"/>
          </a:xfrm>
          <a:prstGeom prst="roundRect">
            <a:avLst>
              <a:gd name="adj" fmla="val 60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477000" y="1841500"/>
            <a:ext cx="1397000" cy="1397000"/>
          </a:xfrm>
          <a:prstGeom prst="roundRect">
            <a:avLst>
              <a:gd name="adj" fmla="val 10909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8128000" y="1778000"/>
            <a:ext cx="3048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PyCharm</a:t>
            </a: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(前线指挥官)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2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⌨️ 负责：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写代码、运行代码、调试项目。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👀 角色：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交互界面，让你直观地控制和编写代码。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318000"/>
            <a:ext cx="3378200" cy="2032000"/>
          </a:xfrm>
          <a:prstGeom prst="roundRect">
            <a:avLst>
              <a:gd name="adj" fmla="val 750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572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4572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环境统一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5207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全班教学环境配置保持一致，彻底避免因环境配置差异导致的代码运行报错问题。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06900" y="4318000"/>
            <a:ext cx="3378200" cy="2032000"/>
          </a:xfrm>
          <a:prstGeom prst="roundRect">
            <a:avLst>
              <a:gd name="adj" fmla="val 750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900" y="4572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168900" y="4572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项目迁移方便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60900" y="5207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更换电脑或分享项目时，只需简单复制环境配置文件，即可一键还原所有依赖。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51800" y="4318000"/>
            <a:ext cx="3378200" cy="2032000"/>
          </a:xfrm>
          <a:prstGeom prst="roundRect">
            <a:avLst>
              <a:gd name="adj" fmla="val 750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05800" y="45720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813800" y="45720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新手零配置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05800" y="5207000"/>
            <a:ext cx="28702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无需繁琐的手动配置，软件安装完成后即可直接上手，开启机器学习项目实战。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Anaconda下载与安装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907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16510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下载地址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Download Address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访问官网：shturl.cc/DqMt3H2r0j6sh8S，请选择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Windows 64位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的最新版本进行下载。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8575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28575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1242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651000" y="29845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安装路径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Installation Path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路径中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严禁包含中文和空格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，推荐安装在根目录下，例如：</a:t>
            </a:r>
            <a:r>
              <a:rPr lang="en-US" sz="1200" b="0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D:\Anaconda3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191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4577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51000" y="43180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关键配置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Key Configuration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必须勾选：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Add Anaconda to my PATH environment variable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，否则无法全局使用conda命令。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3975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53975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6642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651000" y="5524500"/>
            <a:ext cx="406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验证安装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Verify Installation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打开</a:t>
            </a: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Anaconda Prompt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，输入</a:t>
            </a:r>
            <a:r>
              <a:rPr lang="en-US" sz="1200" b="0" i="0" u="none" strike="noStrike">
                <a:solidFill>
                  <a:srgbClr val="22C55E"/>
                </a:solidFill>
                <a:latin typeface="Roboto Mono"/>
                <a:ea typeface="Roboto Mono"/>
                <a:cs typeface="Roboto Mono"/>
                <a:sym typeface="Roboto Mono"/>
              </a:rPr>
              <a:t>conda --version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，显示版本号即安装成功。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rcRect t="8269" b="8269"/>
          <a:stretch>
            <a:fillRect/>
          </a:stretch>
        </p:blipFill>
        <p:spPr>
          <a:xfrm>
            <a:off x="6223000" y="1651000"/>
            <a:ext cx="5207000" cy="3302000"/>
          </a:xfrm>
          <a:prstGeom prst="roundRect">
            <a:avLst>
              <a:gd name="adj" fmla="val 4615"/>
            </a:avLst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20" name="AutoShape 20"/>
          <p:cNvSpPr/>
          <p:nvPr/>
        </p:nvSpPr>
        <p:spPr>
          <a:xfrm>
            <a:off x="6223000" y="5207000"/>
            <a:ext cx="5207000" cy="1270000"/>
          </a:xfrm>
          <a:prstGeom prst="roundRect">
            <a:avLst>
              <a:gd name="adj" fmla="val 12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350000" y="53975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💻 操作界面示例</a:t>
            </a:r>
            <a:endParaRPr lang="en-US" sz="1100"/>
          </a:p>
          <a:p>
            <a:pPr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安装成功后，在“开始”菜单中打开 Anaconda Prompt，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输入验证命令后显示版本号的界面效果参考。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Conda常用基础命令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4572000"/>
          </a:xfrm>
          <a:prstGeom prst="roundRect">
            <a:avLst>
              <a:gd name="adj" fmla="val 3333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143000" y="2159000"/>
            <a:ext cx="9906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1. 查看已安装的虚拟环境列表</a:t>
            </a:r>
            <a:br>
              <a:rPr lang="en-US" sz="16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500" b="1" i="0" u="none" strike="noStrike">
                <a:solidFill>
                  <a:srgbClr val="22C55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conda env list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2. 创建环境：名为'myenv'，指定Python版本为3.8</a:t>
            </a:r>
            <a:br>
              <a:rPr lang="en-US" sz="16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500" b="1" i="0" u="none" strike="noStrike">
                <a:solidFill>
                  <a:srgbClr val="22C55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conda create -n</a:t>
            </a:r>
            <a:r>
              <a:rPr lang="en-US" sz="1500" b="0" i="0" u="none" strike="noStrike">
                <a:solidFill>
                  <a:srgbClr val="FBBF2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myenv</a:t>
            </a:r>
            <a:r>
              <a:rPr lang="en-US" sz="1500" b="1" i="0" u="none" strike="noStrike">
                <a:solidFill>
                  <a:srgbClr val="22C55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python=</a:t>
            </a:r>
            <a:r>
              <a:rPr lang="en-US" sz="1500" b="0" i="0" u="none" strike="noStrike">
                <a:solidFill>
                  <a:srgbClr val="FBBF2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3.8</a:t>
            </a:r>
            <a:endParaRPr lang="en-US" sz="1500" b="0" i="0" u="none" strike="noStrike">
              <a:solidFill>
                <a:srgbClr val="FBBF2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3. 进入 (激活) 虚拟环境</a:t>
            </a:r>
            <a:br>
              <a:rPr lang="en-US" sz="16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500" b="1" i="0" u="none" strike="noStrike">
                <a:solidFill>
                  <a:srgbClr val="22C55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conda activate</a:t>
            </a:r>
            <a:r>
              <a:rPr lang="en-US" sz="1500" b="0" i="0" u="none" strike="noStrike">
                <a:solidFill>
                  <a:srgbClr val="FBBF2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myenv</a:t>
            </a:r>
            <a:endParaRPr lang="en-US" sz="1500" b="0" i="0" u="none" strike="noStrike">
              <a:solidFill>
                <a:srgbClr val="FBBF2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4. 退出当前虚拟环境</a:t>
            </a:r>
            <a:br>
              <a:rPr lang="en-US" sz="16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500" b="1" i="0" u="none" strike="noStrike">
                <a:solidFill>
                  <a:srgbClr val="22C55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conda deactivate</a:t>
            </a:r>
            <a:endParaRPr lang="en-US" sz="1500" b="1" i="0" u="none" strike="noStrike">
              <a:solidFill>
                <a:srgbClr val="22C55E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5. 删除指定虚拟环境 (--all 参数表示删除环境及所有包)</a:t>
            </a:r>
            <a:br>
              <a:rPr lang="en-US" sz="16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500" b="1" i="0" u="none" strike="noStrike">
                <a:solidFill>
                  <a:srgbClr val="22C55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conda remove -n</a:t>
            </a:r>
            <a:r>
              <a:rPr lang="en-US" sz="1500" b="0" i="0" u="none" strike="noStrike">
                <a:solidFill>
                  <a:srgbClr val="FBBF2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myenv --all</a:t>
            </a:r>
            <a:endParaRPr lang="en-US" sz="1500" b="0" i="0" u="none" strike="noStrike">
              <a:solidFill>
                <a:srgbClr val="FBBF2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6. 在当前激活的环境中安装库 (示例：数据分析三件套)</a:t>
            </a:r>
            <a:br>
              <a:rPr lang="en-US" sz="16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500" b="1" i="0" u="none" strike="noStrike">
                <a:solidFill>
                  <a:srgbClr val="22C55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conda install</a:t>
            </a:r>
            <a:r>
              <a:rPr lang="en-US" sz="1500" b="0" i="0" u="none" strike="noStrike">
                <a:solidFill>
                  <a:srgbClr val="F8FA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numpy pandas scikit-learn</a:t>
            </a:r>
            <a:endParaRPr lang="en-US" sz="1500" b="0" i="0" u="none" strike="noStrike">
              <a:solidFill>
                <a:srgbClr val="F8FAF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PyCharm 安装教程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简单三步，轻松搞定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2794000" cy="3556000"/>
          </a:xfrm>
          <a:prstGeom prst="roundRect">
            <a:avLst>
              <a:gd name="adj" fmla="val 5454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6000" y="2794000"/>
            <a:ext cx="2286000" cy="228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889000" y="5207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 Python IDE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937000" y="2413000"/>
            <a:ext cx="2413000" cy="3556000"/>
          </a:xfrm>
          <a:prstGeom prst="roundRect">
            <a:avLst>
              <a:gd name="adj" fmla="val 63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1000" y="2794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953000" y="27940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下载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127500" y="3683000"/>
            <a:ext cx="203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前往官方网站下载：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shturl.cc/Znd887eXsxOD0TPPeE2RKd0S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请务必选择</a:t>
            </a: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Community 社区版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，完全免费且功能满足日常开发。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604000" y="2413000"/>
            <a:ext cx="2413000" cy="3556000"/>
          </a:xfrm>
          <a:prstGeom prst="roundRect">
            <a:avLst>
              <a:gd name="adj" fmla="val 63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8000" y="27940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620000" y="27940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安装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794500" y="3683000"/>
            <a:ext cx="203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安装过程非常简单，无需修改任何复杂配置。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建议在安装选项中勾选“创建桌面快捷方式”，方便后续快速启动。其他选项保持默认，一路点击“下一步”即可完成。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9271000" y="2413000"/>
            <a:ext cx="2413000" cy="3556000"/>
          </a:xfrm>
          <a:prstGeom prst="roundRect">
            <a:avLst>
              <a:gd name="adj" fmla="val 63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0" y="2794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0287000" y="27940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配置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461500" y="3683000"/>
            <a:ext cx="203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首次打开软件时，会引导进行简单的初始化设置。</a:t>
            </a:r>
            <a:endParaRPr lang="en-US" sz="1100"/>
          </a:p>
          <a:p>
            <a:pPr indent="0" algn="l">
              <a:lnSpc>
                <a:spcPct val="125000"/>
              </a:lnSpc>
              <a:spcBef>
                <a:spcPts val="10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无论是界面主题还是编辑器的相关选项，全部选择“默认”即可。这些设置在后续的使用过程中，可以随时根据个人喜好调整。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PyCharm关联Anaconda解释器（核心步骤）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这是将PyCharm和Anaconda连接起来的关键一步，确保项目使用正确的运行环境。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5207000" cy="952500"/>
          </a:xfrm>
          <a:prstGeom prst="roundRect">
            <a:avLst>
              <a:gd name="adj" fmla="val 1066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762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3114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新建项目：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打开PyCharm，点击“New Project”开始创建新项目流程。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5207000" cy="952500"/>
          </a:xfrm>
          <a:prstGeom prst="roundRect">
            <a:avLst>
              <a:gd name="adj" fmla="val 1066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762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4544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选择解释器：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在弹出窗口中，选择</a:t>
            </a: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Existing environment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（已存在的环境）选项。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445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4445000"/>
            <a:ext cx="762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45974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定位Python解释器：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点击右侧“...”，找到Anaconda虚拟环境下的 python.exe。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示例：</a:t>
            </a:r>
            <a:r>
              <a:rPr lang="en-US" sz="1200" b="0" i="0" u="none" strike="noStrike">
                <a:solidFill>
                  <a:srgbClr val="DC262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D:\Anaconda3\envs\myenv\python.exe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651500"/>
            <a:ext cx="5207000" cy="952500"/>
          </a:xfrm>
          <a:prstGeom prst="roundRect">
            <a:avLst>
              <a:gd name="adj" fmla="val 1066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5651500"/>
            <a:ext cx="76200" cy="952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16000" y="5803900"/>
            <a:ext cx="4699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确认创建：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点击“Create”按钮，PyCharm会自动索引该环境下所有已安装的库。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/>
          <a:srcRect l="8464" r="8464"/>
          <a:stretch>
            <a:fillRect/>
          </a:stretch>
        </p:blipFill>
        <p:spPr>
          <a:xfrm>
            <a:off x="6223000" y="2032000"/>
            <a:ext cx="5207000" cy="4064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7" name="AutoShape 17"/>
          <p:cNvSpPr/>
          <p:nvPr/>
        </p:nvSpPr>
        <p:spPr>
          <a:xfrm>
            <a:off x="6223000" y="6223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图示：PyCharm 添加解释器界面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项目实战测试代码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PyCharm 中新建一个 Python 文件，输入以下代码并运行。如果能成功打印出版本号，说明你的 Anaconda 与 PyCharm 环境已经完美打通并配置成功！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10668000" cy="2413000"/>
          </a:xfrm>
          <a:prstGeom prst="roundRect">
            <a:avLst>
              <a:gd name="adj" fmla="val 6315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667000"/>
            <a:ext cx="1016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# 测试Anaconda库+PyCharm运行</a:t>
            </a:r>
            <a:br>
              <a:rPr lang="en-US" sz="14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00" b="0" i="0" u="none" strike="noStrik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</a:t>
            </a:r>
            <a:r>
              <a:rPr lang="en-US" sz="1400" b="0" i="0" u="none" strike="noStrike">
                <a:solidFill>
                  <a:srgbClr val="F8FA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numpy</a:t>
            </a:r>
            <a:r>
              <a:rPr lang="en-US" sz="1400" b="0" i="0" u="none" strike="noStrik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as</a:t>
            </a:r>
            <a:r>
              <a:rPr lang="en-US" sz="1400" b="0" i="0" u="none" strike="noStrike">
                <a:solidFill>
                  <a:srgbClr val="F8FA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np</a:t>
            </a:r>
            <a:br>
              <a:rPr lang="en-US" sz="14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00" b="0" i="0" u="none" strike="noStrik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</a:t>
            </a:r>
            <a:r>
              <a:rPr lang="en-US" sz="1400" b="0" i="0" u="none" strike="noStrike">
                <a:solidFill>
                  <a:srgbClr val="F8FA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pandas</a:t>
            </a:r>
            <a:r>
              <a:rPr lang="en-US" sz="1400" b="0" i="0" u="none" strike="noStrik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as</a:t>
            </a:r>
            <a:r>
              <a:rPr lang="en-US" sz="1400" b="0" i="0" u="none" strike="noStrike">
                <a:solidFill>
                  <a:srgbClr val="F8FA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pd</a:t>
            </a:r>
            <a:br>
              <a:rPr lang="en-US" sz="14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00" b="0" i="0" u="none" strike="noStrik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from</a:t>
            </a:r>
            <a:r>
              <a:rPr lang="en-US" sz="1400" b="0" i="0" u="none" strike="noStrike">
                <a:solidFill>
                  <a:srgbClr val="F8FA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sklearn.linear_model</a:t>
            </a:r>
            <a:r>
              <a:rPr lang="en-US" sz="1400" b="0" i="0" u="none" strike="noStrik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</a:t>
            </a:r>
            <a:r>
              <a:rPr lang="en-US" sz="1400" b="0" i="0" u="none" strike="noStrike">
                <a:solidFill>
                  <a:srgbClr val="F8FA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LinearRegression</a:t>
            </a:r>
            <a:br>
              <a:rPr lang="en-US" sz="14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00" b="0" i="0" u="none" strike="noStrik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</a:t>
            </a:r>
            <a:r>
              <a:rPr lang="en-US" sz="1400" b="0" i="0" u="none" strike="noStrike">
                <a:solidFill>
                  <a:srgbClr val="F8FA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-US" sz="1400" b="0" i="0" u="none" strike="noStrike">
                <a:solidFill>
                  <a:srgbClr val="34D3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"环境配置成功！"</a:t>
            </a:r>
            <a:r>
              <a:rPr lang="en-US" sz="1400" b="0" i="0" u="none" strike="noStrike">
                <a:solidFill>
                  <a:srgbClr val="F8FA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</a:t>
            </a:r>
            <a:br>
              <a:rPr lang="en-US" sz="1400" b="0" i="0" u="none" strike="noStrike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00" b="0" i="0" u="none" strike="noStrik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print</a:t>
            </a:r>
            <a:r>
              <a:rPr lang="en-US" sz="1400" b="0" i="0" u="none" strike="noStrike">
                <a:solidFill>
                  <a:srgbClr val="F8FA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</a:t>
            </a:r>
            <a:r>
              <a:rPr lang="en-US" sz="1400" b="0" i="0" u="none" strike="noStrike">
                <a:solidFill>
                  <a:srgbClr val="34D3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"NumPy 版本: "</a:t>
            </a:r>
            <a:r>
              <a:rPr lang="en-US" sz="1400" b="0" i="0" u="none" strike="noStrike">
                <a:solidFill>
                  <a:srgbClr val="F8FAF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+ np.__version__)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5080000"/>
            <a:ext cx="10668000" cy="1270000"/>
          </a:xfrm>
          <a:prstGeom prst="roundRect">
            <a:avLst>
              <a:gd name="adj" fmla="val 12000"/>
            </a:avLst>
          </a:prstGeom>
          <a:solidFill>
            <a:srgbClr val="F0FDF4">
              <a:alpha val="100000"/>
            </a:srgbClr>
          </a:solidFill>
          <a:ln w="25400" cap="flat" cmpd="sng">
            <a:solidFill>
              <a:srgbClr val="22C55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78000" y="54102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794000" y="5359400"/>
            <a:ext cx="787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运行成功 = 环境全部搭建完成！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机器学习环境一键配齐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685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Anaconda Prompt 中激活你的虚拟环境，执行下方命令，即可自动安装机器学习与数据分析的核心组件：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413000"/>
            <a:ext cx="6858000" cy="1143000"/>
          </a:xfrm>
          <a:prstGeom prst="roundRect">
            <a:avLst>
              <a:gd name="adj" fmla="val 8888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2603500"/>
            <a:ext cx="647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22C55E"/>
                </a:solidFill>
                <a:latin typeface="Menlo"/>
                <a:ea typeface="Menlo"/>
                <a:cs typeface="Menlo"/>
                <a:sym typeface="Menlo"/>
              </a:rPr>
              <a:t>conda install scikit-learn matplotlib seaborn jupyter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937000"/>
            <a:ext cx="2159000" cy="2032000"/>
          </a:xfrm>
          <a:prstGeom prst="roundRect">
            <a:avLst>
              <a:gd name="adj" fmla="val 50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4127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4127500"/>
            <a:ext cx="1333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算法核心库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826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scikit-learn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：集成了各类经典的监督与无监督机器学习算法，是入门首选。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238500" y="3937000"/>
            <a:ext cx="2159000" cy="2032000"/>
          </a:xfrm>
          <a:prstGeom prst="roundRect">
            <a:avLst>
              <a:gd name="adj" fmla="val 50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000" y="4127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937000" y="4127500"/>
            <a:ext cx="1333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数据可视化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429000" y="4826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Matplotlib / Seaborn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：从基础图表到统计图形，满足数据分析全流程展示需求。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715000" y="3937000"/>
            <a:ext cx="2159000" cy="2032000"/>
          </a:xfrm>
          <a:prstGeom prst="roundRect">
            <a:avLst>
              <a:gd name="adj" fmla="val 5000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05500" y="4127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413500" y="4127500"/>
            <a:ext cx="1333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交互式编程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905500" y="4826000"/>
            <a:ext cx="177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Jupyter Notebook</a:t>
            </a: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：支持代码、文本、图片混排，是学习与展示代码的最佳工具。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382000" y="1905000"/>
            <a:ext cx="3048000" cy="3048000"/>
          </a:xfrm>
          <a:prstGeom prst="roundRect">
            <a:avLst>
              <a:gd name="adj" fmla="val 6666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9" name="AutoShape 19"/>
          <p:cNvSpPr/>
          <p:nvPr/>
        </p:nvSpPr>
        <p:spPr>
          <a:xfrm>
            <a:off x="8382000" y="5207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安装完成后，开启你的</a:t>
            </a:r>
            <a:b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机器学习学习之旅吧！🚀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常见问题解决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1587500"/>
          </a:xfrm>
          <a:prstGeom prst="roundRect">
            <a:avLst>
              <a:gd name="adj" fmla="val 64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762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14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651000"/>
            <a:ext cx="4191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 1：命令行不识别 conda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原因：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安装 Anaconda 时未勾选 “Add Anaconda3 to my PATH environment variable” 选项。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重新安装并勾选该选项，或手动在系统环境变量中添加 Anaconda 路径。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5207000" cy="1587500"/>
          </a:xfrm>
          <a:prstGeom prst="roundRect">
            <a:avLst>
              <a:gd name="adj" fmla="val 640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76200" cy="1587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492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429000"/>
            <a:ext cx="4191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 2：PyCharm 找不到解释器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原因：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解释器路径配置错误，或未激活/切换到对应的虚拟环境。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重新定位 Python 解释器路径，确保其指向 Anaconda 安装目录下 envs 文件夹中的具体虚拟环境。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5080000"/>
            <a:ext cx="5207000" cy="1460500"/>
          </a:xfrm>
          <a:prstGeom prst="roundRect">
            <a:avLst>
              <a:gd name="adj" fmla="val 695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5080000"/>
            <a:ext cx="76200" cy="1460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270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5207000"/>
            <a:ext cx="419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1182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 3：库导入报错 (ModuleNotFoundError)</a:t>
            </a:r>
            <a:endParaRPr lang="en-US" sz="1100"/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原因：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未在当前项目使用的虚拟环境中安装该 Python 库。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 Anaconda Prompt 中先用 `conda activate 环境名` 进入环境，再用 `conda install 库名` 安装。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rcRect l="11629" r="11629"/>
          <a:stretch>
            <a:fillRect/>
          </a:stretch>
        </p:blipFill>
        <p:spPr>
          <a:xfrm>
            <a:off x="6350000" y="1651000"/>
            <a:ext cx="5080000" cy="2667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6" name="AutoShape 16"/>
          <p:cNvSpPr/>
          <p:nvPr/>
        </p:nvSpPr>
        <p:spPr>
          <a:xfrm>
            <a:off x="6350000" y="4572000"/>
            <a:ext cx="5080000" cy="1778000"/>
          </a:xfrm>
          <a:prstGeom prst="roundRect">
            <a:avLst>
              <a:gd name="adj" fmla="val 8571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47625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21500" y="47244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调试小技巧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遇到报错时，不要慌张。仔细阅读终端或 IDE 的报错信息，通常第一行红字就会给出具体原因。大部分配置问题都是路径错误或环境不匹配，建议多检查环境变量和项目配置。</a:t>
            </a:r>
            <a:endParaRPr lang="en-US" sz="12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35000" y="1016000"/>
            <a:ext cx="2603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0" y="1270000"/>
            <a:ext cx="457200" cy="4572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73200" y="12446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环境管理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89000" y="1905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</a:t>
            </a: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Anaconda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高效管理 Python 虚拟环境与复杂的第三方依赖库。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3492500" y="1016000"/>
            <a:ext cx="2603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6500" y="12700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330700" y="12446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代码开发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746500" y="1905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</a:t>
            </a:r>
            <a:r>
              <a:rPr lang="en-US" sz="13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PyCharm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作为主力 IDE，完成机器学习代码的编写、调试与运行。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1016000"/>
            <a:ext cx="2603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1270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88200" y="12446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黄金搭档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04000" y="1905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“Anaconda + PyCharm”是初学者入门 Python 机器学习的最优组合方案。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207500" y="1016000"/>
            <a:ext cx="26035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61500" y="12700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0045700" y="12446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即刻启程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461500" y="19050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完成环境配置后，无需犹豫，马上开启你的 Scikit-learn 机器学习实战之旅！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0" y="3683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 &amp; A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0" y="533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1000"/>
              </a:spcBef>
            </a:pPr>
            <a:r>
              <a:rPr lang="en-US" sz="1600" b="0" i="0" u="none" strike="noStrike" spc="400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WATCHING</a:t>
            </a:r>
            <a:endParaRPr lang="en-US" sz="1600" b="0" i="0" u="none" strike="noStrike" spc="400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3942</Words>
  <Application>WPS 演示</Application>
  <PresentationFormat/>
  <Paragraphs>256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32" baseType="lpstr">
      <vt:lpstr>Arial</vt:lpstr>
      <vt:lpstr>宋体</vt:lpstr>
      <vt:lpstr>Wingdings</vt:lpstr>
      <vt:lpstr>Arial</vt:lpstr>
      <vt:lpstr>Noto Sans SC</vt:lpstr>
      <vt:lpstr>Roboto Mono</vt:lpstr>
      <vt:lpstr>Source Code Pro</vt:lpstr>
      <vt:lpstr>Consolas</vt:lpstr>
      <vt:lpstr>Menlo</vt:lpstr>
      <vt:lpstr>微软雅黑</vt:lpstr>
      <vt:lpstr>Arial Unicode MS</vt:lpstr>
      <vt:lpstr>Consolas</vt:lpstr>
      <vt:lpstr>Menlo</vt:lpstr>
      <vt:lpstr>Roboto Mono</vt:lpstr>
      <vt:lpstr>Source Code Pro</vt:lpstr>
      <vt:lpstr>Advent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唐蓉</cp:lastModifiedBy>
  <cp:revision>2</cp:revision>
  <dcterms:created xsi:type="dcterms:W3CDTF">2026-05-19T08:00:13Z</dcterms:created>
  <dcterms:modified xsi:type="dcterms:W3CDTF">2026-05-19T08:00:22Z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B587D6DA45FF4B64AA0332C930AB545F_12</vt:lpwstr>
  </property>
  <property fmtid="{D5CDD505-2E9C-101B-9397-08002B2CF9AE}" pid="3" name="KSOProductBuildVer">
    <vt:lpwstr>2052-12.1.0.26375</vt:lpwstr>
  </property>
</Properties>
</file>