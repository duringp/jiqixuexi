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9.svg" ContentType="image/svg+xml"/>
  <Override PartName="/ppt/media/image6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Scikit-learn机器学习教学课程。在今天的分享中，我们将一起探索机器学习的世界，并重点学习如何使用强大而友好的Scikit-learn库来解决实际问题。无论你是机器学习的初学者，还是希望巩固基础的开发者，这门课程都将带你从零开始，一步步掌握从理论到实战的全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什么是机器学习。简单来说，机器学习就是赋予计算机从数据中学习的能力。它不是编写死的规则，而是让计算机通过分析海量数据，自己总结出规律。就像我们人类通过学习和经验来认识世界一样，机器也能通过数据来学习和预测。这张图形象地展示了数据如何通过学习和优化，最终形成一个智能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机器学习主要可以分为三大类型。第一种是监督学习，就像有老师指导一样，我们用带有正确答案（标签）的数据来训练模型，让它学会预测。第二种是无监督学习，这里没有老师，模型需要自己在数据中发现结构，比如把相似的东西归类。第三种是强化学习，它更像我们通过试错来学习，通过不断尝试并根据结果获得奖励或惩罚，来学会做出最优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我们的主角是Scikit-learn，通常简称sklearn。它是Python世界里最受欢迎的机器学习库之一。它的最大优点就是简单易用，功能全面，而且有非常完善的文档。无论你是想做分类、回归还是聚类，sklearn都提供了统一的接口，让你可以快速上手并实现你的想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理解sklearn，我们需要了解它的生态系统。它是构建在NumPy、SciPy和Matplotlib这三大基石之上的。NumPy负责高效的数值计算，SciPy提供了更高级的科学算法，而Matplotlib则负责将数据和结果可视化。正是这些强大的库，才使得sklearn能够如此强大和易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接下来，我们进入第一章，深入了解Scikit-learn的核心API和它的设计哲学。理解这一点，是高效使用sklearn的关键。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cikit-learn的设计哲学可以总结为“万物皆Estimator”。它定义了三个核心接口：Estimator，用于拟合数据；Predictor，用于进行预测；以及Transformer，用于数据转换。这三个接口构成了sklearn的基础，所有复杂的功能都是围绕它们构建的。比如，训练模型用fit，预测用predict，数据预处理用transform。这种一致性让我们可以轻松地组合和替换不同的组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数据预处理和模型训练过程中可能出现的数据泄露问题，sklearn提供了一个非常强大的工具——Pipeline，也就是管道。它可以将数据标准化、特征选择、模型训练等多个步骤串联起来，形成一个整体。这样做不仅让代码更简洁，更重要的是，它能确保在交叉验证时，每一步预处理都只在当前的训练数据上进行，从而有效防止了数据泄露，保证了模型评估的准确性。此外，它还支持对管道内所有步骤的参数进行统一的超参数搜索，极大地提升了建模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了解了核心API后，我们来看一下使用sklearn进行机器学习的通用流程。这个流程非常标准化，掌握了它，你就能应对绝大多数的机器学习任务。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通用流程主要包括七个步骤：首先是加载和探索数据，然后进行必要的预处理；接着，将数据划分为训练集和测试集；之后选择一个模型进行训练；训练好后，用它来进行预测；然后通过评估指标来检验模型的性能；最后，如果不满意，可以进行模型调优。这个流程环环相扣，构成了一个完整的机器学习项目生命周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理论讲完了，我们开始实战。第三章，我们将通过一个经典的分类任务——鸢尾花品种预测，来学习如何使用sklearn进行监督学习。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任务是根据鸢尾花的花萼和花瓣尺寸这四个特征，来预测它属于哪个品种。我们使用经典的鸢尾花数据集，并用支持向量机模型来解决这个问题。大家可以看到，整个代码流程非常清晰：加载数据、划分数据集、创建一个包含标准化和模型训练的管道，然后训练和预测。这正是我们之前提到的通用流程的体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训练完了，效果怎么样呢？我们需要用评估指标来衡量。最常用的是准确率，但它有时候会有误导性。因此，我们还会关注精确率、召回率和F1分数。此外，混淆矩阵是一个非常直观的工具，它可以清晰地告诉我们模型在每个类别上的分类情况，哪些类别容易混淆，一目了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分类任务我们完成了，接下来进入第四章，我们来看另一种重要的监督学习任务——回归。这次我们要预测的是一个连续的值。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回归任务是预测加州街区的房价中位数。我们使用加州房价数据集，并尝试用两种不同的模型——简单的线性回归和更强大的随机森林回归来解决问题。代码流程和分类任务类似，但评估指标会有所不同。我们将看到，不同的模型在同一个问题上表现差异很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回归任务，我们主要看两个指标：均方根误差RMSE和决定系数R方。RMSE告诉我们预测的误差有多大，而R方告诉我们模型能解释多少数据的变化。从结果可以看到，随机森林的R方达到了0.8，明显优于线性回归。此外，为了让评估结果更可靠，我们通常会使用交叉验证，它能减少单次测试结果的偶然性，给出一个更稳健的模型性能评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监督学习的两种主要任务我们都实践过了。现在，我们进入第五章，探索无监督学习。这次，我们没有标签，需要让模型自己去发现数据中的结构。我们将用聚类任务来举例。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次使用鸢尾花数据集，但这次我们假装不知道花的品种标签。我们的任务是用K-Means算法把这些花分成3个簇。K-Means的核心思想是找到K个中心点，使得每个点都离它最近的中心点最近。右边的动图很好地展示了这个迭代过程。需要注意的是，K-Means算法对特征的尺度很敏感，所以数据预处理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我们在前面的案例中多次提到数据预处理，它在机器学习中至关重要，甚至可以说是一门艺术。第六章，我们就来系统地学习一下数据预处理的常用技巧。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预处理主要包括几个方面。首先是特征缩放，确保所有特征在一个量级上，这对很多模型都非常重要。其次是处理分类变量，比如把“红色”、“蓝色”这样的文本转换成数字。最后是处理缺失值，现实世界的数据很少是完美的，我们需要用合理的方式填充这些空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最后，我们来到第七章。一个好的模型不仅要在训练集上表现好，更重要的是在新数据上表现好。这一章，我们将学习如何科学地评估模型，并通过调优让它变得更强。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模型的性能很大程度上取决于它的超参数。手动调参效率太低，sklearn提供了自动调参工具。最常用的是网格搜索和随机搜索。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左边介绍的是网格搜索：它的核心逻辑是“穷举”，尝试你指定的所有参数组合。它的优势在于结果绝对可靠，能找到你设定范围内的最好结果；但代价是计算成本极高，当参数一多，耗时会显著增加。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介绍的是随机搜索：它在参数空间里随机采样。这听起来像是碰运气，但在高维空间中，它比网格搜索效率高得多，能更快地找到“足够好”的解。虽然不保证全局最优，但在大多数真实业务场景下，它是性价比更高的选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通过这些工具，我们可以系统地找到最优的模型配置，避免“拍脑袋”。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到这里就接近尾声了。我们总结一下，Scikit-learn是一个非常优秀的机器学习库，特别适合入门和快速验证想法。当然，机器学习的世界远不止于此。如果你想继续深入，可以去研究算法背后的数学原理，学习更高级的特征工程技术，或者探索深度学习、自然语言处理等更广阔的领域。希望大家能在AI的学习道路上越走越远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我的分享到此结束，感谢大家的聆听。现在是问答环节，大家有什么问题可以随时提出。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jpe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34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4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jpe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image" Target="../media/image5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61.png"/><Relationship Id="rId1" Type="http://schemas.openxmlformats.org/officeDocument/2006/relationships/image" Target="../media/image60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0" y="139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&amp; DATA SCIENCE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0" y="22860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机器学习教学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什么是机器学习？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赋予计算机从数据中学习的能力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520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机器学习是人工智能的一个核心分支，它的核心思想是让计算机通过分析大量数据，自主发现其中的模式和规律，从而能够对新的、未知的数据做出预测或决策，而无需人类编写显式的规则。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63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4508500"/>
            <a:ext cx="393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机器学习是一种让计算机从数据中学习并改进自身性能的算法集合。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t="21779" b="21779"/>
          <a:stretch>
            <a:fillRect/>
          </a:stretch>
        </p:blipFill>
        <p:spPr>
          <a:xfrm>
            <a:off x="6350000" y="1524000"/>
            <a:ext cx="5080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6350000" y="4699000"/>
            <a:ext cx="5080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5143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4953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通过在数据上训练模型，让模型学习数据背后的规律，从而实现预测或决策。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机器学习的三大类型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4953000"/>
          </a:xfrm>
          <a:prstGeom prst="roundRect">
            <a:avLst>
              <a:gd name="adj" fmla="val 307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035" b="4035"/>
          <a:stretch>
            <a:fillRect/>
          </a:stretch>
        </p:blipFill>
        <p:spPr>
          <a:xfrm>
            <a:off x="952500" y="1714500"/>
            <a:ext cx="2921000" cy="1651000"/>
          </a:xfrm>
          <a:prstGeom prst="roundRect">
            <a:avLst>
              <a:gd name="adj" fmla="val 461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952500" y="3492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监督学习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Supervised Learning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使用带有标签的数据进行训练，模型学习输入特征和输出标签之间的映射关系，目标是对新数据进行准确预测。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533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预测离散标签（如：垃圾邮件识别）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预测连续数值（如：房价趋势预测）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4953000"/>
          </a:xfrm>
          <a:prstGeom prst="roundRect">
            <a:avLst>
              <a:gd name="adj" fmla="val 307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12941" r="12941"/>
          <a:stretch>
            <a:fillRect/>
          </a:stretch>
        </p:blipFill>
        <p:spPr>
          <a:xfrm>
            <a:off x="4635500" y="1714500"/>
            <a:ext cx="2921000" cy="1651000"/>
          </a:xfrm>
          <a:prstGeom prst="roundRect">
            <a:avLst>
              <a:gd name="adj" fmla="val 461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635500" y="3492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无监督学习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Unsupervised Learning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仅使用无标签的数据进行训练，无需人为干预，模型自主探索并发现数据中隐藏的内在结构、分布规律或相似性模式。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533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聚类：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按相似性将数据点分组（如：用户分群）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降维：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保留关键信息，精简特征数量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4953000"/>
          </a:xfrm>
          <a:prstGeom prst="roundRect">
            <a:avLst>
              <a:gd name="adj" fmla="val 307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l="5822" r="5822"/>
          <a:stretch>
            <a:fillRect/>
          </a:stretch>
        </p:blipFill>
        <p:spPr>
          <a:xfrm>
            <a:off x="8318500" y="1714500"/>
            <a:ext cx="2921000" cy="1651000"/>
          </a:xfrm>
          <a:prstGeom prst="roundRect">
            <a:avLst>
              <a:gd name="adj" fmla="val 461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318500" y="3492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强化学习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Reinforcement Learning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智能体（Agent）通过与环境持续交互、不断试错来学习。以“奖励”机制为核心，目标是通过选择最优动作序列最大化长期累积奖励。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533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试错探索 + 延迟奖励反馈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AlphaGo、机器人自主导航、游戏AI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什么是Scikit-learn (sklearn)？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一个强大的 Python 机器学习库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520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 是一个基于 Python 的开源机器学习库，建立在 NumPy、SciPy 和 Matplotlib 科学计算库之上。它专为数据挖掘和数据分析任务而设计，为开发者和数据科学家提供了一套功能全面、接口简洁且性能高效的工具集，是业界公认的机器学习入门与实战首选库。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20547" b="20547"/>
          <a:stretch>
            <a:fillRect/>
          </a:stretch>
        </p:blipFill>
        <p:spPr>
          <a:xfrm>
            <a:off x="6223000" y="2286000"/>
            <a:ext cx="5207000" cy="1651000"/>
          </a:xfrm>
          <a:prstGeom prst="roundRect">
            <a:avLst>
              <a:gd name="adj" fmla="val 923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191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445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4381500"/>
            <a:ext cx="152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简单易用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拥有高度一致和直观的 API 设计，极大降低了学习门槛，学习曲线平缓。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4191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4445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81500" y="4381500"/>
            <a:ext cx="152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功能全面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46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覆盖了从数据预处理、特征工程、模型训练到模型评估和调优的完整机器学习工作流。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4191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445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4381500"/>
            <a:ext cx="152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文档完善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提供极其详尽、专业且规范的官方文档，包含大量可直接运行的教程和示例代码。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4191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4445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842500" y="4381500"/>
            <a:ext cx="152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社区活跃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07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拥有全球庞大的用户与开发者社区，持续迭代更新，活跃的维护保障了库的生命力。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Scikit-learn的生态系统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构建在强大的科学计算库之上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95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Scikit-learn并非孤立存在，它构建在几个非常核心的Python科学计算库之上，这些库共同构成了一个强大的数据分析和机器学习生态系统，为其提供了坚实的基础与丰富的扩展能力。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30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21875" r="21874"/>
          <a:stretch>
            <a:fillRect/>
          </a:stretch>
        </p:blipFill>
        <p:spPr>
          <a:xfrm>
            <a:off x="1143000" y="3556000"/>
            <a:ext cx="762000" cy="7620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032000" y="355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NumPy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572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提供了高性能的N维数组对象和数学函数，是整个Python科学计算生态的基石，为Scikit-learn提供了核心的数据结构支持。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30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2441" r="2441"/>
          <a:stretch>
            <a:fillRect/>
          </a:stretch>
        </p:blipFill>
        <p:spPr>
          <a:xfrm>
            <a:off x="4826000" y="3556000"/>
            <a:ext cx="762000" cy="7620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715000" y="355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SciPy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4572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在NumPy的基础上，提供了线性代数、数值优化、信号处理、图像处理等大量科学计算算法，极大地丰富了机器学习算法的实现。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330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8509000" y="3556000"/>
            <a:ext cx="762000" cy="7620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9398000" y="355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Matplotlib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4572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Python最著名的绘图库，用于将数据分布、特征关系和模型结果进行可视化展示，帮助研究人员直观地理解数据并调试模型。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 核心 API 与设计哲学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31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APIS &amp; DESIGN PHILOSOPHY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核心API接口：万物皆Estimator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05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415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Estimator (估算器)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92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 中所有模型和数据转换类的基础基类，定义了机器学习对象的核心行为规范。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064000"/>
            <a:ext cx="2921000" cy="9525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4191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核心方法: fit(X, y)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“学习”或“拟合”过程，根据输入数据调整内部参数与状态。</a:t>
            </a:r>
            <a:endParaRPr lang="en-US" sz="1200" b="0" i="0" u="none" strike="noStrike">
              <a:solidFill>
                <a:srgbClr val="16653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52500" y="5270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从历史数据中提取模式与规律，是所有机器学习流程的第一步。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905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18415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Predictor (预测器)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292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所有具备预测功能的模型都会实现此接口，用于产生最终的业务结果。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4064000"/>
            <a:ext cx="2921000" cy="9525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62500" y="4191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核心方法: predict(X)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输入新的未知数据，基于已训练模型返回对应的预测结果。</a:t>
            </a:r>
            <a:endParaRPr lang="en-US" sz="1200" b="0" i="0" u="none" strike="noStrike">
              <a:solidFill>
                <a:srgbClr val="16653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635500" y="5270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解决实际业务问题，如分类（类别）、回归（数值）或聚类（分组）。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128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905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017000" y="18415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 (转换器)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292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专为数据预处理与特征工程设计的接口，确保数据符合模型输入要求。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4064000"/>
            <a:ext cx="2921000" cy="9525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445500" y="4191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核心方法: transform(X) / fit_transform(X)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对输入数据进行结构转换或数值映射。</a:t>
            </a:r>
            <a:endParaRPr lang="en-US" sz="1200" b="0" i="0" u="none" strike="noStrike">
              <a:solidFill>
                <a:srgbClr val="16653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318500" y="5270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实现标准化、归一化、降维(PCA)、特征编码等，提升模型性能。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强大的Pipeline（管道）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将数据处理与模型训练的多个步骤串联成一个整体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核心痛点：手动分步易导致“数据泄露”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在机器学习流程中，如果先对全部数据做标准化，再划分训练集和测试集，测试集的信息会被泄露到训练过程中，导致模型评估结果过于乐观且不准确。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683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81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解决方案：Pipeline 一站式管道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将数据预处理（如标准化、特征选择）和模型训练串联成一个单一的、完整的估计器。在交叉验证或网格搜索时，Pipeline能保证每一步都严格隔离，互不干扰。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2705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539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53975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代码简洁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流程封装为一行，逻辑清晰易维护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565400" y="52705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2400" y="539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073400" y="53975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防止泄露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自动隔离训练测试数据，结果真实可靠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381500" y="52705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5397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889500" y="53975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统一调参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一键搜索管道中所有步骤的超参数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2032000"/>
            <a:ext cx="5080000" cy="4445000"/>
          </a:xfrm>
          <a:prstGeom prst="roundRect">
            <a:avLst>
              <a:gd name="adj" fmla="val 342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2032000"/>
            <a:ext cx="5080000" cy="508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2133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Python 代码实现示例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2794000"/>
            <a:ext cx="4699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# 导入必要的库和模型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879F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sklearn.pipeline</a:t>
            </a:r>
            <a:r>
              <a:rPr lang="en-US" sz="1200" b="0" i="0" u="none" strike="noStrike">
                <a:solidFill>
                  <a:srgbClr val="E879F9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2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Pipeline</a:t>
            </a:r>
            <a:endParaRPr lang="en-US" sz="1200" b="0" i="0" u="none" strike="noStrike">
              <a:solidFill>
                <a:srgbClr val="FACC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879F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sklearn.preprocessing</a:t>
            </a:r>
            <a:r>
              <a:rPr lang="en-US" sz="1200" b="0" i="0" u="none" strike="noStrike">
                <a:solidFill>
                  <a:srgbClr val="E879F9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2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StandardScaler</a:t>
            </a:r>
            <a:endParaRPr lang="en-US" sz="1200" b="0" i="0" u="none" strike="noStrike">
              <a:solidFill>
                <a:srgbClr val="FACC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879F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sklearn.linear_model</a:t>
            </a:r>
            <a:r>
              <a:rPr lang="en-US" sz="1200" b="0" i="0" u="none" strike="noStrike">
                <a:solidFill>
                  <a:srgbClr val="E879F9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2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LogisticRegression</a:t>
            </a:r>
            <a:endParaRPr lang="en-US" sz="1200" b="0" i="0" u="none" strike="noStrike">
              <a:solidFill>
                <a:srgbClr val="FACC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# 1. 定义管道: 标准化 -&gt; 逻辑回归分类器</a:t>
            </a:r>
            <a:endParaRPr lang="en-US" sz="12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pipe =</a:t>
            </a:r>
            <a:r>
              <a:rPr lang="en-US" sz="12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Pipeline</a:t>
            </a: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([</a:t>
            </a:r>
            <a:endParaRPr lang="en-US" sz="12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200" b="0" i="0" u="none" strike="noStrike">
                <a:solidFill>
                  <a:srgbClr val="86EFAC"/>
                </a:solidFill>
                <a:latin typeface="Roboto Mono"/>
                <a:ea typeface="Roboto Mono"/>
                <a:cs typeface="Roboto Mono"/>
                <a:sym typeface="Roboto Mono"/>
              </a:rPr>
              <a:t>'scaler'</a:t>
            </a: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 StandardScaler()),</a:t>
            </a:r>
            <a:endParaRPr lang="en-US" sz="12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200" b="0" i="0" u="none" strike="noStrike">
                <a:solidFill>
                  <a:srgbClr val="86EFAC"/>
                </a:solidFill>
                <a:latin typeface="Roboto Mono"/>
                <a:ea typeface="Roboto Mono"/>
                <a:cs typeface="Roboto Mono"/>
                <a:sym typeface="Roboto Mono"/>
              </a:rPr>
              <a:t>'clf'</a:t>
            </a: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 LogisticRegression())</a:t>
            </a:r>
            <a:endParaRPr lang="en-US" sz="12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])</a:t>
            </a:r>
            <a:endParaRPr lang="en-US" sz="12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# 2. 像普通模型一样调用 fit 和 predict</a:t>
            </a:r>
            <a:endParaRPr lang="en-US" sz="12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pipe.fit(X_train, y_train)</a:t>
            </a:r>
            <a:endParaRPr lang="en-US" sz="12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y_pred = pipe.predict(X_test)</a:t>
            </a:r>
            <a:endParaRPr lang="en-US" sz="12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27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9FAF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机器学习通用流程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318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10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STANDARDIZED WORKFLOW OF MACHINE LEARNING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 通用流程七大步骤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778000"/>
            <a:ext cx="1498600" cy="4191000"/>
          </a:xfrm>
          <a:prstGeom prst="roundRect">
            <a:avLst>
              <a:gd name="adj" fmla="val 1016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14986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968500"/>
            <a:ext cx="149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" y="3048000"/>
            <a:ext cx="1371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数据加载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与探索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" y="4064000"/>
            <a:ext cx="1371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sklearn.datasets 或 Pandas 加载数据并进行探索性分析。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84400" y="1778000"/>
            <a:ext cx="1498600" cy="4191000"/>
          </a:xfrm>
          <a:prstGeom prst="roundRect">
            <a:avLst>
              <a:gd name="adj" fmla="val 1016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184400" y="1778000"/>
            <a:ext cx="14986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184400" y="1968500"/>
            <a:ext cx="149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47900" y="3048000"/>
            <a:ext cx="1371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47900" y="4064000"/>
            <a:ext cx="1371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sklearn.preprocessing 模块进行数据清洗、特征缩放和类别特征编码。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60800" y="1778000"/>
            <a:ext cx="1498600" cy="4191000"/>
          </a:xfrm>
          <a:prstGeom prst="roundRect">
            <a:avLst>
              <a:gd name="adj" fmla="val 1016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860800" y="1778000"/>
            <a:ext cx="14986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860800" y="1968500"/>
            <a:ext cx="149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924300" y="3048000"/>
            <a:ext cx="1371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924300" y="4064000"/>
            <a:ext cx="1371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train_test_split 工具，将处理好的数据切分为训练集与测试集。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37200" y="1778000"/>
            <a:ext cx="1498600" cy="4191000"/>
          </a:xfrm>
          <a:prstGeom prst="roundRect">
            <a:avLst>
              <a:gd name="adj" fmla="val 1016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537200" y="1778000"/>
            <a:ext cx="14986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537200" y="1968500"/>
            <a:ext cx="149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00700" y="3048000"/>
            <a:ext cx="1371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600700" y="4064000"/>
            <a:ext cx="1371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选择合适的机器学习模型，使用训练集数据调用 fit 方法进行模型拟合。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13600" y="1778000"/>
            <a:ext cx="1498600" cy="4191000"/>
          </a:xfrm>
          <a:prstGeom prst="roundRect">
            <a:avLst>
              <a:gd name="adj" fmla="val 1016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213600" y="1778000"/>
            <a:ext cx="14986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213600" y="1968500"/>
            <a:ext cx="149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277100" y="3048000"/>
            <a:ext cx="1371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77100" y="4064000"/>
            <a:ext cx="1371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将测试集输入到训练好的模型中，调用 predict 方法，得到预测结果。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0" y="1778000"/>
            <a:ext cx="1498600" cy="4191000"/>
          </a:xfrm>
          <a:prstGeom prst="roundRect">
            <a:avLst>
              <a:gd name="adj" fmla="val 1016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890000" y="1778000"/>
            <a:ext cx="14986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90000" y="1968500"/>
            <a:ext cx="149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953500" y="3048000"/>
            <a:ext cx="1371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953500" y="4064000"/>
            <a:ext cx="1371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sklearn.metrics 中的指标，对比预测值与真实标签，评估模型性能。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490200" y="1778000"/>
            <a:ext cx="1498600" cy="4191000"/>
          </a:xfrm>
          <a:prstGeom prst="roundRect">
            <a:avLst>
              <a:gd name="adj" fmla="val 1016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0490200" y="1778000"/>
            <a:ext cx="14986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10490200" y="1968500"/>
            <a:ext cx="149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553700" y="3048000"/>
            <a:ext cx="1371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调优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0553700" y="4064000"/>
            <a:ext cx="1371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GridSearchCV 等工具进行超参数网格搜索，优化模型配置，提升表现。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监督学习 · 分类任务实战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318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1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SUPERVISED LEARNING - CLASSIFICATION TASK PRACTICE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案例：鸢尾花品种分类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根据花萼和花瓣尺寸，预测其所属品种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609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我们将使用经典的鸢尾花 (Iris) 数据集，并采用支持向量机 (SVM) 作为分类器。通过标准化数据预处理和构建机器学习管道，实现对三种不同鸢尾花品种的精准分类预测。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6096000" cy="3048000"/>
          </a:xfrm>
          <a:prstGeom prst="roundRect">
            <a:avLst>
              <a:gd name="adj" fmla="val 3333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33655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代码实现 (Python)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810000"/>
            <a:ext cx="5715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导入库与加载数据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sklearn.datasets import load_iris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sklearn.model_selection import train_test_split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sklearn.svm import SVC; from sklearn.pipeline import Pipeline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iris = load_iris()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X, y = iris.data, iris.target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划分训练集与测试集 (30% 测试集)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X_train, X_test, y_train, y_test = train_test_split(X, y, test_size=0.3, random_state=42)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3. 建立流水线并训练模型 (标准化 + 线性核SVM)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pipe = Pipeline([('scaler', StandardScaler()), ('svm', SVC(kernel='linear'))])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pipe.fit(X_train, y_train)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4. 执行预测</a:t>
            </a:r>
            <a:b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y_pred = pipe.predict(X_test)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 t="24511" b="24511"/>
          <a:stretch>
            <a:fillRect/>
          </a:stretch>
        </p:blipFill>
        <p:spPr>
          <a:xfrm>
            <a:off x="7366000" y="2413000"/>
            <a:ext cx="4064000" cy="3683000"/>
          </a:xfrm>
          <a:prstGeom prst="roundRect">
            <a:avLst>
              <a:gd name="adj" fmla="val 413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模型评估：如何衡量分类效果？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1778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65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 (Accuracy)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正确预测的样本占总样本的比例，衡量整体预测的正确性。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400" y="3111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2984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精确率 (Precision)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在所有预测为“真”的样本中，实际为“真”的样本所占的比例。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" y="4445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318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召回率 (Recall)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在所有实际为“真”的样本中，被成功预测为“真”的样本所占的比例。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400" y="5588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546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F1 分数 (F1-Score)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精确率和召回率的调和平均值，用于平衡两者，综合评估模型性能。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1651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混淆矩阵 (Confusion Matrix)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540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 N x N 的矩阵，用于清晰展示分类模型在每个类别上的预测情况。矩阵中的对角线元素代表正确分类的样本数量，而非对角线元素则揭示了模型容易混淆的类别，是分析模型错误类型的关键工具。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rcRect l="1240" r="1240"/>
          <a:stretch>
            <a:fillRect/>
          </a:stretch>
        </p:blipFill>
        <p:spPr>
          <a:xfrm>
            <a:off x="6350000" y="3810000"/>
            <a:ext cx="5080000" cy="2413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监督学习 · 回归任务实战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SUPERVISED LEARNING: REGRESSION TASK PRACTICE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5461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案例：加州房价预测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根据街区特征，预测房价中位数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我们将使用经典的“加州房价 (California Housing)”数据集，通过代码实现并对比 **线性回归** 与 **随机森林回归** 两种算法在解决回归问题上的效果差异。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5207000" cy="3175000"/>
          </a:xfrm>
          <a:prstGeom prst="roundRect">
            <a:avLst>
              <a:gd name="adj" fmla="val 48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11387" b="11387"/>
          <a:stretch>
            <a:fillRect/>
          </a:stretch>
        </p:blipFill>
        <p:spPr>
          <a:xfrm>
            <a:off x="889000" y="3175000"/>
            <a:ext cx="4953000" cy="2159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5461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图：加州不同地区的房价与房屋特征分布趋势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3048000"/>
            <a:ext cx="5207000" cy="3175000"/>
          </a:xfrm>
          <a:prstGeom prst="roundRect">
            <a:avLst>
              <a:gd name="adj" fmla="val 480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3200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▶ 核心代码逻辑 (Python)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36830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# 1. 数据加载与划分</a:t>
            </a:r>
            <a:b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housing = fetch_california_housing()</a:t>
            </a:r>
            <a:r>
              <a:rPr lang="en-US" sz="10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# 获取数据集</a:t>
            </a:r>
            <a:b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X_train, X_test, y_train, y_test = train_test_split(housing.data, housing.target, test_size=0.2)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# 2. 训练随机森林回归模型</a:t>
            </a:r>
            <a:b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model = RandomForestRegressor(n_estimators=100, random_state=42)</a:t>
            </a:r>
            <a:b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model.fit(X_train, y_train)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# 3. 预测与评估 (RMSE/R²)</a:t>
            </a:r>
            <a:b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y_pred = model.predict(X_test)</a:t>
            </a:r>
            <a:b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print(f"RMSE: {np.sqrt(mean_squared_error(y_test, y_pred)):.2f}")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回归模型评估与交叉验证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回归评估指标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2857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均方根误差 (RMSE)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衡量预测值与真实值之间差异的常用指标，单位与目标变量相同。数值越小，代表模型预测的准确性越高。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445000"/>
            <a:ext cx="469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76200" cy="1524000"/>
          </a:xfrm>
          <a:prstGeom prst="roundRect">
            <a:avLst>
              <a:gd name="adj" fmla="val 0"/>
            </a:avLst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70000" y="4635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决定系数 (R²)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表示模型能够解释的数据方差的比例。数值越接近1，说明模型对数据的拟合效果越好，解释力越强。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215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交叉验证 (Cross-Validation)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66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将数据集分成K个部分，轮流使用K-1个部分训练模型，剩余1个部分进行测试。最终将所有测试结果取平均值作为模型得分。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它能有效减少单次划分带来的偶然性，更客观、稳健地评估模型的泛化能力。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318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463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线性回归 R²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36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~0.58</a:t>
            </a:r>
            <a:endParaRPr lang="en-US" sz="3600" b="1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63814">
            <a:off x="8223250" y="52324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017000" y="463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随机森林 R²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~0.80</a:t>
            </a:r>
            <a:endParaRPr lang="en-US" sz="36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 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无监督学习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聚类任务实战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842000" y="5461000"/>
            <a:ext cx="50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案例：K-Means聚类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在无标签的鸢尾花数据中发现结构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我们将使用K-Means算法，在没有标签的情况下，尝试将经典的鸢尾花数据集聚类成3个簇，以此对应其真实的3个不同品种。这是一个典型的无监督学习任务。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5207000" cy="3175000"/>
          </a:xfrm>
          <a:prstGeom prst="roundRect">
            <a:avLst>
              <a:gd name="adj" fmla="val 48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3302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3492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4544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数据预处理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算法对特征尺度极度敏感，必须对特征进行标准化(StandardScaler)处理。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29000" y="3302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4100" y="3492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00500" y="34544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模型训练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指定目标簇数 n_clusters=3，输入标准化数据进行迭代训练，寻找最佳聚类中心。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52500" y="47625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" y="4953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9149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获取结果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通过模型的 .labels_ 属性获取每个样本的聚类标签，并可与真实标签对比分析。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29000" y="47625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94100" y="4953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00500" y="49149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结果可视化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使用PCA等降维技术将高维特征转换到二维平面，直观地观察簇间的分离度。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rcRect t="19001" b="19001"/>
          <a:stretch>
            <a:fillRect/>
          </a:stretch>
        </p:blipFill>
        <p:spPr>
          <a:xfrm>
            <a:off x="6477000" y="2032000"/>
            <a:ext cx="4953000" cy="3683000"/>
          </a:xfrm>
          <a:prstGeom prst="roundRect">
            <a:avLst>
              <a:gd name="adj" fmla="val 55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6477000" y="5842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K-Means 聚类迭代收敛与中心更新过程演示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 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数据预处理的艺术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31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ART OF DATA PREPROCESSING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关键预处理技术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23159" r="23159"/>
          <a:stretch>
            <a:fillRect/>
          </a:stretch>
        </p:blipFill>
        <p:spPr>
          <a:xfrm>
            <a:off x="952500" y="1905000"/>
            <a:ext cx="2921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952500" y="3683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特征缩放 (Feature Scaling)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许多模型对特征尺度敏感，需将不同单位特征缩放到同一尺度，提升模型收敛速度和准确性。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标准化 (Standardization):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数据变换为均值为0，标准差为1的分布。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归一化 (Normalization):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将数值特征线性缩放到 [0, 1] 的固定区间。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13693" r="13693"/>
          <a:stretch>
            <a:fillRect/>
          </a:stretch>
        </p:blipFill>
        <p:spPr>
          <a:xfrm>
            <a:off x="4635500" y="1905000"/>
            <a:ext cx="2921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4635500" y="3683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处理分类变量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机器学习模型无法直接处理文本数据，需将类别型特征转换为数值型，以便模型理解。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独热编码 (One-Hot):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适用于无顺序关系的“名义”类别（如颜色、城市）。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标签编码 (Label Encoding):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适用于有顺序关系的“有序”类别（如成绩等级、尺码）。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509000" y="1905000"/>
            <a:ext cx="2540000" cy="1524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000" y="21590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18500" y="3683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处理缺失值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真实数据常因采集或录入问题存在空缺，直接丢弃会损失信息，通常采用填充策略。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简单统计填充: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用均值(Mean)、中位数(Median)或众数(Mode)填充数值型或类别型数据。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固定值/插值填充: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用0、“未知”或通过前后数据插值的方式填充。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模型评估与调优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318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EVALUATION AND OPTIMIZATION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超参数调优：让模型更上一层楼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0679" b="10679"/>
          <a:stretch>
            <a:fillRect/>
          </a:stretch>
        </p:blipFill>
        <p:spPr>
          <a:xfrm>
            <a:off x="1016000" y="1778000"/>
            <a:ext cx="4699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3746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网格搜索 (Grid Search)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穷举所有给定的参数组合，找到最优解。适合参数范围小、组合少的场景。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207000"/>
            <a:ext cx="2222500" cy="9525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53340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👍 优点：</a:t>
            </a:r>
            <a:r>
              <a:rPr lang="en-US" sz="12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保证找到指定参数范围内的全局最优解。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5207000"/>
            <a:ext cx="2222500" cy="952500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19500" y="53340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👎 缺点：</a:t>
            </a: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计算成本极高，随着参数增加耗时呈指数级上升。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556500" y="1778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0" y="2095500"/>
            <a:ext cx="1397000" cy="1143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77000" y="3746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随机搜索 (Randomized Search)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318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在参数空间中随机采样一定数量的参数组合进行训练，适合参数范围大、维度高的场景。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5207000"/>
            <a:ext cx="2222500" cy="9525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53340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👍 优点：</a:t>
            </a:r>
            <a:r>
              <a:rPr lang="en-US" sz="12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效率更高，能在有限的时间和算力下探索更大的参数空间。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5207000"/>
            <a:ext cx="2222500" cy="952500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80500" y="53340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👎 缺点：</a:t>
            </a: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不保证找到全局最优，但在实践中往往能找到足够好的解。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总结与进阶学习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📚 Scikit-learn 核心总结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06500" y="2730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核心优势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API设计风格高度一致，上手门槛低，代码复用性极强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功能覆盖全面：包含分类、回归、聚类、降维等经典算法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官方文档详尽、示例丰富，全球开发者社区活跃支持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445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6500" y="4635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适用场景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机器学习初学者建立认知、上手实践的首选工具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科研与商业项目中快速验证想法、构建MVP原型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处理中小型、结构化数据集的常规分析与建模任务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77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进阶学习路径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540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2692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692400"/>
            <a:ext cx="1587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深入算法原理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从数学视角理解模型推导与参数意义，夯实理论基础，知其然更知其所以然。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890000" y="2540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2400" y="2692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461500" y="2692400"/>
            <a:ext cx="1587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精通特征工程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掌握特征选择、变换与构造技巧，挖掘数据中价值，显著提升模型上限。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4445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4597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597400"/>
            <a:ext cx="1587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处理大规模数据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学习Dask、Vaex等并行计算库，突破单机内存限制，从容应对海量数据挑战。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890000" y="4445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2400" y="4597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461500" y="4597400"/>
            <a:ext cx="1587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探索前沿领域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拓展至深度学习 (PyTorch/TensorFlow)、自然语言处理(NLP)、计算机视觉(CV)等AI领域。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82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 FOR WATCHING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6177</Words>
  <Application>WPS 演示</Application>
  <PresentationFormat/>
  <Paragraphs>375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宋体</vt:lpstr>
      <vt:lpstr>Wingdings</vt:lpstr>
      <vt:lpstr>Arial</vt:lpstr>
      <vt:lpstr>Noto Sans SC</vt:lpstr>
      <vt:lpstr>Roboto Mono</vt:lpstr>
      <vt:lpstr>AMGDT</vt:lpstr>
      <vt:lpstr>微软雅黑</vt:lpstr>
      <vt:lpstr>Arial Unicode MS</vt:lpstr>
      <vt:lpstr>Source Code Pro</vt:lpstr>
      <vt:lpstr>Roboto Mono</vt:lpstr>
      <vt:lpstr>Source Code Pro</vt:lpstr>
      <vt:lpstr>Advent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唐蓉</cp:lastModifiedBy>
  <cp:revision>1</cp:revision>
  <dcterms:created xsi:type="dcterms:W3CDTF">2026-05-19T07:40:20Z</dcterms:created>
  <dcterms:modified xsi:type="dcterms:W3CDTF">2026-05-19T07:40:20Z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B4DA144FDBF448A59B23C758728A1965_12</vt:lpwstr>
  </property>
  <property fmtid="{D5CDD505-2E9C-101B-9397-08002B2CF9AE}" pid="3" name="KSOProductBuildVer">
    <vt:lpwstr>2052-12.1.0.26375</vt:lpwstr>
  </property>
</Properties>
</file>