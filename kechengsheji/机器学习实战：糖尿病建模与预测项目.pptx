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19.svg" ContentType="image/svg+xml"/>
  <Override PartName="/ppt/media/image21.svg" ContentType="image/svg+xml"/>
  <Override PartName="/ppt/media/image23.svg" ContentType="image/svg+xml"/>
  <Override PartName="/ppt/media/image25.svg" ContentType="image/svg+xml"/>
  <Override PartName="/ppt/media/image28.svg" ContentType="image/svg+xml"/>
  <Override PartName="/ppt/media/image30.svg" ContentType="image/svg+xml"/>
  <Override PartName="/ppt/media/image32.svg" ContentType="image/svg+xml"/>
  <Override PartName="/ppt/media/image34.svg" ContentType="image/svg+xml"/>
  <Override PartName="/ppt/media/image36.svg" ContentType="image/svg+xml"/>
  <Override PartName="/ppt/media/image38.svg" ContentType="image/svg+xml"/>
  <Override PartName="/ppt/media/image40.svg" ContentType="image/svg+xml"/>
  <Override PartName="/ppt/media/image42.svg" ContentType="image/svg+xml"/>
  <Override PartName="/ppt/media/image44.svg" ContentType="image/svg+xml"/>
  <Override PartName="/ppt/media/image46.svg" ContentType="image/svg+xml"/>
  <Override PartName="/ppt/media/image48.svg" ContentType="image/svg+xml"/>
  <Override PartName="/ppt/media/image5.svg" ContentType="image/svg+xml"/>
  <Override PartName="/ppt/media/image50.svg" ContentType="image/svg+xml"/>
  <Override PartName="/ppt/media/image52.svg" ContentType="image/svg+xml"/>
  <Override PartName="/ppt/media/image54.svg" ContentType="image/svg+xml"/>
  <Override PartName="/ppt/media/image7.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 id="2147483662" r:id="rId4"/>
  </p:sldMasterIdLst>
  <p:notesMasterIdLst>
    <p:notesMasterId r:id="rId6"/>
  </p:notesMasterIdLst>
  <p:sldIdLst>
    <p:sldId id="256" r:id="rId5"/>
    <p:sldId id="257" r:id="rId7"/>
    <p:sldId id="258" r:id="rId8"/>
    <p:sldId id="259" r:id="rId9"/>
    <p:sldId id="260" r:id="rId10"/>
    <p:sldId id="261" r:id="rId11"/>
    <p:sldId id="262" r:id="rId12"/>
    <p:sldId id="263" r:id="rId13"/>
    <p:sldId id="264" r:id="rId14"/>
    <p:sldId id="265" r:id="rId15"/>
    <p:sldId id="266" r:id="rId16"/>
    <p:sldId id="273" r:id="rId17"/>
    <p:sldId id="267" r:id="rId18"/>
    <p:sldId id="268" r:id="rId19"/>
    <p:sldId id="269" r:id="rId20"/>
    <p:sldId id="270" r:id="rId21"/>
    <p:sldId id="271" r:id="rId22"/>
    <p:sldId id="272" r:id="rId2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747775"/>
          </p15:clr>
        </p15:guide>
        <p15:guide id="2" pos="290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90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slide" Target="slides/slide3.xml"/><Relationship Id="rId7" Type="http://schemas.openxmlformats.org/officeDocument/2006/relationships/slide" Target="slides/slide2.xml"/><Relationship Id="rId6" Type="http://schemas.openxmlformats.org/officeDocument/2006/relationships/notesMaster" Target="notesMasters/notesMaster1.xml"/><Relationship Id="rId5" Type="http://schemas.openxmlformats.org/officeDocument/2006/relationships/slide" Target="slides/slide1.xml"/><Relationship Id="rId4" Type="http://schemas.openxmlformats.org/officeDocument/2006/relationships/slideMaster" Target="slideMasters/slideMaster3.xml"/><Relationship Id="rId3" Type="http://schemas.openxmlformats.org/officeDocument/2006/relationships/slideMaster" Target="slideMasters/slideMaster2.xml"/><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大家好，欢迎参加本次分享。今天我将为大家介绍一个关于“机器学习实战：糖尿病建模与预测项目”的完整流程。随着全球糖尿病患者数量的激增，如何利用技术手段进行早期预测和干预变得至关重要。本项目将展示如何利用机器学习算法，基于经典的医疗数据集，构建一个精准的糖尿病风险预测模型。</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本次分享将分为六个部分。首先，我们将介绍项目的背景和目标。接着，会深入数据层面，进行详细的探索性数据分析。之后，我们会讲解数据预处理和特征工程的关键步骤。第四部分是模型的构建与训练。第五部分，我们将对模型进行全面的评估和对比。最后，对整个项目进行总结并展望未来的工作。</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首先我们来看项目背景。糖尿病是一个全球性的健康挑战，影响人数众多，且并发症严重。传统的诊断方式存在诸多不便。而机器学习技术的发展，为我们提供了一个全新的解决方案。通过分析海量的临床数据，我们可以构建模型，实现对糖尿病风险的早期精准预测，这不仅能提高筛查效率，更能为个性化健康管理提供数据支持。</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基于此背景，我们设定了四个核心目标。首先，要对数据进行深入的探索和分析。其次，我们会构建并训练多种机器学习模型。接着，通过多维度的指标来评估和对比这些模型，找出最优解。最后，我们会尝试解释模型的决策过程，并探讨其在实际临床中的应用价值。</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进入第二部分，数据理解与探索。我们使用的是非常经典的Pima印第安人糖尿病数据集。这个数据集包含了768个样本，涵盖了8个生理特征和1个表示是否患病的目标变量。这些特征包括怀孕次数、血糖、血压等常见的体检指标，非常适合用于构建预测模型。</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加载数据后，我们进行了初步观察和描述性统计。一个关键发现是，一些生理指标的最小值为0，这显然不符合医学常识，我们判断这些是缺失值的占位符。同时，我们还发现数据集中存在类别不平衡的问题，患病人数约占35%。这些都是后续数据预处理阶段需要重点解决的问题。</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张图更直观地展示了数据的类别分布。我们可以看到，非糖尿病患者的样本数量远多于糖尿病患者，分别占比约65%和35%。这种不平衡可能会影响模型的训练效果，使模型倾向于预测数量更多的类别。因此，在后续的模型构建和评估中，我们需要采取相应的策略来处理这个问题，比如在划分数据集时使用分层抽样，在训练时调整类别权重，或者使用F1分数或AUC这样更适合不平衡数据的指标来评估模型的真实性能。</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还分析了各个特征之间以及特征与目标变量之间的相关性。从分析结果中可以清晰地看到，血糖浓度是与糖尿病最相关的指标，相关系数高达0.47，其次是体重指数和年龄。这与我们普遍的医学常识和相关研究结论高度一致。</a:t>
            </a:r>
            <a:endParaRPr lang="en-US" sz="1400" b="0" i="0" u="none" strike="noStrike">
              <a:solidFill>
                <a:srgbClr val="000000"/>
              </a:solidFill>
            </a:endParaRPr>
          </a:p>
          <a:p>
            <a:pPr indent="0" algn="l">
              <a:lnSpc>
                <a:spcPct val="100000"/>
              </a:lnSpc>
            </a:pPr>
            <a:r>
              <a:rPr lang="en-US" sz="1400" b="0" i="0" u="none" strike="noStrike">
                <a:solidFill>
                  <a:srgbClr val="000000"/>
                </a:solidFill>
              </a:rPr>
              <a:t>在特征间关系上，怀孕次数和年龄呈现出较强的正相关，这在生理上是合理的。但除此之外，大部分特征之间的相关性较弱，这说明我们选择的特征集是相对独立的，数据质量较好，多重共线性问题不严重，这有助于我们后续建立一个更稳定、更具解释性的预测模型。</a:t>
            </a:r>
            <a:endParaRPr lang="en-US" sz="1400" b="0" i="0" u="none" strike="noStrike">
              <a:solidFill>
                <a:srgbClr val="000000"/>
              </a:solidFill>
            </a:endParaRPr>
          </a:p>
          <a:p>
            <a:pPr indent="0" algn="l">
              <a:lnSpc>
                <a:spcPct val="100000"/>
              </a:lnSpc>
            </a:pPr>
            <a:r>
              <a:rPr lang="en-US" sz="1400" b="0" i="0" u="none" strike="noStrike">
                <a:solidFill>
                  <a:srgbClr val="000000"/>
                </a:solidFill>
              </a:rPr>
              <a:t>下方展示的是一个概念化的热力图，在实际的分析报告中，我们会将具体的数值矩阵以颜色深浅的形式呈现，以更直观地展示变量间的关联。</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现在我们进入第三部分，数据预处理。首要任务是处理之前发现的异常零值。我们没有简单地删除这些数据，而是采用了更精细的策略：根据患者是否患病，分别用对应群体的中位数来填充这些零值。这样做可以最大程度地保留数据信息，同时避免引入偏差。</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数据预处理的第二步是标准化。由于不同特征的量纲不同，比如年龄和血糖浓度，直接输入模型可能会导致某些特征被过度重视。因此，我们采用Z-score标准化方法，将所有特征缩放到相同的尺度，确保每个特征在模型训练中都能发挥其应有的作用。</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完成数据预处理后，我们进入第四部分：模型构建。首先，我们将数据按8:2的比例划分为训练集和测试集，并使用stratify参数确保各类别数据在两个集合中的分布一致，这能有效避免抽样偏差。</a:t>
            </a:r>
            <a:endParaRPr lang="en-US" sz="1400" b="0" i="0" u="none" strike="noStrike">
              <a:solidFill>
                <a:srgbClr val="000000"/>
              </a:solidFill>
            </a:endParaRPr>
          </a:p>
          <a:p>
            <a:pPr indent="0" algn="l">
              <a:lnSpc>
                <a:spcPct val="100000"/>
              </a:lnSpc>
            </a:pPr>
            <a:r>
              <a:rPr lang="en-US" sz="1400" b="0" i="0" u="none" strike="noStrike">
                <a:solidFill>
                  <a:srgbClr val="000000"/>
                </a:solidFill>
              </a:rPr>
              <a:t>为了找到最适合本项目的算法，我们并行训练并对比四种经典模型：逻辑回归作为线性基准，决策树便于业务逻辑的解释，随机森林提供强大的预测性能，支持向量机则擅长处理高维特征。右侧展示了我们在代码中是如何简洁地实现模型的批量初始化与训练的。通过这种“赛马”机制，我们能更客观地评估算法效果。</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完成数据预处理后，我们进入第四部分：模型构建。首先，我们将数据按8:2的比例划分为训练集和测试集，并使用stratify参数确保各类别数据在两个集合中的分布一致，这能有效避免抽样偏差。</a:t>
            </a:r>
            <a:endParaRPr lang="en-US" sz="1400" b="0" i="0" u="none" strike="noStrike">
              <a:solidFill>
                <a:srgbClr val="000000"/>
              </a:solidFill>
            </a:endParaRPr>
          </a:p>
          <a:p>
            <a:pPr indent="0" algn="l">
              <a:lnSpc>
                <a:spcPct val="100000"/>
              </a:lnSpc>
            </a:pPr>
            <a:r>
              <a:rPr lang="en-US" sz="1400" b="0" i="0" u="none" strike="noStrike">
                <a:solidFill>
                  <a:srgbClr val="000000"/>
                </a:solidFill>
              </a:rPr>
              <a:t>为了找到最适合本项目的算法，我们并行训练并对比四种经典模型：逻辑回归作为线性基准，决策树便于业务逻辑的解释，随机森林提供强大的预测性能，支持向量机则擅长处理高维特征。右侧展示了我们在代码中是如何简洁地实现模型的批量初始化与训练的。通过这种“赛马”机制，我们能更客观地评估算法效果。</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第五部分是模型评估。我们使用了一系列指标来评估模型性能。从结果中可以看到，不同模型表现各异。逻辑回归作为线性模型，表现尚可。决策树则容易过拟合。而随机森林和支持向量机作为更复杂的模型，表现更为出色。综合来看，随机森林模型在F1分数和AUC指标上都取得了最优的结果，是我们的首选模型。</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为了更直观地理解模型性能，我们使用了混淆矩阵和ROC曲线进行可视化分析。混淆矩阵告诉我们模型在每一类上的具体表现，比如误诊和漏诊的数量。而ROC曲线则从整体上评估了模型的区分能力。我们的随机森林模型AUC达到了0.88，这是一个非常不错的结果，说明模型能够很好地区分糖尿病患者和非患者。</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确定了最优模型后，我们还需要对其进行优化。我们以随机森林为例，使用网格搜索的方法来寻找最佳的超参数组合。通过调整决策树的数量、深度等参数，我们可以进一步挖掘模型的潜力，提升其预测性能。这一步是模型开发中非常关键的一环。</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一个好的模型不仅要预测准确，还要能够解释为什么做出这样的预测。通过分析随机森林模型的特征重要性，我们发现血糖、体重指数和年龄是影响预测结果的三个最重要的因素。这不仅验证了我们的数据分析，也为临床医生提供了有价值的参考信息，使得模型不再是一个“黑盒”。</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最后，我们对整个项目进行总结。我们发现，数据预处理是成功的关键，集成模型表现出色，并且明确了几个关键的预测指标。当然，项目还有很多可以改进的地方。未来，我们可以引入更多维度的数据，尝试更复杂的模型，并最终将模型部署到实际应用中，真正实现AI赋能医疗。</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我的分享到此结束，感谢大家的聆听。现在是问答环节，欢迎大家提问交流。</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3"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8" Type="http://schemas.openxmlformats.org/officeDocument/2006/relationships/notesSlide" Target="../notesSlides/notesSlide3.xml"/><Relationship Id="rId7" Type="http://schemas.openxmlformats.org/officeDocument/2006/relationships/slideLayout" Target="../slideLayouts/slideLayout12.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9" Type="http://schemas.openxmlformats.org/officeDocument/2006/relationships/image" Target="../media/image15.png"/><Relationship Id="rId8" Type="http://schemas.openxmlformats.org/officeDocument/2006/relationships/image" Target="../media/image14.svg"/><Relationship Id="rId7" Type="http://schemas.openxmlformats.org/officeDocument/2006/relationships/image" Target="../media/image13.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 Id="rId3" Type="http://schemas.openxmlformats.org/officeDocument/2006/relationships/image" Target="../media/image9.png"/><Relationship Id="rId2" Type="http://schemas.openxmlformats.org/officeDocument/2006/relationships/image" Target="../media/image8.jpeg"/><Relationship Id="rId12" Type="http://schemas.openxmlformats.org/officeDocument/2006/relationships/notesSlide" Target="../notesSlides/notesSlide4.xml"/><Relationship Id="rId11" Type="http://schemas.openxmlformats.org/officeDocument/2006/relationships/slideLayout" Target="../slideLayouts/slideLayout12.xml"/><Relationship Id="rId10" Type="http://schemas.openxmlformats.org/officeDocument/2006/relationships/image" Target="../media/image16.svg"/><Relationship Id="rId1" Type="http://schemas.openxmlformats.org/officeDocument/2006/relationships/image" Target="../media/image2.jpeg"/></Relationships>
</file>

<file path=ppt/slides/_rels/slide5.xml.rels><?xml version="1.0" encoding="UTF-8" standalone="yes"?>
<Relationships xmlns="http://schemas.openxmlformats.org/package/2006/relationships"><Relationship Id="rId8" Type="http://schemas.openxmlformats.org/officeDocument/2006/relationships/notesSlide" Target="../notesSlides/notesSlide5.xml"/><Relationship Id="rId7" Type="http://schemas.openxmlformats.org/officeDocument/2006/relationships/slideLayout" Target="../slideLayouts/slideLayout12.xml"/><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19.svg"/><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image" Target="../media/image2.jpeg"/></Relationships>
</file>

<file path=ppt/slides/_rels/slide6.xml.rels><?xml version="1.0" encoding="UTF-8" standalone="yes"?>
<Relationships xmlns="http://schemas.openxmlformats.org/package/2006/relationships"><Relationship Id="rId7" Type="http://schemas.openxmlformats.org/officeDocument/2006/relationships/notesSlide" Target="../notesSlides/notesSlide6.xml"/><Relationship Id="rId6" Type="http://schemas.openxmlformats.org/officeDocument/2006/relationships/slideLayout" Target="../slideLayouts/slideLayout12.xml"/><Relationship Id="rId5" Type="http://schemas.openxmlformats.org/officeDocument/2006/relationships/image" Target="../media/image25.svg"/><Relationship Id="rId4" Type="http://schemas.openxmlformats.org/officeDocument/2006/relationships/image" Target="../media/image24.png"/><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image" Target="../media/image2.jpe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2.xml"/><Relationship Id="rId2" Type="http://schemas.openxmlformats.org/officeDocument/2006/relationships/image" Target="../media/image26.png"/><Relationship Id="rId1" Type="http://schemas.openxmlformats.org/officeDocument/2006/relationships/image" Target="../media/image2.jpeg"/></Relationships>
</file>

<file path=ppt/slides/_rels/slide8.xml.rels><?xml version="1.0" encoding="UTF-8" standalone="yes"?>
<Relationships xmlns="http://schemas.openxmlformats.org/package/2006/relationships"><Relationship Id="rId9" Type="http://schemas.openxmlformats.org/officeDocument/2006/relationships/notesSlide" Target="../notesSlides/notesSlide8.xml"/><Relationship Id="rId8" Type="http://schemas.openxmlformats.org/officeDocument/2006/relationships/slideLayout" Target="../slideLayouts/slideLayout12.xml"/><Relationship Id="rId7" Type="http://schemas.openxmlformats.org/officeDocument/2006/relationships/image" Target="../media/image30.svg"/><Relationship Id="rId6" Type="http://schemas.openxmlformats.org/officeDocument/2006/relationships/image" Target="../media/image29.png"/><Relationship Id="rId5" Type="http://schemas.openxmlformats.org/officeDocument/2006/relationships/image" Target="../media/image28.svg"/><Relationship Id="rId4" Type="http://schemas.openxmlformats.org/officeDocument/2006/relationships/image" Target="../media/image27.png"/><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image" Target="../media/image2.jpeg"/></Relationships>
</file>

<file path=ppt/slides/_rels/slide9.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12.xml"/><Relationship Id="rId3" Type="http://schemas.openxmlformats.org/officeDocument/2006/relationships/image" Target="../media/image32.svg"/><Relationship Id="rId2" Type="http://schemas.openxmlformats.org/officeDocument/2006/relationships/image" Target="../media/image31.png"/><Relationship Id="rId1" Type="http://schemas.openxmlformats.org/officeDocument/2006/relationships/image" Target="../media/image2.jpeg"/></Relationships>
</file>

<file path=ppt/slides/_rels/slide10.xml.rels><?xml version="1.0" encoding="UTF-8" standalone="yes"?>
<Relationships xmlns="http://schemas.openxmlformats.org/package/2006/relationships"><Relationship Id="rId7" Type="http://schemas.openxmlformats.org/officeDocument/2006/relationships/notesSlide" Target="../notesSlides/notesSlide10.xml"/><Relationship Id="rId6" Type="http://schemas.openxmlformats.org/officeDocument/2006/relationships/slideLayout" Target="../slideLayouts/slideLayout12.xml"/><Relationship Id="rId5" Type="http://schemas.openxmlformats.org/officeDocument/2006/relationships/image" Target="../media/image36.svg"/><Relationship Id="rId4" Type="http://schemas.openxmlformats.org/officeDocument/2006/relationships/image" Target="../media/image35.png"/><Relationship Id="rId3" Type="http://schemas.openxmlformats.org/officeDocument/2006/relationships/image" Target="../media/image34.svg"/><Relationship Id="rId2" Type="http://schemas.openxmlformats.org/officeDocument/2006/relationships/image" Target="../media/image33.png"/><Relationship Id="rId1" Type="http://schemas.openxmlformats.org/officeDocument/2006/relationships/image" Target="../media/image2.jpeg"/></Relationships>
</file>

<file path=ppt/slides/_rels/slide11.xml.rels><?xml version="1.0" encoding="UTF-8" standalone="yes"?>
<Relationships xmlns="http://schemas.openxmlformats.org/package/2006/relationships"><Relationship Id="rId9" Type="http://schemas.openxmlformats.org/officeDocument/2006/relationships/image" Target="../media/image42.svg"/><Relationship Id="rId8" Type="http://schemas.openxmlformats.org/officeDocument/2006/relationships/image" Target="../media/image41.png"/><Relationship Id="rId7" Type="http://schemas.openxmlformats.org/officeDocument/2006/relationships/image" Target="../media/image40.svg"/><Relationship Id="rId6" Type="http://schemas.openxmlformats.org/officeDocument/2006/relationships/image" Target="../media/image39.png"/><Relationship Id="rId5" Type="http://schemas.openxmlformats.org/officeDocument/2006/relationships/image" Target="../media/image38.svg"/><Relationship Id="rId4" Type="http://schemas.openxmlformats.org/officeDocument/2006/relationships/image" Target="../media/image37.png"/><Relationship Id="rId3" Type="http://schemas.openxmlformats.org/officeDocument/2006/relationships/image" Target="../media/image14.svg"/><Relationship Id="rId2" Type="http://schemas.openxmlformats.org/officeDocument/2006/relationships/image" Target="../media/image13.png"/><Relationship Id="rId11" Type="http://schemas.openxmlformats.org/officeDocument/2006/relationships/notesSlide" Target="../notesSlides/notesSlide11.xml"/><Relationship Id="rId10" Type="http://schemas.openxmlformats.org/officeDocument/2006/relationships/slideLayout" Target="../slideLayouts/slideLayout12.xml"/><Relationship Id="rId1" Type="http://schemas.openxmlformats.org/officeDocument/2006/relationships/image" Target="../media/image2.jpeg"/></Relationships>
</file>

<file path=ppt/slides/_rels/slide12.xml.rels><?xml version="1.0" encoding="UTF-8" standalone="yes"?>
<Relationships xmlns="http://schemas.openxmlformats.org/package/2006/relationships"><Relationship Id="rId7" Type="http://schemas.openxmlformats.org/officeDocument/2006/relationships/notesSlide" Target="../notesSlides/notesSlide12.xml"/><Relationship Id="rId6" Type="http://schemas.openxmlformats.org/officeDocument/2006/relationships/slideLayout" Target="../slideLayouts/slideLayout13.xml"/><Relationship Id="rId5" Type="http://schemas.openxmlformats.org/officeDocument/2006/relationships/image" Target="../media/image46.svg"/><Relationship Id="rId4" Type="http://schemas.openxmlformats.org/officeDocument/2006/relationships/image" Target="../media/image45.png"/><Relationship Id="rId3" Type="http://schemas.openxmlformats.org/officeDocument/2006/relationships/image" Target="../media/image44.svg"/><Relationship Id="rId2" Type="http://schemas.openxmlformats.org/officeDocument/2006/relationships/image" Target="../media/image43.png"/><Relationship Id="rId1" Type="http://schemas.openxmlformats.org/officeDocument/2006/relationships/image" Target="../media/image2.jpeg"/></Relationships>
</file>

<file path=ppt/slides/_rels/slide13.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slideLayout" Target="../slideLayouts/slideLayout12.xml"/><Relationship Id="rId3" Type="http://schemas.openxmlformats.org/officeDocument/2006/relationships/image" Target="../media/image48.svg"/><Relationship Id="rId2" Type="http://schemas.openxmlformats.org/officeDocument/2006/relationships/image" Target="../media/image47.png"/><Relationship Id="rId1" Type="http://schemas.openxmlformats.org/officeDocument/2006/relationships/image" Target="../media/image2.jpeg"/></Relationships>
</file>

<file path=ppt/slides/_rels/slide14.xml.rels><?xml version="1.0" encoding="UTF-8" standalone="yes"?>
<Relationships xmlns="http://schemas.openxmlformats.org/package/2006/relationships"><Relationship Id="rId7" Type="http://schemas.openxmlformats.org/officeDocument/2006/relationships/notesSlide" Target="../notesSlides/notesSlide14.xml"/><Relationship Id="rId6" Type="http://schemas.openxmlformats.org/officeDocument/2006/relationships/slideLayout" Target="../slideLayouts/slideLayout12.xml"/><Relationship Id="rId5" Type="http://schemas.openxmlformats.org/officeDocument/2006/relationships/image" Target="../media/image52.svg"/><Relationship Id="rId4" Type="http://schemas.openxmlformats.org/officeDocument/2006/relationships/image" Target="../media/image51.png"/><Relationship Id="rId3" Type="http://schemas.openxmlformats.org/officeDocument/2006/relationships/image" Target="../media/image50.svg"/><Relationship Id="rId2" Type="http://schemas.openxmlformats.org/officeDocument/2006/relationships/image" Target="../media/image49.png"/><Relationship Id="rId1" Type="http://schemas.openxmlformats.org/officeDocument/2006/relationships/image" Target="../media/image2.jpeg"/></Relationships>
</file>

<file path=ppt/slides/_rels/slide15.xml.rels><?xml version="1.0" encoding="UTF-8" standalone="yes"?>
<Relationships xmlns="http://schemas.openxmlformats.org/package/2006/relationships"><Relationship Id="rId5" Type="http://schemas.openxmlformats.org/officeDocument/2006/relationships/notesSlide" Target="../notesSlides/notesSlide15.xml"/><Relationship Id="rId4" Type="http://schemas.openxmlformats.org/officeDocument/2006/relationships/slideLayout" Target="../slideLayouts/slideLayout12.xml"/><Relationship Id="rId3" Type="http://schemas.openxmlformats.org/officeDocument/2006/relationships/image" Target="../media/image54.svg"/><Relationship Id="rId2" Type="http://schemas.openxmlformats.org/officeDocument/2006/relationships/image" Target="../media/image53.png"/><Relationship Id="rId1" Type="http://schemas.openxmlformats.org/officeDocument/2006/relationships/image" Target="../media/image2.jpeg"/></Relationships>
</file>

<file path=ppt/slides/_rels/slide16.xml.rels><?xml version="1.0" encoding="UTF-8" standalone="yes"?>
<Relationships xmlns="http://schemas.openxmlformats.org/package/2006/relationships"><Relationship Id="rId5" Type="http://schemas.openxmlformats.org/officeDocument/2006/relationships/notesSlide" Target="../notesSlides/notesSlide16.xml"/><Relationship Id="rId4" Type="http://schemas.openxmlformats.org/officeDocument/2006/relationships/slideLayout" Target="../slideLayouts/slideLayout12.xml"/><Relationship Id="rId3" Type="http://schemas.openxmlformats.org/officeDocument/2006/relationships/image" Target="../media/image40.svg"/><Relationship Id="rId2" Type="http://schemas.openxmlformats.org/officeDocument/2006/relationships/image" Target="../media/image39.png"/><Relationship Id="rId1" Type="http://schemas.openxmlformats.org/officeDocument/2006/relationships/image" Target="../media/image2.jpe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12.xml"/><Relationship Id="rId2" Type="http://schemas.openxmlformats.org/officeDocument/2006/relationships/image" Target="../media/image55.jpeg"/><Relationship Id="rId1" Type="http://schemas.openxmlformats.org/officeDocument/2006/relationships/image" Target="../media/image2.jpe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2.xml"/><Relationship Id="rId1" Type="http://schemas.openxmlformats.org/officeDocument/2006/relationships/image" Target="../media/image56.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111827">
              <a:alpha val="7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1905000"/>
            <a:ext cx="12192000" cy="1016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800" b="1" i="0" u="none" strike="noStrike">
                <a:solidFill>
                  <a:srgbClr val="FFFFFF"/>
                </a:solidFill>
                <a:latin typeface="Noto Sans SC"/>
                <a:ea typeface="Noto Sans SC"/>
                <a:cs typeface="Noto Sans SC"/>
                <a:sym typeface="Noto Sans SC"/>
              </a:rPr>
              <a:t>机器学习实战</a:t>
            </a:r>
            <a:endParaRPr lang="en-US" sz="1100"/>
          </a:p>
        </p:txBody>
      </p:sp>
      <p:sp>
        <p:nvSpPr>
          <p:cNvPr id="4" name="AutoShape 4"/>
          <p:cNvSpPr/>
          <p:nvPr/>
        </p:nvSpPr>
        <p:spPr>
          <a:xfrm>
            <a:off x="0" y="3175000"/>
            <a:ext cx="12192000" cy="1270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6400" b="1" i="0" u="none" strike="noStrike">
                <a:solidFill>
                  <a:srgbClr val="22C55E"/>
                </a:solidFill>
                <a:latin typeface="Noto Sans SC"/>
                <a:ea typeface="Noto Sans SC"/>
                <a:cs typeface="Noto Sans SC"/>
                <a:sym typeface="Noto Sans SC"/>
              </a:rPr>
              <a:t>糖尿病建模与预测项目</a:t>
            </a:r>
            <a:endParaRPr lang="en-US" sz="1100"/>
          </a:p>
        </p:txBody>
      </p:sp>
      <p:sp>
        <p:nvSpPr>
          <p:cNvPr id="5" name="AutoShape 5"/>
          <p:cNvSpPr/>
          <p:nvPr/>
        </p:nvSpPr>
        <p:spPr>
          <a:xfrm>
            <a:off x="5715000" y="4826000"/>
            <a:ext cx="762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74151"/>
                </a:solidFill>
                <a:latin typeface="Noto Sans SC"/>
                <a:ea typeface="Noto Sans SC"/>
                <a:cs typeface="Noto Sans SC"/>
                <a:sym typeface="Noto Sans SC"/>
              </a:rPr>
              <a:t>目录 CONTENTS</a:t>
            </a:r>
            <a:endParaRPr lang="en-US" sz="1100"/>
          </a:p>
        </p:txBody>
      </p:sp>
      <p:sp>
        <p:nvSpPr>
          <p:cNvPr id="4" name="AutoShape 4"/>
          <p:cNvSpPr/>
          <p:nvPr/>
        </p:nvSpPr>
        <p:spPr>
          <a:xfrm>
            <a:off x="762000" y="1778000"/>
            <a:ext cx="3302000" cy="2095500"/>
          </a:xfrm>
          <a:prstGeom prst="roundRect">
            <a:avLst>
              <a:gd name="adj" fmla="val 7272"/>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5" name="AutoShape 5"/>
          <p:cNvSpPr/>
          <p:nvPr/>
        </p:nvSpPr>
        <p:spPr>
          <a:xfrm>
            <a:off x="1016000" y="2032000"/>
            <a:ext cx="762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22C55E"/>
                </a:solidFill>
                <a:latin typeface="Noto Sans SC"/>
                <a:ea typeface="Noto Sans SC"/>
                <a:cs typeface="Noto Sans SC"/>
                <a:sym typeface="Noto Sans SC"/>
              </a:rPr>
              <a:t>01</a:t>
            </a:r>
            <a:endParaRPr lang="en-US" sz="1100"/>
          </a:p>
        </p:txBody>
      </p:sp>
      <p:sp>
        <p:nvSpPr>
          <p:cNvPr id="6" name="AutoShape 6"/>
          <p:cNvSpPr/>
          <p:nvPr/>
        </p:nvSpPr>
        <p:spPr>
          <a:xfrm>
            <a:off x="1905000" y="2095500"/>
            <a:ext cx="1905000" cy="1397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374151"/>
                </a:solidFill>
                <a:latin typeface="Noto Sans SC"/>
                <a:ea typeface="Noto Sans SC"/>
                <a:cs typeface="Noto Sans SC"/>
                <a:sym typeface="Noto Sans SC"/>
              </a:rPr>
              <a:t>引言：项目背景与目标</a:t>
            </a:r>
            <a:endParaRPr lang="en-US" sz="1100"/>
          </a:p>
          <a:p>
            <a:pPr indent="0" algn="l">
              <a:lnSpc>
                <a:spcPct val="117000"/>
              </a:lnSpc>
              <a:spcBef>
                <a:spcPts val="1200"/>
              </a:spcBef>
            </a:pPr>
            <a:r>
              <a:rPr lang="en-US" sz="1300" b="0" i="0" u="none" strike="noStrike">
                <a:solidFill>
                  <a:srgbClr val="6B7280"/>
                </a:solidFill>
                <a:latin typeface="Noto Sans SC"/>
                <a:ea typeface="Noto Sans SC"/>
                <a:cs typeface="Noto Sans SC"/>
                <a:sym typeface="Noto Sans SC"/>
              </a:rPr>
              <a:t>全球糖尿病的严峻挑战与技术机遇</a:t>
            </a:r>
            <a:endParaRPr lang="en-US" sz="1300" b="0" i="0" u="none" strike="noStrike">
              <a:solidFill>
                <a:srgbClr val="6B7280"/>
              </a:solidFill>
              <a:latin typeface="Noto Sans SC"/>
              <a:ea typeface="Noto Sans SC"/>
              <a:cs typeface="Noto Sans SC"/>
              <a:sym typeface="Noto Sans SC"/>
            </a:endParaRPr>
          </a:p>
        </p:txBody>
      </p:sp>
      <p:sp>
        <p:nvSpPr>
          <p:cNvPr id="7" name="AutoShape 7"/>
          <p:cNvSpPr/>
          <p:nvPr/>
        </p:nvSpPr>
        <p:spPr>
          <a:xfrm>
            <a:off x="4445000" y="1778000"/>
            <a:ext cx="3302000" cy="2095500"/>
          </a:xfrm>
          <a:prstGeom prst="roundRect">
            <a:avLst>
              <a:gd name="adj" fmla="val 7272"/>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8" name="AutoShape 8"/>
          <p:cNvSpPr/>
          <p:nvPr/>
        </p:nvSpPr>
        <p:spPr>
          <a:xfrm>
            <a:off x="4699000" y="2032000"/>
            <a:ext cx="762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22C55E"/>
                </a:solidFill>
                <a:latin typeface="Noto Sans SC"/>
                <a:ea typeface="Noto Sans SC"/>
                <a:cs typeface="Noto Sans SC"/>
                <a:sym typeface="Noto Sans SC"/>
              </a:rPr>
              <a:t>02</a:t>
            </a:r>
            <a:endParaRPr lang="en-US" sz="1100"/>
          </a:p>
        </p:txBody>
      </p:sp>
      <p:sp>
        <p:nvSpPr>
          <p:cNvPr id="9" name="AutoShape 9"/>
          <p:cNvSpPr/>
          <p:nvPr/>
        </p:nvSpPr>
        <p:spPr>
          <a:xfrm>
            <a:off x="5588000" y="2095500"/>
            <a:ext cx="1905000" cy="1397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374151"/>
                </a:solidFill>
                <a:latin typeface="Noto Sans SC"/>
                <a:ea typeface="Noto Sans SC"/>
                <a:cs typeface="Noto Sans SC"/>
                <a:sym typeface="Noto Sans SC"/>
              </a:rPr>
              <a:t>数据理解与探索 (EDA)</a:t>
            </a:r>
            <a:endParaRPr lang="en-US" sz="1100"/>
          </a:p>
          <a:p>
            <a:pPr indent="0" algn="l">
              <a:lnSpc>
                <a:spcPct val="117000"/>
              </a:lnSpc>
              <a:spcBef>
                <a:spcPts val="1200"/>
              </a:spcBef>
            </a:pPr>
            <a:r>
              <a:rPr lang="en-US" sz="1300" b="0" i="0" u="none" strike="noStrike">
                <a:solidFill>
                  <a:srgbClr val="6B7280"/>
                </a:solidFill>
                <a:latin typeface="Noto Sans SC"/>
                <a:ea typeface="Noto Sans SC"/>
                <a:cs typeface="Noto Sans SC"/>
                <a:sym typeface="Noto Sans SC"/>
              </a:rPr>
              <a:t>Pima印第安人数据集介绍与初步分析</a:t>
            </a:r>
            <a:endParaRPr lang="en-US" sz="1300" b="0" i="0" u="none" strike="noStrike">
              <a:solidFill>
                <a:srgbClr val="6B7280"/>
              </a:solidFill>
              <a:latin typeface="Noto Sans SC"/>
              <a:ea typeface="Noto Sans SC"/>
              <a:cs typeface="Noto Sans SC"/>
              <a:sym typeface="Noto Sans SC"/>
            </a:endParaRPr>
          </a:p>
        </p:txBody>
      </p:sp>
      <p:sp>
        <p:nvSpPr>
          <p:cNvPr id="10" name="AutoShape 10"/>
          <p:cNvSpPr/>
          <p:nvPr/>
        </p:nvSpPr>
        <p:spPr>
          <a:xfrm>
            <a:off x="8128000" y="1778000"/>
            <a:ext cx="3302000" cy="2095500"/>
          </a:xfrm>
          <a:prstGeom prst="roundRect">
            <a:avLst>
              <a:gd name="adj" fmla="val 7272"/>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11" name="AutoShape 11"/>
          <p:cNvSpPr/>
          <p:nvPr/>
        </p:nvSpPr>
        <p:spPr>
          <a:xfrm>
            <a:off x="8382000" y="2032000"/>
            <a:ext cx="762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22C55E"/>
                </a:solidFill>
                <a:latin typeface="Noto Sans SC"/>
                <a:ea typeface="Noto Sans SC"/>
                <a:cs typeface="Noto Sans SC"/>
                <a:sym typeface="Noto Sans SC"/>
              </a:rPr>
              <a:t>03</a:t>
            </a:r>
            <a:endParaRPr lang="en-US" sz="1100"/>
          </a:p>
        </p:txBody>
      </p:sp>
      <p:sp>
        <p:nvSpPr>
          <p:cNvPr id="12" name="AutoShape 12"/>
          <p:cNvSpPr/>
          <p:nvPr/>
        </p:nvSpPr>
        <p:spPr>
          <a:xfrm>
            <a:off x="9271000" y="2095500"/>
            <a:ext cx="1905000" cy="1397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374151"/>
                </a:solidFill>
                <a:latin typeface="Noto Sans SC"/>
                <a:ea typeface="Noto Sans SC"/>
                <a:cs typeface="Noto Sans SC"/>
                <a:sym typeface="Noto Sans SC"/>
              </a:rPr>
              <a:t>数据预处理与特征工程</a:t>
            </a:r>
            <a:endParaRPr lang="en-US" sz="1100"/>
          </a:p>
          <a:p>
            <a:pPr indent="0" algn="l">
              <a:lnSpc>
                <a:spcPct val="117000"/>
              </a:lnSpc>
              <a:spcBef>
                <a:spcPts val="1200"/>
              </a:spcBef>
            </a:pPr>
            <a:r>
              <a:rPr lang="en-US" sz="1300" b="0" i="0" u="none" strike="noStrike">
                <a:solidFill>
                  <a:srgbClr val="6B7280"/>
                </a:solidFill>
                <a:latin typeface="Noto Sans SC"/>
                <a:ea typeface="Noto Sans SC"/>
                <a:cs typeface="Noto Sans SC"/>
                <a:sym typeface="Noto Sans SC"/>
              </a:rPr>
              <a:t>异常值处理与数据标准化</a:t>
            </a:r>
            <a:endParaRPr lang="en-US" sz="1300" b="0" i="0" u="none" strike="noStrike">
              <a:solidFill>
                <a:srgbClr val="6B7280"/>
              </a:solidFill>
              <a:latin typeface="Noto Sans SC"/>
              <a:ea typeface="Noto Sans SC"/>
              <a:cs typeface="Noto Sans SC"/>
              <a:sym typeface="Noto Sans SC"/>
            </a:endParaRPr>
          </a:p>
        </p:txBody>
      </p:sp>
      <p:sp>
        <p:nvSpPr>
          <p:cNvPr id="13" name="AutoShape 13"/>
          <p:cNvSpPr/>
          <p:nvPr/>
        </p:nvSpPr>
        <p:spPr>
          <a:xfrm>
            <a:off x="762000" y="4191000"/>
            <a:ext cx="3302000" cy="2095500"/>
          </a:xfrm>
          <a:prstGeom prst="roundRect">
            <a:avLst>
              <a:gd name="adj" fmla="val 7272"/>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14" name="AutoShape 14"/>
          <p:cNvSpPr/>
          <p:nvPr/>
        </p:nvSpPr>
        <p:spPr>
          <a:xfrm>
            <a:off x="1016000" y="4445000"/>
            <a:ext cx="762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22C55E"/>
                </a:solidFill>
                <a:latin typeface="Noto Sans SC"/>
                <a:ea typeface="Noto Sans SC"/>
                <a:cs typeface="Noto Sans SC"/>
                <a:sym typeface="Noto Sans SC"/>
              </a:rPr>
              <a:t>04</a:t>
            </a:r>
            <a:endParaRPr lang="en-US" sz="1100"/>
          </a:p>
        </p:txBody>
      </p:sp>
      <p:sp>
        <p:nvSpPr>
          <p:cNvPr id="15" name="AutoShape 15"/>
          <p:cNvSpPr/>
          <p:nvPr/>
        </p:nvSpPr>
        <p:spPr>
          <a:xfrm>
            <a:off x="1905000" y="4508500"/>
            <a:ext cx="1905000" cy="1397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374151"/>
                </a:solidFill>
                <a:latin typeface="Noto Sans SC"/>
                <a:ea typeface="Noto Sans SC"/>
                <a:cs typeface="Noto Sans SC"/>
                <a:sym typeface="Noto Sans SC"/>
              </a:rPr>
              <a:t>模型构建与训练</a:t>
            </a:r>
            <a:endParaRPr lang="en-US" sz="1100"/>
          </a:p>
          <a:p>
            <a:pPr indent="0" algn="l">
              <a:lnSpc>
                <a:spcPct val="117000"/>
              </a:lnSpc>
              <a:spcBef>
                <a:spcPts val="1200"/>
              </a:spcBef>
            </a:pPr>
            <a:r>
              <a:rPr lang="en-US" sz="1300" b="0" i="0" u="none" strike="noStrike">
                <a:solidFill>
                  <a:srgbClr val="6B7280"/>
                </a:solidFill>
                <a:latin typeface="Noto Sans SC"/>
                <a:ea typeface="Noto Sans SC"/>
                <a:cs typeface="Noto Sans SC"/>
                <a:sym typeface="Noto Sans SC"/>
              </a:rPr>
              <a:t>多种机器学习算法的应用与对比</a:t>
            </a:r>
            <a:endParaRPr lang="en-US" sz="1300" b="0" i="0" u="none" strike="noStrike">
              <a:solidFill>
                <a:srgbClr val="6B7280"/>
              </a:solidFill>
              <a:latin typeface="Noto Sans SC"/>
              <a:ea typeface="Noto Sans SC"/>
              <a:cs typeface="Noto Sans SC"/>
              <a:sym typeface="Noto Sans SC"/>
            </a:endParaRPr>
          </a:p>
        </p:txBody>
      </p:sp>
      <p:sp>
        <p:nvSpPr>
          <p:cNvPr id="16" name="AutoShape 16"/>
          <p:cNvSpPr/>
          <p:nvPr/>
        </p:nvSpPr>
        <p:spPr>
          <a:xfrm>
            <a:off x="4445000" y="4191000"/>
            <a:ext cx="3302000" cy="2095500"/>
          </a:xfrm>
          <a:prstGeom prst="roundRect">
            <a:avLst>
              <a:gd name="adj" fmla="val 7272"/>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17" name="AutoShape 17"/>
          <p:cNvSpPr/>
          <p:nvPr/>
        </p:nvSpPr>
        <p:spPr>
          <a:xfrm>
            <a:off x="4699000" y="4445000"/>
            <a:ext cx="762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22C55E"/>
                </a:solidFill>
                <a:latin typeface="Noto Sans SC"/>
                <a:ea typeface="Noto Sans SC"/>
                <a:cs typeface="Noto Sans SC"/>
                <a:sym typeface="Noto Sans SC"/>
              </a:rPr>
              <a:t>05</a:t>
            </a:r>
            <a:endParaRPr lang="en-US" sz="1100"/>
          </a:p>
        </p:txBody>
      </p:sp>
      <p:sp>
        <p:nvSpPr>
          <p:cNvPr id="18" name="AutoShape 18"/>
          <p:cNvSpPr/>
          <p:nvPr/>
        </p:nvSpPr>
        <p:spPr>
          <a:xfrm>
            <a:off x="5588000" y="4508500"/>
            <a:ext cx="1905000" cy="1397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374151"/>
                </a:solidFill>
                <a:latin typeface="Noto Sans SC"/>
                <a:ea typeface="Noto Sans SC"/>
                <a:cs typeface="Noto Sans SC"/>
                <a:sym typeface="Noto Sans SC"/>
              </a:rPr>
              <a:t>模型评估与对比</a:t>
            </a:r>
            <a:endParaRPr lang="en-US" sz="1100"/>
          </a:p>
          <a:p>
            <a:pPr indent="0" algn="l">
              <a:lnSpc>
                <a:spcPct val="117000"/>
              </a:lnSpc>
              <a:spcBef>
                <a:spcPts val="1200"/>
              </a:spcBef>
            </a:pPr>
            <a:r>
              <a:rPr lang="en-US" sz="1300" b="0" i="0" u="none" strike="noStrike">
                <a:solidFill>
                  <a:srgbClr val="6B7280"/>
                </a:solidFill>
                <a:latin typeface="Noto Sans SC"/>
                <a:ea typeface="Noto Sans SC"/>
                <a:cs typeface="Noto Sans SC"/>
                <a:sym typeface="Noto Sans SC"/>
              </a:rPr>
              <a:t>多维度评估指标与可视化分析</a:t>
            </a:r>
            <a:endParaRPr lang="en-US" sz="1300" b="0" i="0" u="none" strike="noStrike">
              <a:solidFill>
                <a:srgbClr val="6B7280"/>
              </a:solidFill>
              <a:latin typeface="Noto Sans SC"/>
              <a:ea typeface="Noto Sans SC"/>
              <a:cs typeface="Noto Sans SC"/>
              <a:sym typeface="Noto Sans SC"/>
            </a:endParaRPr>
          </a:p>
        </p:txBody>
      </p:sp>
      <p:sp>
        <p:nvSpPr>
          <p:cNvPr id="19" name="AutoShape 19"/>
          <p:cNvSpPr/>
          <p:nvPr/>
        </p:nvSpPr>
        <p:spPr>
          <a:xfrm>
            <a:off x="8128000" y="4191000"/>
            <a:ext cx="3302000" cy="2095500"/>
          </a:xfrm>
          <a:prstGeom prst="roundRect">
            <a:avLst>
              <a:gd name="adj" fmla="val 7272"/>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20" name="AutoShape 20"/>
          <p:cNvSpPr/>
          <p:nvPr/>
        </p:nvSpPr>
        <p:spPr>
          <a:xfrm>
            <a:off x="8382000" y="4445000"/>
            <a:ext cx="762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22C55E"/>
                </a:solidFill>
                <a:latin typeface="Noto Sans SC"/>
                <a:ea typeface="Noto Sans SC"/>
                <a:cs typeface="Noto Sans SC"/>
                <a:sym typeface="Noto Sans SC"/>
              </a:rPr>
              <a:t>06</a:t>
            </a:r>
            <a:endParaRPr lang="en-US" sz="1100"/>
          </a:p>
        </p:txBody>
      </p:sp>
      <p:sp>
        <p:nvSpPr>
          <p:cNvPr id="21" name="AutoShape 21"/>
          <p:cNvSpPr/>
          <p:nvPr/>
        </p:nvSpPr>
        <p:spPr>
          <a:xfrm>
            <a:off x="9271000" y="4508500"/>
            <a:ext cx="1905000" cy="1397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374151"/>
                </a:solidFill>
                <a:latin typeface="Noto Sans SC"/>
                <a:ea typeface="Noto Sans SC"/>
                <a:cs typeface="Noto Sans SC"/>
                <a:sym typeface="Noto Sans SC"/>
              </a:rPr>
              <a:t>总结与展望</a:t>
            </a:r>
            <a:endParaRPr lang="en-US" sz="1100"/>
          </a:p>
          <a:p>
            <a:pPr indent="0" algn="l">
              <a:lnSpc>
                <a:spcPct val="117000"/>
              </a:lnSpc>
              <a:spcBef>
                <a:spcPts val="1200"/>
              </a:spcBef>
            </a:pPr>
            <a:r>
              <a:rPr lang="en-US" sz="1300" b="0" i="0" u="none" strike="noStrike">
                <a:solidFill>
                  <a:srgbClr val="6B7280"/>
                </a:solidFill>
                <a:latin typeface="Noto Sans SC"/>
                <a:ea typeface="Noto Sans SC"/>
                <a:cs typeface="Noto Sans SC"/>
                <a:sym typeface="Noto Sans SC"/>
              </a:rPr>
              <a:t>项目成果总结与未来工作方向</a:t>
            </a:r>
            <a:endParaRPr lang="en-US" sz="1300" b="0" i="0" u="none" strike="noStrike">
              <a:solidFill>
                <a:srgbClr val="6B7280"/>
              </a:solidFill>
              <a:latin typeface="Noto Sans SC"/>
              <a:ea typeface="Noto Sans SC"/>
              <a:cs typeface="Noto Sans SC"/>
              <a:sym typeface="Noto Sans S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71500"/>
            <a:ext cx="1016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6000" b="1" i="0" u="none" strike="noStrike">
                <a:solidFill>
                  <a:srgbClr val="22C55E"/>
                </a:solidFill>
                <a:latin typeface="Noto Sans SC"/>
                <a:ea typeface="Noto Sans SC"/>
                <a:cs typeface="Noto Sans SC"/>
                <a:sym typeface="Noto Sans SC"/>
              </a:rPr>
              <a:t>01</a:t>
            </a:r>
            <a:endParaRPr lang="en-US" sz="1100"/>
          </a:p>
        </p:txBody>
      </p:sp>
      <p:sp>
        <p:nvSpPr>
          <p:cNvPr id="4" name="AutoShape 4"/>
          <p:cNvSpPr/>
          <p:nvPr/>
        </p:nvSpPr>
        <p:spPr>
          <a:xfrm>
            <a:off x="1905000" y="736600"/>
            <a:ext cx="9525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74151"/>
                </a:solidFill>
                <a:latin typeface="Noto Sans SC"/>
                <a:ea typeface="Noto Sans SC"/>
                <a:cs typeface="Noto Sans SC"/>
                <a:sym typeface="Noto Sans SC"/>
              </a:rPr>
              <a:t>引言：项目背景与目标</a:t>
            </a:r>
            <a:endParaRPr lang="en-US" sz="1100"/>
          </a:p>
        </p:txBody>
      </p:sp>
      <p:pic>
        <p:nvPicPr>
          <p:cNvPr id="5" name="Picture 5"/>
          <p:cNvPicPr>
            <a:picLocks noChangeAspect="1"/>
          </p:cNvPicPr>
          <p:nvPr/>
        </p:nvPicPr>
        <p:blipFill>
          <a:blip r:embed="rId2"/>
          <a:srcRect l="10396" r="10396"/>
          <a:stretch>
            <a:fillRect/>
          </a:stretch>
        </p:blipFill>
        <p:spPr>
          <a:xfrm>
            <a:off x="762000" y="2032000"/>
            <a:ext cx="4826000" cy="4064000"/>
          </a:xfrm>
          <a:prstGeom prst="roundRect">
            <a:avLst>
              <a:gd name="adj" fmla="val 5000"/>
            </a:avLst>
          </a:prstGeom>
          <a:noFill/>
          <a:ln w="38100" cap="flat" cmpd="sng">
            <a:solidFill>
              <a:srgbClr val="FFFFFF">
                <a:alpha val="100000"/>
              </a:srgbClr>
            </a:solidFill>
            <a:prstDash val="solid"/>
            <a:round/>
          </a:ln>
          <a:effectLst>
            <a:outerShdw blurRad="444500" dist="190500" dir="2700000" algn="tl" rotWithShape="0">
              <a:srgbClr val="000000">
                <a:alpha val="25000"/>
              </a:srgbClr>
            </a:outerShdw>
          </a:effectLst>
        </p:spPr>
      </p:pic>
      <p:sp>
        <p:nvSpPr>
          <p:cNvPr id="6" name="AutoShape 6"/>
          <p:cNvSpPr/>
          <p:nvPr/>
        </p:nvSpPr>
        <p:spPr>
          <a:xfrm>
            <a:off x="5969000" y="2032000"/>
            <a:ext cx="5461000" cy="1968500"/>
          </a:xfrm>
          <a:prstGeom prst="roundRect">
            <a:avLst>
              <a:gd name="adj" fmla="val 7741"/>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223000" y="2260600"/>
            <a:ext cx="304800" cy="304800"/>
          </a:xfrm>
          <a:prstGeom prst="rect">
            <a:avLst/>
          </a:prstGeom>
        </p:spPr>
      </p:pic>
      <p:sp>
        <p:nvSpPr>
          <p:cNvPr id="8" name="AutoShape 8"/>
          <p:cNvSpPr/>
          <p:nvPr/>
        </p:nvSpPr>
        <p:spPr>
          <a:xfrm>
            <a:off x="6731000" y="2235200"/>
            <a:ext cx="444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900" b="1" i="0" u="none" strike="noStrike">
                <a:solidFill>
                  <a:srgbClr val="1F2937"/>
                </a:solidFill>
                <a:latin typeface="Noto Sans SC"/>
                <a:ea typeface="Noto Sans SC"/>
                <a:cs typeface="Noto Sans SC"/>
                <a:sym typeface="Noto Sans SC"/>
              </a:rPr>
              <a:t>全球糖尿病的严峻挑战</a:t>
            </a:r>
            <a:endParaRPr lang="en-US" sz="1100"/>
          </a:p>
        </p:txBody>
      </p:sp>
      <p:sp>
        <p:nvSpPr>
          <p:cNvPr id="9" name="AutoShape 9"/>
          <p:cNvSpPr/>
          <p:nvPr/>
        </p:nvSpPr>
        <p:spPr>
          <a:xfrm>
            <a:off x="6223000" y="2794000"/>
            <a:ext cx="4953000" cy="1143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300" b="0" i="0" u="none" strike="noStrike">
                <a:solidFill>
                  <a:srgbClr val="4B5563"/>
                </a:solidFill>
                <a:latin typeface="Noto Sans SC"/>
                <a:ea typeface="Noto Sans SC"/>
                <a:cs typeface="Noto Sans SC"/>
                <a:sym typeface="Noto Sans SC"/>
              </a:rPr>
              <a:t>糖尿病已成为21世纪全球最严重的公共卫生问题之一，全球患者超5亿，并发症涉及眼、肾、心脏等重要器官。中国疾病负担尤为沉重。传统诊断流程繁琐，且极易在早期筛查中出现漏诊，无法满足大规模预防需求。</a:t>
            </a:r>
            <a:endParaRPr lang="en-US" sz="1100"/>
          </a:p>
        </p:txBody>
      </p:sp>
      <p:sp>
        <p:nvSpPr>
          <p:cNvPr id="10" name="AutoShape 10"/>
          <p:cNvSpPr/>
          <p:nvPr/>
        </p:nvSpPr>
        <p:spPr>
          <a:xfrm>
            <a:off x="5969000" y="4254500"/>
            <a:ext cx="5461000" cy="1968500"/>
          </a:xfrm>
          <a:prstGeom prst="roundRect">
            <a:avLst>
              <a:gd name="adj" fmla="val 7741"/>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223000" y="4483100"/>
            <a:ext cx="304800" cy="304800"/>
          </a:xfrm>
          <a:prstGeom prst="rect">
            <a:avLst/>
          </a:prstGeom>
        </p:spPr>
      </p:pic>
      <p:sp>
        <p:nvSpPr>
          <p:cNvPr id="12" name="AutoShape 12"/>
          <p:cNvSpPr/>
          <p:nvPr/>
        </p:nvSpPr>
        <p:spPr>
          <a:xfrm>
            <a:off x="6731000" y="4457700"/>
            <a:ext cx="444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900" b="1" i="0" u="none" strike="noStrike">
                <a:solidFill>
                  <a:srgbClr val="1F2937"/>
                </a:solidFill>
                <a:latin typeface="Noto Sans SC"/>
                <a:ea typeface="Noto Sans SC"/>
                <a:cs typeface="Noto Sans SC"/>
                <a:sym typeface="Noto Sans SC"/>
              </a:rPr>
              <a:t>技术机遇：机器学习赋能精准预测</a:t>
            </a:r>
            <a:endParaRPr lang="en-US" sz="1100"/>
          </a:p>
        </p:txBody>
      </p:sp>
      <p:sp>
        <p:nvSpPr>
          <p:cNvPr id="13" name="AutoShape 13"/>
          <p:cNvSpPr/>
          <p:nvPr/>
        </p:nvSpPr>
        <p:spPr>
          <a:xfrm>
            <a:off x="6223000" y="5016500"/>
            <a:ext cx="4953000" cy="1143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300" b="0" i="0" u="none" strike="noStrike">
                <a:solidFill>
                  <a:srgbClr val="4B5563"/>
                </a:solidFill>
                <a:latin typeface="Noto Sans SC"/>
                <a:ea typeface="Noto Sans SC"/>
                <a:cs typeface="Noto Sans SC"/>
                <a:sym typeface="Noto Sans SC"/>
              </a:rPr>
              <a:t>随着电子健康记录(EHR)的普及和大数据技术发展，机器学习为糖尿病风险预警开辟了新路径。通过分析患者的常规体检指标，构建高效预测模型，可快速识别高危人群，有效提升筛查的效率与准确性，助力疾病的早发现、早干预。</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74151"/>
                </a:solidFill>
                <a:latin typeface="Noto Sans SC"/>
                <a:ea typeface="Noto Sans SC"/>
                <a:cs typeface="Noto Sans SC"/>
                <a:sym typeface="Noto Sans SC"/>
              </a:rPr>
              <a:t>01 引言：项目背景与目标</a:t>
            </a:r>
            <a:endParaRPr lang="en-US" sz="1100"/>
          </a:p>
        </p:txBody>
      </p:sp>
      <p:pic>
        <p:nvPicPr>
          <p:cNvPr id="4" name="Picture 4"/>
          <p:cNvPicPr>
            <a:picLocks noChangeAspect="1"/>
          </p:cNvPicPr>
          <p:nvPr/>
        </p:nvPicPr>
        <p:blipFill>
          <a:blip r:embed="rId2"/>
          <a:srcRect l="20220" r="20220"/>
          <a:stretch>
            <a:fillRect/>
          </a:stretch>
        </p:blipFill>
        <p:spPr>
          <a:xfrm>
            <a:off x="762000" y="1778000"/>
            <a:ext cx="4572000" cy="4318000"/>
          </a:xfrm>
          <a:prstGeom prst="roundRect">
            <a:avLst>
              <a:gd name="adj" fmla="val 3529"/>
            </a:avLst>
          </a:prstGeom>
          <a:noFill/>
          <a:ln w="25400" cap="flat" cmpd="sng">
            <a:noFill/>
            <a:prstDash val="solid"/>
            <a:round/>
          </a:ln>
          <a:effectLst>
            <a:outerShdw blurRad="444500" dist="190500" dir="2700000" algn="tl" rotWithShape="0">
              <a:srgbClr val="000000">
                <a:alpha val="25000"/>
              </a:srgbClr>
            </a:outerShdw>
          </a:effectLst>
        </p:spPr>
      </p:pic>
      <p:sp>
        <p:nvSpPr>
          <p:cNvPr id="5" name="AutoShape 5"/>
          <p:cNvSpPr/>
          <p:nvPr/>
        </p:nvSpPr>
        <p:spPr>
          <a:xfrm>
            <a:off x="5715000" y="1778000"/>
            <a:ext cx="2794000" cy="2032000"/>
          </a:xfrm>
          <a:prstGeom prst="roundRect">
            <a:avLst>
              <a:gd name="adj" fmla="val 5000"/>
            </a:avLst>
          </a:prstGeom>
          <a:solidFill>
            <a:srgbClr val="FFFFFF">
              <a:alpha val="9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905500" y="2032000"/>
            <a:ext cx="406400" cy="406400"/>
          </a:xfrm>
          <a:prstGeom prst="rect">
            <a:avLst/>
          </a:prstGeom>
        </p:spPr>
      </p:pic>
      <p:sp>
        <p:nvSpPr>
          <p:cNvPr id="7" name="AutoShape 7"/>
          <p:cNvSpPr/>
          <p:nvPr/>
        </p:nvSpPr>
        <p:spPr>
          <a:xfrm>
            <a:off x="6477000" y="2006600"/>
            <a:ext cx="190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74151"/>
                </a:solidFill>
                <a:latin typeface="Noto Sans SC"/>
                <a:ea typeface="Noto Sans SC"/>
                <a:cs typeface="Noto Sans SC"/>
                <a:sym typeface="Noto Sans SC"/>
              </a:rPr>
              <a:t>数据处理与分析</a:t>
            </a:r>
            <a:endParaRPr lang="en-US" sz="1100"/>
          </a:p>
        </p:txBody>
      </p:sp>
      <p:sp>
        <p:nvSpPr>
          <p:cNvPr id="8" name="AutoShape 8"/>
          <p:cNvSpPr/>
          <p:nvPr/>
        </p:nvSpPr>
        <p:spPr>
          <a:xfrm>
            <a:off x="5905500" y="2667000"/>
            <a:ext cx="2413000" cy="1016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6B7280"/>
                </a:solidFill>
                <a:latin typeface="Noto Sans SC"/>
                <a:ea typeface="Noto Sans SC"/>
                <a:cs typeface="Noto Sans SC"/>
                <a:sym typeface="Noto Sans SC"/>
              </a:rPr>
              <a:t>对Pima印第安人糖尿病数据集进行全面的探索性数据分析（EDA），理解数据分布、特征间关系及存在的问题。</a:t>
            </a:r>
            <a:endParaRPr lang="en-US" sz="1100"/>
          </a:p>
        </p:txBody>
      </p:sp>
      <p:sp>
        <p:nvSpPr>
          <p:cNvPr id="9" name="AutoShape 9"/>
          <p:cNvSpPr/>
          <p:nvPr/>
        </p:nvSpPr>
        <p:spPr>
          <a:xfrm>
            <a:off x="8763000" y="1778000"/>
            <a:ext cx="2794000" cy="2032000"/>
          </a:xfrm>
          <a:prstGeom prst="roundRect">
            <a:avLst>
              <a:gd name="adj" fmla="val 5000"/>
            </a:avLst>
          </a:prstGeom>
          <a:solidFill>
            <a:srgbClr val="FFFFFF">
              <a:alpha val="9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953500" y="2032000"/>
            <a:ext cx="406400" cy="406400"/>
          </a:xfrm>
          <a:prstGeom prst="rect">
            <a:avLst/>
          </a:prstGeom>
        </p:spPr>
      </p:pic>
      <p:sp>
        <p:nvSpPr>
          <p:cNvPr id="11" name="AutoShape 11"/>
          <p:cNvSpPr/>
          <p:nvPr/>
        </p:nvSpPr>
        <p:spPr>
          <a:xfrm>
            <a:off x="9525000" y="2006600"/>
            <a:ext cx="190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74151"/>
                </a:solidFill>
                <a:latin typeface="Noto Sans SC"/>
                <a:ea typeface="Noto Sans SC"/>
                <a:cs typeface="Noto Sans SC"/>
                <a:sym typeface="Noto Sans SC"/>
              </a:rPr>
              <a:t>模型构建与训练</a:t>
            </a:r>
            <a:endParaRPr lang="en-US" sz="1100"/>
          </a:p>
        </p:txBody>
      </p:sp>
      <p:sp>
        <p:nvSpPr>
          <p:cNvPr id="12" name="AutoShape 12"/>
          <p:cNvSpPr/>
          <p:nvPr/>
        </p:nvSpPr>
        <p:spPr>
          <a:xfrm>
            <a:off x="8953500" y="2667000"/>
            <a:ext cx="2413000" cy="1016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6B7280"/>
                </a:solidFill>
                <a:latin typeface="Noto Sans SC"/>
                <a:ea typeface="Noto Sans SC"/>
                <a:cs typeface="Noto Sans SC"/>
                <a:sym typeface="Noto Sans SC"/>
              </a:rPr>
              <a:t>应用多种机器学习算法（如逻辑回归、随机森林、支持向量机等）构建分类模型，并进行训练和优化。</a:t>
            </a:r>
            <a:endParaRPr lang="en-US" sz="1100"/>
          </a:p>
        </p:txBody>
      </p:sp>
      <p:sp>
        <p:nvSpPr>
          <p:cNvPr id="13" name="AutoShape 13"/>
          <p:cNvSpPr/>
          <p:nvPr/>
        </p:nvSpPr>
        <p:spPr>
          <a:xfrm>
            <a:off x="5715000" y="4064000"/>
            <a:ext cx="2794000" cy="2032000"/>
          </a:xfrm>
          <a:prstGeom prst="roundRect">
            <a:avLst>
              <a:gd name="adj" fmla="val 5000"/>
            </a:avLst>
          </a:prstGeom>
          <a:solidFill>
            <a:srgbClr val="FFFFFF">
              <a:alpha val="9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905500" y="4318000"/>
            <a:ext cx="406400" cy="406400"/>
          </a:xfrm>
          <a:prstGeom prst="rect">
            <a:avLst/>
          </a:prstGeom>
        </p:spPr>
      </p:pic>
      <p:sp>
        <p:nvSpPr>
          <p:cNvPr id="15" name="AutoShape 15"/>
          <p:cNvSpPr/>
          <p:nvPr/>
        </p:nvSpPr>
        <p:spPr>
          <a:xfrm>
            <a:off x="6477000" y="4292600"/>
            <a:ext cx="190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74151"/>
                </a:solidFill>
                <a:latin typeface="Noto Sans SC"/>
                <a:ea typeface="Noto Sans SC"/>
                <a:cs typeface="Noto Sans SC"/>
                <a:sym typeface="Noto Sans SC"/>
              </a:rPr>
              <a:t>模型评估与对比</a:t>
            </a:r>
            <a:endParaRPr lang="en-US" sz="1100"/>
          </a:p>
        </p:txBody>
      </p:sp>
      <p:sp>
        <p:nvSpPr>
          <p:cNvPr id="16" name="AutoShape 16"/>
          <p:cNvSpPr/>
          <p:nvPr/>
        </p:nvSpPr>
        <p:spPr>
          <a:xfrm>
            <a:off x="5905500" y="4953000"/>
            <a:ext cx="2413000" cy="1016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6B7280"/>
                </a:solidFill>
                <a:latin typeface="Noto Sans SC"/>
                <a:ea typeface="Noto Sans SC"/>
                <a:cs typeface="Noto Sans SC"/>
                <a:sym typeface="Noto Sans SC"/>
              </a:rPr>
              <a:t>使用多维度评估指标（准确率、精确率、召回率、F1分数、AUC-ROC）对模型性能进行综合评估，并选择最优模型。</a:t>
            </a:r>
            <a:endParaRPr lang="en-US" sz="1100"/>
          </a:p>
        </p:txBody>
      </p:sp>
      <p:sp>
        <p:nvSpPr>
          <p:cNvPr id="17" name="AutoShape 17"/>
          <p:cNvSpPr/>
          <p:nvPr/>
        </p:nvSpPr>
        <p:spPr>
          <a:xfrm>
            <a:off x="8763000" y="4064000"/>
            <a:ext cx="2794000" cy="2032000"/>
          </a:xfrm>
          <a:prstGeom prst="roundRect">
            <a:avLst>
              <a:gd name="adj" fmla="val 5000"/>
            </a:avLst>
          </a:prstGeom>
          <a:solidFill>
            <a:srgbClr val="FFFFFF">
              <a:alpha val="9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953500" y="4318000"/>
            <a:ext cx="406400" cy="406400"/>
          </a:xfrm>
          <a:prstGeom prst="rect">
            <a:avLst/>
          </a:prstGeom>
        </p:spPr>
      </p:pic>
      <p:sp>
        <p:nvSpPr>
          <p:cNvPr id="19" name="AutoShape 19"/>
          <p:cNvSpPr/>
          <p:nvPr/>
        </p:nvSpPr>
        <p:spPr>
          <a:xfrm>
            <a:off x="9525000" y="4292600"/>
            <a:ext cx="190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74151"/>
                </a:solidFill>
                <a:latin typeface="Noto Sans SC"/>
                <a:ea typeface="Noto Sans SC"/>
                <a:cs typeface="Noto Sans SC"/>
                <a:sym typeface="Noto Sans SC"/>
              </a:rPr>
              <a:t>模型解释与应用</a:t>
            </a:r>
            <a:endParaRPr lang="en-US" sz="1100"/>
          </a:p>
        </p:txBody>
      </p:sp>
      <p:sp>
        <p:nvSpPr>
          <p:cNvPr id="20" name="AutoShape 20"/>
          <p:cNvSpPr/>
          <p:nvPr/>
        </p:nvSpPr>
        <p:spPr>
          <a:xfrm>
            <a:off x="8953500" y="4953000"/>
            <a:ext cx="2413000" cy="1016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6B7280"/>
                </a:solidFill>
                <a:latin typeface="Noto Sans SC"/>
                <a:ea typeface="Noto Sans SC"/>
                <a:cs typeface="Noto Sans SC"/>
                <a:sym typeface="Noto Sans SC"/>
              </a:rPr>
              <a:t>分析模型的特征重要性，增强模型的可解释性，并探讨其在临床辅助诊断中的潜在应用价值。</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74151"/>
                </a:solidFill>
                <a:latin typeface="Noto Sans SC"/>
                <a:ea typeface="Noto Sans SC"/>
                <a:cs typeface="Noto Sans SC"/>
                <a:sym typeface="Noto Sans SC"/>
              </a:rPr>
              <a:t>02 数据理解与探索 (EDA)</a:t>
            </a:r>
            <a:endParaRPr lang="en-US" sz="1100"/>
          </a:p>
        </p:txBody>
      </p:sp>
      <p:sp>
        <p:nvSpPr>
          <p:cNvPr id="4" name="AutoShape 4"/>
          <p:cNvSpPr/>
          <p:nvPr/>
        </p:nvSpPr>
        <p:spPr>
          <a:xfrm>
            <a:off x="762000" y="1778000"/>
            <a:ext cx="3429000" cy="4445000"/>
          </a:xfrm>
          <a:prstGeom prst="roundRect">
            <a:avLst>
              <a:gd name="adj" fmla="val 4444"/>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srcRect t="17614" b="17614"/>
          <a:stretch>
            <a:fillRect/>
          </a:stretch>
        </p:blipFill>
        <p:spPr>
          <a:xfrm>
            <a:off x="889000" y="1968500"/>
            <a:ext cx="3175000" cy="2794000"/>
          </a:xfrm>
          <a:prstGeom prst="roundRect">
            <a:avLst>
              <a:gd name="adj" fmla="val 3636"/>
            </a:avLst>
          </a:prstGeom>
          <a:noFill/>
          <a:ln w="25400" cap="flat" cmpd="sng">
            <a:noFill/>
            <a:prstDash val="solid"/>
            <a:round/>
          </a:ln>
        </p:spPr>
      </p:pic>
      <p:sp>
        <p:nvSpPr>
          <p:cNvPr id="6" name="AutoShape 6"/>
          <p:cNvSpPr/>
          <p:nvPr/>
        </p:nvSpPr>
        <p:spPr>
          <a:xfrm>
            <a:off x="889000" y="4953000"/>
            <a:ext cx="3175000" cy="1143000"/>
          </a:xfrm>
          <a:prstGeom prst="rect">
            <a:avLst/>
          </a:prstGeom>
          <a:noFill/>
          <a:ln w="12700" cap="flat" cmpd="sng">
            <a:noFill/>
            <a:prstDash val="solid"/>
            <a:round/>
          </a:ln>
        </p:spPr>
        <p:txBody>
          <a:bodyPr vert="horz" wrap="square" lIns="0" tIns="0" rIns="0" bIns="0" rtlCol="0" anchor="t" anchorCtr="0"/>
          <a:lstStyle/>
          <a:p>
            <a:pPr indent="0" algn="ctr">
              <a:lnSpc>
                <a:spcPct val="117000"/>
              </a:lnSpc>
              <a:defRPr/>
            </a:pPr>
            <a:r>
              <a:rPr lang="en-US" sz="1400" b="1" i="0" u="none" strike="noStrike">
                <a:solidFill>
                  <a:srgbClr val="374151"/>
                </a:solidFill>
                <a:latin typeface="Noto Sans SC"/>
                <a:ea typeface="Noto Sans SC"/>
                <a:cs typeface="Noto Sans SC"/>
                <a:sym typeface="Noto Sans SC"/>
              </a:rPr>
              <a:t>Pima Indians</a:t>
            </a:r>
            <a:endParaRPr lang="en-US" sz="1100"/>
          </a:p>
          <a:p>
            <a:pPr indent="0" algn="ctr">
              <a:lnSpc>
                <a:spcPct val="117000"/>
              </a:lnSpc>
            </a:pPr>
            <a:r>
              <a:rPr lang="en-US" sz="1200" b="0" i="0" u="none" strike="noStrike">
                <a:solidFill>
                  <a:srgbClr val="6B7280"/>
                </a:solidFill>
                <a:latin typeface="Noto Sans SC"/>
                <a:ea typeface="Noto Sans SC"/>
                <a:cs typeface="Noto Sans SC"/>
                <a:sym typeface="Noto Sans SC"/>
              </a:rPr>
              <a:t>亚利桑那州的原住民群体</a:t>
            </a:r>
            <a:br>
              <a:rPr lang="en-US" sz="1600" b="0" i="0" u="none" strike="noStrike">
                <a:solidFill>
                  <a:srgbClr val="1F2329"/>
                </a:solidFill>
                <a:latin typeface="Noto Sans SC"/>
                <a:ea typeface="Noto Sans SC"/>
                <a:cs typeface="Noto Sans SC"/>
                <a:sym typeface="Noto Sans SC"/>
              </a:rPr>
            </a:br>
            <a:r>
              <a:rPr lang="en-US" sz="1200" b="0" i="0" u="none" strike="noStrike">
                <a:solidFill>
                  <a:srgbClr val="6B7280"/>
                </a:solidFill>
                <a:latin typeface="Noto Sans SC"/>
                <a:ea typeface="Noto Sans SC"/>
                <a:cs typeface="Noto Sans SC"/>
                <a:sym typeface="Noto Sans SC"/>
              </a:rPr>
              <a:t>是糖尿病研究的重要样本来源</a:t>
            </a:r>
            <a:endParaRPr lang="en-US" sz="1200" b="0" i="0" u="none" strike="noStrike">
              <a:solidFill>
                <a:srgbClr val="6B7280"/>
              </a:solidFill>
              <a:latin typeface="Noto Sans SC"/>
              <a:ea typeface="Noto Sans SC"/>
              <a:cs typeface="Noto Sans SC"/>
              <a:sym typeface="Noto Sans SC"/>
            </a:endParaRPr>
          </a:p>
        </p:txBody>
      </p:sp>
      <p:sp>
        <p:nvSpPr>
          <p:cNvPr id="7" name="AutoShape 7"/>
          <p:cNvSpPr/>
          <p:nvPr/>
        </p:nvSpPr>
        <p:spPr>
          <a:xfrm>
            <a:off x="4445000" y="1778000"/>
            <a:ext cx="6985000" cy="2032000"/>
          </a:xfrm>
          <a:prstGeom prst="roundRect">
            <a:avLst>
              <a:gd name="adj" fmla="val 750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99000" y="1968500"/>
            <a:ext cx="304800" cy="304800"/>
          </a:xfrm>
          <a:prstGeom prst="rect">
            <a:avLst/>
          </a:prstGeom>
        </p:spPr>
      </p:pic>
      <p:sp>
        <p:nvSpPr>
          <p:cNvPr id="9" name="AutoShape 9"/>
          <p:cNvSpPr/>
          <p:nvPr/>
        </p:nvSpPr>
        <p:spPr>
          <a:xfrm>
            <a:off x="5143500" y="1930400"/>
            <a:ext cx="596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74151"/>
                </a:solidFill>
                <a:latin typeface="Noto Sans SC"/>
                <a:ea typeface="Noto Sans SC"/>
                <a:cs typeface="Noto Sans SC"/>
                <a:sym typeface="Noto Sans SC"/>
              </a:rPr>
              <a:t>Pima Indians Diabetes Dataset (经典数据集)</a:t>
            </a:r>
            <a:endParaRPr lang="en-US" sz="1100"/>
          </a:p>
        </p:txBody>
      </p:sp>
      <p:sp>
        <p:nvSpPr>
          <p:cNvPr id="10" name="AutoShape 10"/>
          <p:cNvSpPr/>
          <p:nvPr/>
        </p:nvSpPr>
        <p:spPr>
          <a:xfrm>
            <a:off x="4699000" y="2540000"/>
            <a:ext cx="6477000" cy="1143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300" b="0" i="0" u="none" strike="noStrike">
                <a:solidFill>
                  <a:srgbClr val="4B5563"/>
                </a:solidFill>
                <a:latin typeface="Noto Sans SC"/>
                <a:ea typeface="Noto Sans SC"/>
                <a:cs typeface="Noto Sans SC"/>
                <a:sym typeface="Noto Sans SC"/>
              </a:rPr>
              <a:t>•</a:t>
            </a:r>
            <a:r>
              <a:rPr lang="en-US" sz="1300" b="1" i="0" u="none" strike="noStrike">
                <a:solidFill>
                  <a:srgbClr val="4B5563"/>
                </a:solidFill>
                <a:latin typeface="Noto Sans SC"/>
                <a:ea typeface="Noto Sans SC"/>
                <a:cs typeface="Noto Sans SC"/>
                <a:sym typeface="Noto Sans SC"/>
              </a:rPr>
              <a:t>来源：</a:t>
            </a:r>
            <a:r>
              <a:rPr lang="en-US" sz="1300" b="0" i="0" u="none" strike="noStrike">
                <a:solidFill>
                  <a:srgbClr val="4B5563"/>
                </a:solidFill>
                <a:latin typeface="Noto Sans SC"/>
                <a:ea typeface="Noto Sans SC"/>
                <a:cs typeface="Noto Sans SC"/>
                <a:sym typeface="Noto Sans SC"/>
              </a:rPr>
              <a:t>UCI Machine Learning Repository / Kaggle |</a:t>
            </a:r>
            <a:r>
              <a:rPr lang="en-US" sz="1300" b="1" i="0" u="none" strike="noStrike">
                <a:solidFill>
                  <a:srgbClr val="4B5563"/>
                </a:solidFill>
                <a:latin typeface="Noto Sans SC"/>
                <a:ea typeface="Noto Sans SC"/>
                <a:cs typeface="Noto Sans SC"/>
                <a:sym typeface="Noto Sans SC"/>
              </a:rPr>
              <a:t>样本：</a:t>
            </a:r>
            <a:r>
              <a:rPr lang="en-US" sz="1300" b="0" i="0" u="none" strike="noStrike">
                <a:solidFill>
                  <a:srgbClr val="4B5563"/>
                </a:solidFill>
                <a:latin typeface="Noto Sans SC"/>
                <a:ea typeface="Noto Sans SC"/>
                <a:cs typeface="Noto Sans SC"/>
                <a:sym typeface="Noto Sans SC"/>
              </a:rPr>
              <a:t>768位21岁+皮马印第安女性</a:t>
            </a:r>
            <a:endParaRPr lang="en-US" sz="1100"/>
          </a:p>
          <a:p>
            <a:pPr indent="0" algn="l">
              <a:lnSpc>
                <a:spcPct val="108000"/>
              </a:lnSpc>
            </a:pPr>
            <a:r>
              <a:rPr lang="en-US" sz="1300" b="0" i="0" u="none" strike="noStrike">
                <a:solidFill>
                  <a:srgbClr val="4B5563"/>
                </a:solidFill>
                <a:latin typeface="Noto Sans SC"/>
                <a:ea typeface="Noto Sans SC"/>
                <a:cs typeface="Noto Sans SC"/>
                <a:sym typeface="Noto Sans SC"/>
              </a:rPr>
              <a:t>•</a:t>
            </a:r>
            <a:r>
              <a:rPr lang="en-US" sz="1300" b="1" i="0" u="none" strike="noStrike">
                <a:solidFill>
                  <a:srgbClr val="4B5563"/>
                </a:solidFill>
                <a:latin typeface="Noto Sans SC"/>
                <a:ea typeface="Noto Sans SC"/>
                <a:cs typeface="Noto Sans SC"/>
                <a:sym typeface="Noto Sans SC"/>
              </a:rPr>
              <a:t>结构：</a:t>
            </a:r>
            <a:r>
              <a:rPr lang="en-US" sz="1300" b="0" i="0" u="none" strike="noStrike">
                <a:solidFill>
                  <a:srgbClr val="4B5563"/>
                </a:solidFill>
                <a:latin typeface="Noto Sans SC"/>
                <a:ea typeface="Noto Sans SC"/>
                <a:cs typeface="Noto Sans SC"/>
                <a:sym typeface="Noto Sans SC"/>
              </a:rPr>
              <a:t>8个生理特征变量 + 1个二元目标变量 (Outcome)</a:t>
            </a:r>
            <a:endParaRPr lang="en-US" sz="1300" b="0" i="0" u="none" strike="noStrike">
              <a:solidFill>
                <a:srgbClr val="4B5563"/>
              </a:solidFill>
              <a:latin typeface="Noto Sans SC"/>
              <a:ea typeface="Noto Sans SC"/>
              <a:cs typeface="Noto Sans SC"/>
              <a:sym typeface="Noto Sans SC"/>
            </a:endParaRPr>
          </a:p>
          <a:p>
            <a:pPr indent="0" algn="l">
              <a:lnSpc>
                <a:spcPct val="108000"/>
              </a:lnSpc>
            </a:pPr>
            <a:r>
              <a:rPr lang="en-US" sz="1300" b="0" i="0" u="none" strike="noStrike">
                <a:solidFill>
                  <a:srgbClr val="4B5563"/>
                </a:solidFill>
                <a:latin typeface="Noto Sans SC"/>
                <a:ea typeface="Noto Sans SC"/>
                <a:cs typeface="Noto Sans SC"/>
                <a:sym typeface="Noto Sans SC"/>
              </a:rPr>
              <a:t>•</a:t>
            </a:r>
            <a:r>
              <a:rPr lang="en-US" sz="1300" b="1" i="0" u="none" strike="noStrike">
                <a:solidFill>
                  <a:srgbClr val="4B5563"/>
                </a:solidFill>
                <a:latin typeface="Noto Sans SC"/>
                <a:ea typeface="Noto Sans SC"/>
                <a:cs typeface="Noto Sans SC"/>
                <a:sym typeface="Noto Sans SC"/>
              </a:rPr>
              <a:t>目标：</a:t>
            </a:r>
            <a:r>
              <a:rPr lang="en-US" sz="1300" b="0" i="0" u="none" strike="noStrike">
                <a:solidFill>
                  <a:srgbClr val="4B5563"/>
                </a:solidFill>
                <a:latin typeface="Noto Sans SC"/>
                <a:ea typeface="Noto Sans SC"/>
                <a:cs typeface="Noto Sans SC"/>
                <a:sym typeface="Noto Sans SC"/>
              </a:rPr>
              <a:t>预测未来5年内是否患糖尿病 (1 = 患病, 0 = 未患病)</a:t>
            </a:r>
            <a:endParaRPr lang="en-US" sz="1300" b="0" i="0" u="none" strike="noStrike">
              <a:solidFill>
                <a:srgbClr val="4B5563"/>
              </a:solidFill>
              <a:latin typeface="Noto Sans SC"/>
              <a:ea typeface="Noto Sans SC"/>
              <a:cs typeface="Noto Sans SC"/>
              <a:sym typeface="Noto Sans SC"/>
            </a:endParaRPr>
          </a:p>
        </p:txBody>
      </p:sp>
      <p:sp>
        <p:nvSpPr>
          <p:cNvPr id="11" name="AutoShape 11"/>
          <p:cNvSpPr/>
          <p:nvPr/>
        </p:nvSpPr>
        <p:spPr>
          <a:xfrm>
            <a:off x="4445000" y="4064000"/>
            <a:ext cx="6985000" cy="2413000"/>
          </a:xfrm>
          <a:prstGeom prst="roundRect">
            <a:avLst>
              <a:gd name="adj" fmla="val 6315"/>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699000" y="4254500"/>
            <a:ext cx="279400" cy="279400"/>
          </a:xfrm>
          <a:prstGeom prst="rect">
            <a:avLst/>
          </a:prstGeom>
        </p:spPr>
      </p:pic>
      <p:sp>
        <p:nvSpPr>
          <p:cNvPr id="13" name="AutoShape 13"/>
          <p:cNvSpPr/>
          <p:nvPr/>
        </p:nvSpPr>
        <p:spPr>
          <a:xfrm>
            <a:off x="5143500" y="4216400"/>
            <a:ext cx="596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700" b="1" i="0" u="none" strike="noStrike">
                <a:solidFill>
                  <a:srgbClr val="374151"/>
                </a:solidFill>
                <a:latin typeface="Noto Sans SC"/>
                <a:ea typeface="Noto Sans SC"/>
                <a:cs typeface="Noto Sans SC"/>
                <a:sym typeface="Noto Sans SC"/>
              </a:rPr>
              <a:t>关键特征字段解析</a:t>
            </a:r>
            <a:endParaRPr lang="en-US" sz="1100"/>
          </a:p>
        </p:txBody>
      </p:sp>
      <p:sp>
        <p:nvSpPr>
          <p:cNvPr id="14" name="AutoShape 14"/>
          <p:cNvSpPr/>
          <p:nvPr/>
        </p:nvSpPr>
        <p:spPr>
          <a:xfrm>
            <a:off x="4699000" y="4826000"/>
            <a:ext cx="3175000" cy="139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22C55E"/>
                </a:solidFill>
                <a:latin typeface="Noto Sans SC"/>
                <a:ea typeface="Noto Sans SC"/>
                <a:cs typeface="Noto Sans SC"/>
                <a:sym typeface="Noto Sans SC"/>
              </a:rPr>
              <a:t>👶 Pregnancies：</a:t>
            </a:r>
            <a:r>
              <a:rPr lang="en-US" sz="1200" b="0" i="0" u="none" strike="noStrike">
                <a:solidFill>
                  <a:srgbClr val="4B5563"/>
                </a:solidFill>
                <a:latin typeface="Noto Sans SC"/>
                <a:ea typeface="Noto Sans SC"/>
                <a:cs typeface="Noto Sans SC"/>
                <a:sym typeface="Noto Sans SC"/>
              </a:rPr>
              <a:t>怀孕次数</a:t>
            </a:r>
            <a:endParaRPr lang="en-US" sz="1100"/>
          </a:p>
          <a:p>
            <a:pPr indent="0" algn="l">
              <a:lnSpc>
                <a:spcPct val="125000"/>
              </a:lnSpc>
            </a:pPr>
            <a:r>
              <a:rPr lang="en-US" sz="1200" b="1" i="0" u="none" strike="noStrike">
                <a:solidFill>
                  <a:srgbClr val="22C55E"/>
                </a:solidFill>
                <a:latin typeface="Noto Sans SC"/>
                <a:ea typeface="Noto Sans SC"/>
                <a:cs typeface="Noto Sans SC"/>
                <a:sym typeface="Noto Sans SC"/>
              </a:rPr>
              <a:t>🩸 Glucose：</a:t>
            </a:r>
            <a:r>
              <a:rPr lang="en-US" sz="1200" b="0" i="0" u="none" strike="noStrike">
                <a:solidFill>
                  <a:srgbClr val="4B5563"/>
                </a:solidFill>
                <a:latin typeface="Noto Sans SC"/>
                <a:ea typeface="Noto Sans SC"/>
                <a:cs typeface="Noto Sans SC"/>
                <a:sym typeface="Noto Sans SC"/>
              </a:rPr>
              <a:t>血浆葡萄糖浓度 (口服葡萄糖耐量试验)</a:t>
            </a:r>
            <a:endParaRPr lang="en-US" sz="1200" b="0" i="0" u="none" strike="noStrike">
              <a:solidFill>
                <a:srgbClr val="4B5563"/>
              </a:solidFill>
              <a:latin typeface="Noto Sans SC"/>
              <a:ea typeface="Noto Sans SC"/>
              <a:cs typeface="Noto Sans SC"/>
              <a:sym typeface="Noto Sans SC"/>
            </a:endParaRPr>
          </a:p>
          <a:p>
            <a:pPr indent="0" algn="l">
              <a:lnSpc>
                <a:spcPct val="125000"/>
              </a:lnSpc>
            </a:pPr>
            <a:r>
              <a:rPr lang="en-US" sz="1200" b="1" i="0" u="none" strike="noStrike">
                <a:solidFill>
                  <a:srgbClr val="22C55E"/>
                </a:solidFill>
                <a:latin typeface="Noto Sans SC"/>
                <a:ea typeface="Noto Sans SC"/>
                <a:cs typeface="Noto Sans SC"/>
                <a:sym typeface="Noto Sans SC"/>
              </a:rPr>
              <a:t>💓 BloodPressure：</a:t>
            </a:r>
            <a:r>
              <a:rPr lang="en-US" sz="1200" b="0" i="0" u="none" strike="noStrike">
                <a:solidFill>
                  <a:srgbClr val="4B5563"/>
                </a:solidFill>
                <a:latin typeface="Noto Sans SC"/>
                <a:ea typeface="Noto Sans SC"/>
                <a:cs typeface="Noto Sans SC"/>
                <a:sym typeface="Noto Sans SC"/>
              </a:rPr>
              <a:t>舒张压 (mmHg)</a:t>
            </a:r>
            <a:endParaRPr lang="en-US" sz="1200" b="0" i="0" u="none" strike="noStrike">
              <a:solidFill>
                <a:srgbClr val="4B5563"/>
              </a:solidFill>
              <a:latin typeface="Noto Sans SC"/>
              <a:ea typeface="Noto Sans SC"/>
              <a:cs typeface="Noto Sans SC"/>
              <a:sym typeface="Noto Sans SC"/>
            </a:endParaRPr>
          </a:p>
          <a:p>
            <a:pPr indent="0" algn="l">
              <a:lnSpc>
                <a:spcPct val="125000"/>
              </a:lnSpc>
            </a:pPr>
            <a:r>
              <a:rPr lang="en-US" sz="1200" b="1" i="0" u="none" strike="noStrike">
                <a:solidFill>
                  <a:srgbClr val="22C55E"/>
                </a:solidFill>
                <a:latin typeface="Noto Sans SC"/>
                <a:ea typeface="Noto Sans SC"/>
                <a:cs typeface="Noto Sans SC"/>
                <a:sym typeface="Noto Sans SC"/>
              </a:rPr>
              <a:t>📏 SkinThickness：</a:t>
            </a:r>
            <a:r>
              <a:rPr lang="en-US" sz="1200" b="0" i="0" u="none" strike="noStrike">
                <a:solidFill>
                  <a:srgbClr val="4B5563"/>
                </a:solidFill>
                <a:latin typeface="Noto Sans SC"/>
                <a:ea typeface="Noto Sans SC"/>
                <a:cs typeface="Noto Sans SC"/>
                <a:sym typeface="Noto Sans SC"/>
              </a:rPr>
              <a:t>三头肌皮褶厚度 (mm)</a:t>
            </a:r>
            <a:endParaRPr lang="en-US" sz="1200" b="0" i="0" u="none" strike="noStrike">
              <a:solidFill>
                <a:srgbClr val="4B5563"/>
              </a:solidFill>
              <a:latin typeface="Noto Sans SC"/>
              <a:ea typeface="Noto Sans SC"/>
              <a:cs typeface="Noto Sans SC"/>
              <a:sym typeface="Noto Sans SC"/>
            </a:endParaRPr>
          </a:p>
        </p:txBody>
      </p:sp>
      <p:sp>
        <p:nvSpPr>
          <p:cNvPr id="15" name="AutoShape 15"/>
          <p:cNvSpPr/>
          <p:nvPr/>
        </p:nvSpPr>
        <p:spPr>
          <a:xfrm>
            <a:off x="8001000" y="4826000"/>
            <a:ext cx="3175000" cy="139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22C55E"/>
                </a:solidFill>
                <a:latin typeface="Noto Sans SC"/>
                <a:ea typeface="Noto Sans SC"/>
                <a:cs typeface="Noto Sans SC"/>
                <a:sym typeface="Noto Sans SC"/>
              </a:rPr>
              <a:t>🧪 Insulin：</a:t>
            </a:r>
            <a:r>
              <a:rPr lang="en-US" sz="1200" b="0" i="0" u="none" strike="noStrike">
                <a:solidFill>
                  <a:srgbClr val="4B5563"/>
                </a:solidFill>
                <a:latin typeface="Noto Sans SC"/>
                <a:ea typeface="Noto Sans SC"/>
                <a:cs typeface="Noto Sans SC"/>
                <a:sym typeface="Noto Sans SC"/>
              </a:rPr>
              <a:t>2小时血清胰岛素 (mu U/ml)</a:t>
            </a:r>
            <a:endParaRPr lang="en-US" sz="1100"/>
          </a:p>
          <a:p>
            <a:pPr indent="0" algn="l">
              <a:lnSpc>
                <a:spcPct val="125000"/>
              </a:lnSpc>
            </a:pPr>
            <a:r>
              <a:rPr lang="en-US" sz="1200" b="1" i="0" u="none" strike="noStrike">
                <a:solidFill>
                  <a:srgbClr val="22C55E"/>
                </a:solidFill>
                <a:latin typeface="Noto Sans SC"/>
                <a:ea typeface="Noto Sans SC"/>
                <a:cs typeface="Noto Sans SC"/>
                <a:sym typeface="Noto Sans SC"/>
              </a:rPr>
              <a:t>⚖️ BMI：</a:t>
            </a:r>
            <a:r>
              <a:rPr lang="en-US" sz="1200" b="0" i="0" u="none" strike="noStrike">
                <a:solidFill>
                  <a:srgbClr val="4B5563"/>
                </a:solidFill>
                <a:latin typeface="Noto Sans SC"/>
                <a:ea typeface="Noto Sans SC"/>
                <a:cs typeface="Noto Sans SC"/>
                <a:sym typeface="Noto Sans SC"/>
              </a:rPr>
              <a:t>身体质量指数 (体重/身高²)</a:t>
            </a:r>
            <a:endParaRPr lang="en-US" sz="1200" b="0" i="0" u="none" strike="noStrike">
              <a:solidFill>
                <a:srgbClr val="4B5563"/>
              </a:solidFill>
              <a:latin typeface="Noto Sans SC"/>
              <a:ea typeface="Noto Sans SC"/>
              <a:cs typeface="Noto Sans SC"/>
              <a:sym typeface="Noto Sans SC"/>
            </a:endParaRPr>
          </a:p>
          <a:p>
            <a:pPr indent="0" algn="l">
              <a:lnSpc>
                <a:spcPct val="125000"/>
              </a:lnSpc>
            </a:pPr>
            <a:r>
              <a:rPr lang="en-US" sz="1200" b="1" i="0" u="none" strike="noStrike">
                <a:solidFill>
                  <a:srgbClr val="22C55E"/>
                </a:solidFill>
                <a:latin typeface="Noto Sans SC"/>
                <a:ea typeface="Noto Sans SC"/>
                <a:cs typeface="Noto Sans SC"/>
                <a:sym typeface="Noto Sans SC"/>
              </a:rPr>
              <a:t>🧬 DiabetesPedigree：</a:t>
            </a:r>
            <a:r>
              <a:rPr lang="en-US" sz="1200" b="0" i="0" u="none" strike="noStrike">
                <a:solidFill>
                  <a:srgbClr val="4B5563"/>
                </a:solidFill>
                <a:latin typeface="Noto Sans SC"/>
                <a:ea typeface="Noto Sans SC"/>
                <a:cs typeface="Noto Sans SC"/>
                <a:sym typeface="Noto Sans SC"/>
              </a:rPr>
              <a:t>家族遗传函数</a:t>
            </a:r>
            <a:endParaRPr lang="en-US" sz="1200" b="0" i="0" u="none" strike="noStrike">
              <a:solidFill>
                <a:srgbClr val="4B5563"/>
              </a:solidFill>
              <a:latin typeface="Noto Sans SC"/>
              <a:ea typeface="Noto Sans SC"/>
              <a:cs typeface="Noto Sans SC"/>
              <a:sym typeface="Noto Sans SC"/>
            </a:endParaRPr>
          </a:p>
          <a:p>
            <a:pPr indent="0" algn="l">
              <a:lnSpc>
                <a:spcPct val="125000"/>
              </a:lnSpc>
            </a:pPr>
            <a:r>
              <a:rPr lang="en-US" sz="1200" b="1" i="0" u="none" strike="noStrike">
                <a:solidFill>
                  <a:srgbClr val="22C55E"/>
                </a:solidFill>
                <a:latin typeface="Noto Sans SC"/>
                <a:ea typeface="Noto Sans SC"/>
                <a:cs typeface="Noto Sans SC"/>
                <a:sym typeface="Noto Sans SC"/>
              </a:rPr>
              <a:t>🎂 Age：</a:t>
            </a:r>
            <a:r>
              <a:rPr lang="en-US" sz="1200" b="0" i="0" u="none" strike="noStrike">
                <a:solidFill>
                  <a:srgbClr val="4B5563"/>
                </a:solidFill>
                <a:latin typeface="Noto Sans SC"/>
                <a:ea typeface="Noto Sans SC"/>
                <a:cs typeface="Noto Sans SC"/>
                <a:sym typeface="Noto Sans SC"/>
              </a:rPr>
              <a:t>患者年龄 (岁)</a:t>
            </a:r>
            <a:endParaRPr lang="en-US" sz="1200" b="0" i="0" u="none" strike="noStrike">
              <a:solidFill>
                <a:srgbClr val="4B5563"/>
              </a:solidFill>
              <a:latin typeface="Noto Sans SC"/>
              <a:ea typeface="Noto Sans SC"/>
              <a:cs typeface="Noto Sans SC"/>
              <a:sym typeface="Noto Sans SC"/>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74151"/>
                </a:solidFill>
                <a:latin typeface="Noto Sans SC"/>
                <a:ea typeface="Noto Sans SC"/>
                <a:cs typeface="Noto Sans SC"/>
                <a:sym typeface="Noto Sans SC"/>
              </a:rPr>
              <a:t>02 数据理解与探索 (EDA)</a:t>
            </a:r>
            <a:endParaRPr lang="en-US" sz="1100"/>
          </a:p>
        </p:txBody>
      </p:sp>
      <p:sp>
        <p:nvSpPr>
          <p:cNvPr id="4" name="AutoShape 4"/>
          <p:cNvSpPr/>
          <p:nvPr/>
        </p:nvSpPr>
        <p:spPr>
          <a:xfrm>
            <a:off x="762000" y="1778000"/>
            <a:ext cx="5207000" cy="4318000"/>
          </a:xfrm>
          <a:prstGeom prst="roundRect">
            <a:avLst>
              <a:gd name="adj" fmla="val 3529"/>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5" name="AutoShape 5"/>
          <p:cNvSpPr/>
          <p:nvPr/>
        </p:nvSpPr>
        <p:spPr>
          <a:xfrm>
            <a:off x="762000" y="2082800"/>
            <a:ext cx="76200" cy="3556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16000" y="2032000"/>
            <a:ext cx="4445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1F2937"/>
                </a:solidFill>
                <a:latin typeface="Noto Sans SC"/>
                <a:ea typeface="Noto Sans SC"/>
                <a:cs typeface="Noto Sans SC"/>
                <a:sym typeface="Noto Sans SC"/>
              </a:rPr>
              <a:t>数据加载与初步观察</a:t>
            </a:r>
            <a:endParaRPr lang="en-US" sz="1100"/>
          </a:p>
        </p:txBody>
      </p:sp>
      <p:sp>
        <p:nvSpPr>
          <p:cNvPr id="7" name="AutoShape 7"/>
          <p:cNvSpPr/>
          <p:nvPr/>
        </p:nvSpPr>
        <p:spPr>
          <a:xfrm>
            <a:off x="1016000" y="2794000"/>
            <a:ext cx="4699000" cy="139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4B5563"/>
                </a:solidFill>
                <a:latin typeface="Noto Sans SC"/>
                <a:ea typeface="Noto Sans SC"/>
                <a:cs typeface="Noto Sans SC"/>
                <a:sym typeface="Noto Sans SC"/>
              </a:rPr>
              <a:t>通过 Pandas 库完成数据加载与初步探查后，得到基础结论：</a:t>
            </a:r>
            <a:endParaRPr lang="en-US" sz="1100"/>
          </a:p>
          <a:p>
            <a:pPr marL="127000" indent="0" algn="l">
              <a:lnSpc>
                <a:spcPct val="133000"/>
              </a:lnSpc>
            </a:pPr>
            <a:r>
              <a:rPr lang="en-US" sz="1300" b="0" i="0" u="none" strike="noStrike">
                <a:solidFill>
                  <a:srgbClr val="64748B"/>
                </a:solidFill>
                <a:latin typeface="Noto Sans SC"/>
                <a:ea typeface="Noto Sans SC"/>
                <a:cs typeface="Noto Sans SC"/>
                <a:sym typeface="Noto Sans SC"/>
              </a:rPr>
              <a:t>• 数据集规模：共包含 768 行样本，9 个特征维度。</a:t>
            </a:r>
            <a:endParaRPr lang="en-US" sz="1300" b="0" i="0" u="none" strike="noStrike">
              <a:solidFill>
                <a:srgbClr val="64748B"/>
              </a:solidFill>
              <a:latin typeface="Noto Sans SC"/>
              <a:ea typeface="Noto Sans SC"/>
              <a:cs typeface="Noto Sans SC"/>
              <a:sym typeface="Noto Sans SC"/>
            </a:endParaRPr>
          </a:p>
          <a:p>
            <a:pPr marL="127000" indent="0" algn="l">
              <a:lnSpc>
                <a:spcPct val="133000"/>
              </a:lnSpc>
            </a:pPr>
            <a:r>
              <a:rPr lang="en-US" sz="1300" b="0" i="0" u="none" strike="noStrike">
                <a:solidFill>
                  <a:srgbClr val="64748B"/>
                </a:solidFill>
                <a:latin typeface="Noto Sans SC"/>
                <a:ea typeface="Noto Sans SC"/>
                <a:cs typeface="Noto Sans SC"/>
                <a:sym typeface="Noto Sans SC"/>
              </a:rPr>
              <a:t>• 数据质量：所有特征均为数值类型，从技术上无缺失值。</a:t>
            </a:r>
            <a:endParaRPr lang="en-US" sz="1300" b="0" i="0" u="none" strike="noStrike">
              <a:solidFill>
                <a:srgbClr val="64748B"/>
              </a:solidFill>
              <a:latin typeface="Noto Sans SC"/>
              <a:ea typeface="Noto Sans SC"/>
              <a:cs typeface="Noto Sans SC"/>
              <a:sym typeface="Noto Sans SC"/>
            </a:endParaRPr>
          </a:p>
        </p:txBody>
      </p:sp>
      <p:sp>
        <p:nvSpPr>
          <p:cNvPr id="8" name="AutoShape 8"/>
          <p:cNvSpPr/>
          <p:nvPr/>
        </p:nvSpPr>
        <p:spPr>
          <a:xfrm>
            <a:off x="1016000" y="4445000"/>
            <a:ext cx="4699000" cy="1397000"/>
          </a:xfrm>
          <a:prstGeom prst="roundRect">
            <a:avLst>
              <a:gd name="adj" fmla="val 7272"/>
            </a:avLst>
          </a:prstGeom>
          <a:solidFill>
            <a:srgbClr val="F0FDF4">
              <a:alpha val="100000"/>
            </a:srgbClr>
          </a:solidFill>
          <a:ln w="12700" cap="flat" cmpd="sng">
            <a:solidFill>
              <a:srgbClr val="BBF7D0">
                <a:alpha val="100000"/>
              </a:srgbClr>
            </a:solidFill>
            <a:prstDash val="solid"/>
            <a:round/>
          </a:ln>
        </p:spPr>
        <p:txBody>
          <a:bodyPr vert="horz" wrap="square" lIns="63500" tIns="63500" rIns="63500" bIns="63500" rtlCol="0" anchor="ctr"/>
          <a:lstStyle/>
          <a:p>
            <a:pPr algn="ctr">
              <a:defRPr/>
            </a:pPr>
          </a:p>
        </p:txBody>
      </p:sp>
      <p:sp>
        <p:nvSpPr>
          <p:cNvPr id="9" name="AutoShape 9"/>
          <p:cNvSpPr/>
          <p:nvPr/>
        </p:nvSpPr>
        <p:spPr>
          <a:xfrm>
            <a:off x="1206500" y="4635500"/>
            <a:ext cx="4318000" cy="1016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400" b="1" i="0" u="none" strike="noStrike">
                <a:solidFill>
                  <a:srgbClr val="15803D"/>
                </a:solidFill>
                <a:latin typeface="Noto Sans SC"/>
                <a:ea typeface="Noto Sans SC"/>
                <a:cs typeface="Noto Sans SC"/>
                <a:sym typeface="Noto Sans SC"/>
              </a:rPr>
              <a:t>⚠️ 关键发现：医学逻辑矛盾</a:t>
            </a:r>
            <a:endParaRPr lang="en-US" sz="1100"/>
          </a:p>
          <a:p>
            <a:pPr indent="0" algn="l">
              <a:lnSpc>
                <a:spcPct val="117000"/>
              </a:lnSpc>
            </a:pPr>
            <a:r>
              <a:rPr lang="en-US" sz="1200" b="0" i="0" u="none" strike="noStrike">
                <a:solidFill>
                  <a:srgbClr val="374151"/>
                </a:solidFill>
                <a:latin typeface="Noto Sans SC"/>
                <a:ea typeface="Noto Sans SC"/>
                <a:cs typeface="Noto Sans SC"/>
                <a:sym typeface="Noto Sans SC"/>
              </a:rPr>
              <a:t>部分生理指标（如 Glucose、BMI、Insulin 等）出现最小值为 0 的情况。在医学常识中这不可能发生，我们判断这些“0”值实际代表数据缺失，是后续处理的重点。</a:t>
            </a:r>
            <a:endParaRPr lang="en-US" sz="1200" b="0" i="0" u="none" strike="noStrike">
              <a:solidFill>
                <a:srgbClr val="374151"/>
              </a:solidFill>
              <a:latin typeface="Noto Sans SC"/>
              <a:ea typeface="Noto Sans SC"/>
              <a:cs typeface="Noto Sans SC"/>
              <a:sym typeface="Noto Sans SC"/>
            </a:endParaRPr>
          </a:p>
        </p:txBody>
      </p:sp>
      <p:sp>
        <p:nvSpPr>
          <p:cNvPr id="10" name="AutoShape 10"/>
          <p:cNvSpPr/>
          <p:nvPr/>
        </p:nvSpPr>
        <p:spPr>
          <a:xfrm>
            <a:off x="6223000" y="1778000"/>
            <a:ext cx="5207000" cy="4318000"/>
          </a:xfrm>
          <a:prstGeom prst="roundRect">
            <a:avLst>
              <a:gd name="adj" fmla="val 3529"/>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11" name="AutoShape 11"/>
          <p:cNvSpPr/>
          <p:nvPr/>
        </p:nvSpPr>
        <p:spPr>
          <a:xfrm>
            <a:off x="6223000" y="2082800"/>
            <a:ext cx="76200" cy="3556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6477000" y="2032000"/>
            <a:ext cx="4445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1F2937"/>
                </a:solidFill>
                <a:latin typeface="Noto Sans SC"/>
                <a:ea typeface="Noto Sans SC"/>
                <a:cs typeface="Noto Sans SC"/>
                <a:sym typeface="Noto Sans SC"/>
              </a:rPr>
              <a:t>描述性统计分析</a:t>
            </a:r>
            <a:endParaRPr lang="en-US" sz="1100"/>
          </a:p>
        </p:txBody>
      </p:sp>
      <p:pic>
        <p:nvPicPr>
          <p:cNvPr id="13" name="Picture 13"/>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477000" y="2921000"/>
            <a:ext cx="406400" cy="406400"/>
          </a:xfrm>
          <a:prstGeom prst="rect">
            <a:avLst/>
          </a:prstGeom>
        </p:spPr>
      </p:pic>
      <p:sp>
        <p:nvSpPr>
          <p:cNvPr id="14" name="AutoShape 14"/>
          <p:cNvSpPr/>
          <p:nvPr/>
        </p:nvSpPr>
        <p:spPr>
          <a:xfrm>
            <a:off x="7112000" y="2857500"/>
            <a:ext cx="4064000" cy="1143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600" b="1" i="0" u="none" strike="noStrike">
                <a:solidFill>
                  <a:srgbClr val="1F2937"/>
                </a:solidFill>
                <a:latin typeface="Noto Sans SC"/>
                <a:ea typeface="Noto Sans SC"/>
                <a:cs typeface="Noto Sans SC"/>
                <a:sym typeface="Noto Sans SC"/>
              </a:rPr>
              <a:t>类别不平衡风险</a:t>
            </a:r>
            <a:endParaRPr lang="en-US" sz="1100"/>
          </a:p>
          <a:p>
            <a:pPr indent="0" algn="l">
              <a:lnSpc>
                <a:spcPct val="117000"/>
              </a:lnSpc>
            </a:pPr>
            <a:r>
              <a:rPr lang="en-US" sz="1300" b="0" i="0" u="none" strike="noStrike">
                <a:solidFill>
                  <a:srgbClr val="4B5563"/>
                </a:solidFill>
                <a:latin typeface="Noto Sans SC"/>
                <a:ea typeface="Noto Sans SC"/>
                <a:cs typeface="Noto Sans SC"/>
                <a:sym typeface="Noto Sans SC"/>
              </a:rPr>
              <a:t>目标变量 `Outcome` 的均值为 0.349，说明在数据集中，仅有约</a:t>
            </a:r>
            <a:r>
              <a:rPr lang="en-US" sz="1300" b="1" i="0" u="none" strike="noStrike">
                <a:solidFill>
                  <a:srgbClr val="EF4444"/>
                </a:solidFill>
                <a:latin typeface="Noto Sans SC"/>
                <a:ea typeface="Noto Sans SC"/>
                <a:cs typeface="Noto Sans SC"/>
                <a:sym typeface="Noto Sans SC"/>
              </a:rPr>
              <a:t>34.9%</a:t>
            </a:r>
            <a:r>
              <a:rPr lang="en-US" sz="1300" b="0" i="0" u="none" strike="noStrike">
                <a:solidFill>
                  <a:srgbClr val="4B5563"/>
                </a:solidFill>
                <a:latin typeface="Noto Sans SC"/>
                <a:ea typeface="Noto Sans SC"/>
                <a:cs typeface="Noto Sans SC"/>
                <a:sym typeface="Noto Sans SC"/>
              </a:rPr>
              <a:t>的样本被确诊为糖尿病。这表明数据存在一定程度的类别不平衡，可能影响模型性能。</a:t>
            </a:r>
            <a:endParaRPr lang="en-US" sz="1300" b="0" i="0" u="none" strike="noStrike">
              <a:solidFill>
                <a:srgbClr val="4B5563"/>
              </a:solidFill>
              <a:latin typeface="Noto Sans SC"/>
              <a:ea typeface="Noto Sans SC"/>
              <a:cs typeface="Noto Sans SC"/>
              <a:sym typeface="Noto Sans SC"/>
            </a:endParaRPr>
          </a:p>
        </p:txBody>
      </p:sp>
      <p:pic>
        <p:nvPicPr>
          <p:cNvPr id="15" name="Picture 1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77000" y="4445000"/>
            <a:ext cx="406400" cy="406400"/>
          </a:xfrm>
          <a:prstGeom prst="rect">
            <a:avLst/>
          </a:prstGeom>
        </p:spPr>
      </p:pic>
      <p:sp>
        <p:nvSpPr>
          <p:cNvPr id="16" name="AutoShape 16"/>
          <p:cNvSpPr/>
          <p:nvPr/>
        </p:nvSpPr>
        <p:spPr>
          <a:xfrm>
            <a:off x="7112000" y="4381500"/>
            <a:ext cx="4064000" cy="1270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600" b="1" i="0" u="none" strike="noStrike">
                <a:solidFill>
                  <a:srgbClr val="1F2937"/>
                </a:solidFill>
                <a:latin typeface="Noto Sans SC"/>
                <a:ea typeface="Noto Sans SC"/>
                <a:cs typeface="Noto Sans SC"/>
                <a:sym typeface="Noto Sans SC"/>
              </a:rPr>
              <a:t>异常值分布特征</a:t>
            </a:r>
            <a:endParaRPr lang="en-US" sz="1100"/>
          </a:p>
          <a:p>
            <a:pPr indent="0" algn="l">
              <a:lnSpc>
                <a:spcPct val="117000"/>
              </a:lnSpc>
            </a:pPr>
            <a:r>
              <a:rPr lang="en-US" sz="1300" b="0" i="0" u="none" strike="noStrike">
                <a:solidFill>
                  <a:srgbClr val="4B5563"/>
                </a:solidFill>
                <a:latin typeface="Noto Sans SC"/>
                <a:ea typeface="Noto Sans SC"/>
                <a:cs typeface="Noto Sans SC"/>
                <a:sym typeface="Noto Sans SC"/>
              </a:rPr>
              <a:t>进一步验证了异常零值问题：`SkinThickness` 指标最小值 0，最大值高达 99，标准差很大，数据分布极不均匀，表明大量缺失值影响了数据的整体分布。</a:t>
            </a:r>
            <a:endParaRPr lang="en-US" sz="1300" b="0" i="0" u="none" strike="noStrike">
              <a:solidFill>
                <a:srgbClr val="4B5563"/>
              </a:solidFill>
              <a:latin typeface="Noto Sans SC"/>
              <a:ea typeface="Noto Sans SC"/>
              <a:cs typeface="Noto Sans SC"/>
              <a:sym typeface="Noto Sans SC"/>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74151"/>
                </a:solidFill>
                <a:latin typeface="Noto Sans SC"/>
                <a:ea typeface="Noto Sans SC"/>
                <a:cs typeface="Noto Sans SC"/>
                <a:sym typeface="Noto Sans SC"/>
              </a:rPr>
              <a:t>02 数据理解与探索 (EDA)</a:t>
            </a:r>
            <a:endParaRPr lang="en-US" sz="1100"/>
          </a:p>
        </p:txBody>
      </p:sp>
      <p:sp>
        <p:nvSpPr>
          <p:cNvPr id="4" name="AutoShape 4"/>
          <p:cNvSpPr/>
          <p:nvPr/>
        </p:nvSpPr>
        <p:spPr>
          <a:xfrm>
            <a:off x="762000" y="1778000"/>
            <a:ext cx="5207000" cy="4318000"/>
          </a:xfrm>
          <a:prstGeom prst="roundRect">
            <a:avLst>
              <a:gd name="adj" fmla="val 3529"/>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5" name="AutoShape 5"/>
          <p:cNvSpPr/>
          <p:nvPr/>
        </p:nvSpPr>
        <p:spPr>
          <a:xfrm>
            <a:off x="1066800" y="2082800"/>
            <a:ext cx="45974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22C55E"/>
                </a:solidFill>
                <a:latin typeface="Noto Sans SC"/>
                <a:ea typeface="Noto Sans SC"/>
                <a:cs typeface="Noto Sans SC"/>
                <a:sym typeface="Noto Sans SC"/>
              </a:rPr>
              <a:t>目标变量分布分析</a:t>
            </a:r>
            <a:endParaRPr lang="en-US" sz="1100"/>
          </a:p>
        </p:txBody>
      </p:sp>
      <p:sp>
        <p:nvSpPr>
          <p:cNvPr id="6" name="AutoShape 6"/>
          <p:cNvSpPr/>
          <p:nvPr/>
        </p:nvSpPr>
        <p:spPr>
          <a:xfrm>
            <a:off x="1066800" y="2794000"/>
            <a:ext cx="4597400" cy="762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400" b="0" i="0" u="none" strike="noStrike">
                <a:solidFill>
                  <a:srgbClr val="4B5563"/>
                </a:solidFill>
                <a:latin typeface="Noto Sans SC"/>
                <a:ea typeface="Noto Sans SC"/>
                <a:cs typeface="Noto Sans SC"/>
                <a:sym typeface="Noto Sans SC"/>
              </a:rPr>
              <a:t>通过对二分类目标变量</a:t>
            </a:r>
            <a:r>
              <a:rPr lang="en-US" sz="1400" b="1" i="0" u="none" strike="noStrike">
                <a:solidFill>
                  <a:srgbClr val="4B5563"/>
                </a:solidFill>
                <a:latin typeface="Noto Sans SC"/>
                <a:ea typeface="Noto Sans SC"/>
                <a:cs typeface="Noto Sans SC"/>
                <a:sym typeface="Noto Sans SC"/>
              </a:rPr>
              <a:t>Outcome</a:t>
            </a:r>
            <a:r>
              <a:rPr lang="en-US" sz="1400" b="0" i="0" u="none" strike="noStrike">
                <a:solidFill>
                  <a:srgbClr val="4B5563"/>
                </a:solidFill>
                <a:latin typeface="Noto Sans SC"/>
                <a:ea typeface="Noto Sans SC"/>
                <a:cs typeface="Noto Sans SC"/>
                <a:sym typeface="Noto Sans SC"/>
              </a:rPr>
              <a:t>的样本统计，我们直观地发现了数据集中存在明显的</a:t>
            </a:r>
            <a:r>
              <a:rPr lang="en-US" sz="1400" b="0" i="0" u="none" strike="noStrike">
                <a:solidFill>
                  <a:srgbClr val="DC2626"/>
                </a:solidFill>
                <a:latin typeface="Noto Sans SC"/>
                <a:ea typeface="Noto Sans SC"/>
                <a:cs typeface="Noto Sans SC"/>
                <a:sym typeface="Noto Sans SC"/>
              </a:rPr>
              <a:t>类别不平衡</a:t>
            </a:r>
            <a:r>
              <a:rPr lang="en-US" sz="1400" b="0" i="0" u="none" strike="noStrike">
                <a:solidFill>
                  <a:srgbClr val="4B5563"/>
                </a:solidFill>
                <a:latin typeface="Noto Sans SC"/>
                <a:ea typeface="Noto Sans SC"/>
                <a:cs typeface="Noto Sans SC"/>
                <a:sym typeface="Noto Sans SC"/>
              </a:rPr>
              <a:t>现象：</a:t>
            </a:r>
            <a:endParaRPr lang="en-US" sz="1100"/>
          </a:p>
        </p:txBody>
      </p:sp>
      <p:sp>
        <p:nvSpPr>
          <p:cNvPr id="7" name="AutoShape 7"/>
          <p:cNvSpPr/>
          <p:nvPr/>
        </p:nvSpPr>
        <p:spPr>
          <a:xfrm>
            <a:off x="1066800" y="3810000"/>
            <a:ext cx="2159000" cy="1143000"/>
          </a:xfrm>
          <a:prstGeom prst="roundRect">
            <a:avLst>
              <a:gd name="adj" fmla="val 8888"/>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1193800" y="3937000"/>
            <a:ext cx="1905000" cy="889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374151"/>
                </a:solidFill>
                <a:latin typeface="Noto Sans SC"/>
                <a:ea typeface="Noto Sans SC"/>
                <a:cs typeface="Noto Sans SC"/>
                <a:sym typeface="Noto Sans SC"/>
              </a:rPr>
              <a:t>非糖尿病 (标签 0)</a:t>
            </a:r>
            <a:endParaRPr lang="en-US" sz="1100"/>
          </a:p>
          <a:p>
            <a:pPr indent="0" algn="ctr">
              <a:lnSpc>
                <a:spcPct val="125000"/>
              </a:lnSpc>
              <a:spcBef>
                <a:spcPts val="600"/>
              </a:spcBef>
            </a:pPr>
            <a:r>
              <a:rPr lang="en-US" sz="2400" b="1" i="0" u="none" strike="noStrike">
                <a:solidFill>
                  <a:srgbClr val="22C55E"/>
                </a:solidFill>
                <a:latin typeface="Noto Sans SC"/>
                <a:ea typeface="Noto Sans SC"/>
                <a:cs typeface="Noto Sans SC"/>
                <a:sym typeface="Noto Sans SC"/>
              </a:rPr>
              <a:t>500</a:t>
            </a:r>
            <a:r>
              <a:rPr lang="en-US" sz="1300" b="0" i="0" u="none" strike="noStrike">
                <a:solidFill>
                  <a:srgbClr val="6B7280"/>
                </a:solidFill>
                <a:latin typeface="Noto Sans SC"/>
                <a:ea typeface="Noto Sans SC"/>
                <a:cs typeface="Noto Sans SC"/>
                <a:sym typeface="Noto Sans SC"/>
              </a:rPr>
              <a:t>例 (65.1%)</a:t>
            </a:r>
            <a:endParaRPr lang="en-US" sz="1300" b="0" i="0" u="none" strike="noStrike">
              <a:solidFill>
                <a:srgbClr val="6B7280"/>
              </a:solidFill>
              <a:latin typeface="Noto Sans SC"/>
              <a:ea typeface="Noto Sans SC"/>
              <a:cs typeface="Noto Sans SC"/>
              <a:sym typeface="Noto Sans SC"/>
            </a:endParaRPr>
          </a:p>
        </p:txBody>
      </p:sp>
      <p:sp>
        <p:nvSpPr>
          <p:cNvPr id="9" name="AutoShape 9"/>
          <p:cNvSpPr/>
          <p:nvPr/>
        </p:nvSpPr>
        <p:spPr>
          <a:xfrm>
            <a:off x="3505200" y="3810000"/>
            <a:ext cx="2159000" cy="1143000"/>
          </a:xfrm>
          <a:prstGeom prst="roundRect">
            <a:avLst>
              <a:gd name="adj" fmla="val 8888"/>
            </a:avLst>
          </a:prstGeom>
          <a:solidFill>
            <a:srgbClr val="FEF2F2">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3632200" y="3937000"/>
            <a:ext cx="1905000" cy="889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374151"/>
                </a:solidFill>
                <a:latin typeface="Noto Sans SC"/>
                <a:ea typeface="Noto Sans SC"/>
                <a:cs typeface="Noto Sans SC"/>
                <a:sym typeface="Noto Sans SC"/>
              </a:rPr>
              <a:t>糖尿病 (标签 1)</a:t>
            </a:r>
            <a:endParaRPr lang="en-US" sz="1100"/>
          </a:p>
          <a:p>
            <a:pPr indent="0" algn="ctr">
              <a:lnSpc>
                <a:spcPct val="125000"/>
              </a:lnSpc>
              <a:spcBef>
                <a:spcPts val="600"/>
              </a:spcBef>
            </a:pPr>
            <a:r>
              <a:rPr lang="en-US" sz="2400" b="1" i="0" u="none" strike="noStrike">
                <a:solidFill>
                  <a:srgbClr val="EF4444"/>
                </a:solidFill>
                <a:latin typeface="Noto Sans SC"/>
                <a:ea typeface="Noto Sans SC"/>
                <a:cs typeface="Noto Sans SC"/>
                <a:sym typeface="Noto Sans SC"/>
              </a:rPr>
              <a:t>268</a:t>
            </a:r>
            <a:r>
              <a:rPr lang="en-US" sz="1300" b="0" i="0" u="none" strike="noStrike">
                <a:solidFill>
                  <a:srgbClr val="6B7280"/>
                </a:solidFill>
                <a:latin typeface="Noto Sans SC"/>
                <a:ea typeface="Noto Sans SC"/>
                <a:cs typeface="Noto Sans SC"/>
                <a:sym typeface="Noto Sans SC"/>
              </a:rPr>
              <a:t>例 (34.9%)</a:t>
            </a:r>
            <a:endParaRPr lang="en-US" sz="1300" b="0" i="0" u="none" strike="noStrike">
              <a:solidFill>
                <a:srgbClr val="6B7280"/>
              </a:solidFill>
              <a:latin typeface="Noto Sans SC"/>
              <a:ea typeface="Noto Sans SC"/>
              <a:cs typeface="Noto Sans SC"/>
              <a:sym typeface="Noto Sans SC"/>
            </a:endParaRPr>
          </a:p>
        </p:txBody>
      </p:sp>
      <p:sp>
        <p:nvSpPr>
          <p:cNvPr id="11" name="AutoShape 11"/>
          <p:cNvSpPr/>
          <p:nvPr/>
        </p:nvSpPr>
        <p:spPr>
          <a:xfrm>
            <a:off x="1066800" y="5207000"/>
            <a:ext cx="45974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64748B"/>
                </a:solidFill>
                <a:latin typeface="Noto Sans SC"/>
                <a:ea typeface="Noto Sans SC"/>
                <a:cs typeface="Noto Sans SC"/>
                <a:sym typeface="Noto Sans SC"/>
              </a:rPr>
              <a:t>💡</a:t>
            </a:r>
            <a:r>
              <a:rPr lang="en-US" sz="1200" b="1" i="0" u="none" strike="noStrike">
                <a:solidFill>
                  <a:srgbClr val="64748B"/>
                </a:solidFill>
                <a:latin typeface="Noto Sans SC"/>
                <a:ea typeface="Noto Sans SC"/>
                <a:cs typeface="Noto Sans SC"/>
                <a:sym typeface="Noto Sans SC"/>
              </a:rPr>
              <a:t>处理建议：</a:t>
            </a:r>
            <a:r>
              <a:rPr lang="en-US" sz="1200" b="0" i="0" u="none" strike="noStrike">
                <a:solidFill>
                  <a:srgbClr val="64748B"/>
                </a:solidFill>
                <a:latin typeface="Noto Sans SC"/>
                <a:ea typeface="Noto Sans SC"/>
                <a:cs typeface="Noto Sans SC"/>
                <a:sym typeface="Noto Sans SC"/>
              </a:rPr>
              <a:t>建模时需采用分层抽样、调整类别权重，或选用 F1-score、AUC 等对不平衡数据不敏感的评估指标，以避免模型产生偏向性。</a:t>
            </a:r>
            <a:endParaRPr lang="en-US" sz="1100"/>
          </a:p>
        </p:txBody>
      </p:sp>
      <p:sp>
        <p:nvSpPr>
          <p:cNvPr id="12" name="AutoShape 12"/>
          <p:cNvSpPr/>
          <p:nvPr/>
        </p:nvSpPr>
        <p:spPr>
          <a:xfrm>
            <a:off x="6223000" y="1778000"/>
            <a:ext cx="5207000" cy="4318000"/>
          </a:xfrm>
          <a:prstGeom prst="roundRect">
            <a:avLst>
              <a:gd name="adj" fmla="val 3529"/>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2"/>
          <a:stretch>
            <a:fillRect/>
          </a:stretch>
        </p:blipFill>
        <p:spPr>
          <a:xfrm>
            <a:off x="6477000" y="2032000"/>
            <a:ext cx="4699000" cy="3810000"/>
          </a:xfrm>
          <a:prstGeom prst="rect">
            <a:avLst/>
          </a:prstGeom>
          <a:ln w="12700">
            <a:noFill/>
            <a:prstDash val="solid"/>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74151"/>
                </a:solidFill>
                <a:latin typeface="Noto Sans SC"/>
                <a:ea typeface="Noto Sans SC"/>
                <a:cs typeface="Noto Sans SC"/>
                <a:sym typeface="Noto Sans SC"/>
              </a:rPr>
              <a:t>02 数据理解与探索 (EDA)</a:t>
            </a:r>
            <a:endParaRPr lang="en-US" sz="1100"/>
          </a:p>
        </p:txBody>
      </p:sp>
      <p:sp>
        <p:nvSpPr>
          <p:cNvPr id="4" name="AutoShape 4"/>
          <p:cNvSpPr/>
          <p:nvPr/>
        </p:nvSpPr>
        <p:spPr>
          <a:xfrm>
            <a:off x="762000" y="1778000"/>
            <a:ext cx="5207000" cy="2413000"/>
          </a:xfrm>
          <a:prstGeom prst="roundRect">
            <a:avLst>
              <a:gd name="adj" fmla="val 6315"/>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2032000"/>
            <a:ext cx="406400" cy="406400"/>
          </a:xfrm>
          <a:prstGeom prst="rect">
            <a:avLst/>
          </a:prstGeom>
        </p:spPr>
      </p:pic>
      <p:sp>
        <p:nvSpPr>
          <p:cNvPr id="6" name="AutoShape 6"/>
          <p:cNvSpPr/>
          <p:nvPr/>
        </p:nvSpPr>
        <p:spPr>
          <a:xfrm>
            <a:off x="1651000" y="20320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22C55E"/>
                </a:solidFill>
                <a:latin typeface="Noto Sans SC"/>
                <a:ea typeface="Noto Sans SC"/>
                <a:cs typeface="Noto Sans SC"/>
                <a:sym typeface="Noto Sans SC"/>
              </a:rPr>
              <a:t>与目标变量最相关的特征</a:t>
            </a:r>
            <a:endParaRPr lang="en-US" sz="1100"/>
          </a:p>
        </p:txBody>
      </p:sp>
      <p:sp>
        <p:nvSpPr>
          <p:cNvPr id="7" name="AutoShape 7"/>
          <p:cNvSpPr/>
          <p:nvPr/>
        </p:nvSpPr>
        <p:spPr>
          <a:xfrm>
            <a:off x="1016000" y="2667000"/>
            <a:ext cx="4699000" cy="1397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300" b="0" i="0" u="none" strike="noStrike">
                <a:solidFill>
                  <a:srgbClr val="4B5563"/>
                </a:solidFill>
                <a:latin typeface="Noto Sans SC"/>
                <a:ea typeface="Noto Sans SC"/>
                <a:cs typeface="Noto Sans SC"/>
                <a:sym typeface="Noto Sans SC"/>
              </a:rPr>
              <a:t>•</a:t>
            </a:r>
            <a:r>
              <a:rPr lang="en-US" sz="1300" b="1" i="0" u="none" strike="noStrike">
                <a:solidFill>
                  <a:srgbClr val="4B5563"/>
                </a:solidFill>
                <a:latin typeface="Noto Sans SC"/>
                <a:ea typeface="Noto Sans SC"/>
                <a:cs typeface="Noto Sans SC"/>
                <a:sym typeface="Noto Sans SC"/>
              </a:rPr>
              <a:t>Glucose (血糖浓度)</a:t>
            </a:r>
            <a:r>
              <a:rPr lang="en-US" sz="1300" b="0" i="0" u="none" strike="noStrike">
                <a:solidFill>
                  <a:srgbClr val="4B5563"/>
                </a:solidFill>
                <a:latin typeface="Noto Sans SC"/>
                <a:ea typeface="Noto Sans SC"/>
                <a:cs typeface="Noto Sans SC"/>
                <a:sym typeface="Noto Sans SC"/>
              </a:rPr>
              <a:t>：与`Outcome`相关性最高 (r ≈ 0.47)，是核心预测因子。</a:t>
            </a:r>
            <a:endParaRPr lang="en-US" sz="1100"/>
          </a:p>
          <a:p>
            <a:pPr indent="0" algn="l">
              <a:lnSpc>
                <a:spcPct val="117000"/>
              </a:lnSpc>
            </a:pPr>
            <a:r>
              <a:rPr lang="en-US" sz="1300" b="0" i="0" u="none" strike="noStrike">
                <a:solidFill>
                  <a:srgbClr val="4B5563"/>
                </a:solidFill>
                <a:latin typeface="Noto Sans SC"/>
                <a:ea typeface="Noto Sans SC"/>
                <a:cs typeface="Noto Sans SC"/>
                <a:sym typeface="Noto Sans SC"/>
              </a:rPr>
              <a:t>•</a:t>
            </a:r>
            <a:r>
              <a:rPr lang="en-US" sz="1300" b="1" i="0" u="none" strike="noStrike">
                <a:solidFill>
                  <a:srgbClr val="4B5563"/>
                </a:solidFill>
                <a:latin typeface="Noto Sans SC"/>
                <a:ea typeface="Noto Sans SC"/>
                <a:cs typeface="Noto Sans SC"/>
                <a:sym typeface="Noto Sans SC"/>
              </a:rPr>
              <a:t>关键特征排序：</a:t>
            </a:r>
            <a:r>
              <a:rPr lang="en-US" sz="1300" b="0" i="0" u="none" strike="noStrike">
                <a:solidFill>
                  <a:srgbClr val="4B5563"/>
                </a:solidFill>
                <a:latin typeface="Noto Sans SC"/>
                <a:ea typeface="Noto Sans SC"/>
                <a:cs typeface="Noto Sans SC"/>
                <a:sym typeface="Noto Sans SC"/>
              </a:rPr>
              <a:t>血糖浓度 &gt; BMI (r≈0.29) &gt; 年龄 (r≈0.24)，符合医学常识。</a:t>
            </a:r>
            <a:endParaRPr lang="en-US" sz="1300" b="0" i="0" u="none" strike="noStrike">
              <a:solidFill>
                <a:srgbClr val="4B5563"/>
              </a:solidFill>
              <a:latin typeface="Noto Sans SC"/>
              <a:ea typeface="Noto Sans SC"/>
              <a:cs typeface="Noto Sans SC"/>
              <a:sym typeface="Noto Sans SC"/>
            </a:endParaRPr>
          </a:p>
        </p:txBody>
      </p:sp>
      <p:sp>
        <p:nvSpPr>
          <p:cNvPr id="8" name="AutoShape 8"/>
          <p:cNvSpPr/>
          <p:nvPr/>
        </p:nvSpPr>
        <p:spPr>
          <a:xfrm>
            <a:off x="6223000" y="1778000"/>
            <a:ext cx="5207000" cy="2413000"/>
          </a:xfrm>
          <a:prstGeom prst="roundRect">
            <a:avLst>
              <a:gd name="adj" fmla="val 6315"/>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77000" y="2032000"/>
            <a:ext cx="406400" cy="406400"/>
          </a:xfrm>
          <a:prstGeom prst="rect">
            <a:avLst/>
          </a:prstGeom>
        </p:spPr>
      </p:pic>
      <p:sp>
        <p:nvSpPr>
          <p:cNvPr id="10" name="AutoShape 10"/>
          <p:cNvSpPr/>
          <p:nvPr/>
        </p:nvSpPr>
        <p:spPr>
          <a:xfrm>
            <a:off x="7112000" y="20320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22C55E"/>
                </a:solidFill>
                <a:latin typeface="Noto Sans SC"/>
                <a:ea typeface="Noto Sans SC"/>
                <a:cs typeface="Noto Sans SC"/>
                <a:sym typeface="Noto Sans SC"/>
              </a:rPr>
              <a:t>特征间的相关性与共线性</a:t>
            </a:r>
            <a:endParaRPr lang="en-US" sz="1100"/>
          </a:p>
        </p:txBody>
      </p:sp>
      <p:sp>
        <p:nvSpPr>
          <p:cNvPr id="11" name="AutoShape 11"/>
          <p:cNvSpPr/>
          <p:nvPr/>
        </p:nvSpPr>
        <p:spPr>
          <a:xfrm>
            <a:off x="6477000" y="2667000"/>
            <a:ext cx="4699000" cy="1397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300" b="0" i="0" u="none" strike="noStrike">
                <a:solidFill>
                  <a:srgbClr val="4B5563"/>
                </a:solidFill>
                <a:latin typeface="Noto Sans SC"/>
                <a:ea typeface="Noto Sans SC"/>
                <a:cs typeface="Noto Sans SC"/>
                <a:sym typeface="Noto Sans SC"/>
              </a:rPr>
              <a:t>•</a:t>
            </a:r>
            <a:r>
              <a:rPr lang="en-US" sz="1300" b="1" i="0" u="none" strike="noStrike">
                <a:solidFill>
                  <a:srgbClr val="4B5563"/>
                </a:solidFill>
                <a:latin typeface="Noto Sans SC"/>
                <a:ea typeface="Noto Sans SC"/>
                <a:cs typeface="Noto Sans SC"/>
                <a:sym typeface="Noto Sans SC"/>
              </a:rPr>
              <a:t>强关联对：</a:t>
            </a:r>
            <a:r>
              <a:rPr lang="en-US" sz="1300" b="0" i="0" u="none" strike="noStrike">
                <a:solidFill>
                  <a:srgbClr val="4B5563"/>
                </a:solidFill>
                <a:latin typeface="Noto Sans SC"/>
                <a:ea typeface="Noto Sans SC"/>
                <a:cs typeface="Noto Sans SC"/>
                <a:sym typeface="Noto Sans SC"/>
              </a:rPr>
              <a:t>`Pregnancies` (怀孕次数) 与 `Age` (年龄) 呈强正相关 (r ≈ 0.54)，符合生理规律。</a:t>
            </a:r>
            <a:endParaRPr lang="en-US" sz="1100"/>
          </a:p>
          <a:p>
            <a:pPr indent="0" algn="l">
              <a:lnSpc>
                <a:spcPct val="117000"/>
              </a:lnSpc>
            </a:pPr>
            <a:r>
              <a:rPr lang="en-US" sz="1300" b="0" i="0" u="none" strike="noStrike">
                <a:solidFill>
                  <a:srgbClr val="4B5563"/>
                </a:solidFill>
                <a:latin typeface="Noto Sans SC"/>
                <a:ea typeface="Noto Sans SC"/>
                <a:cs typeface="Noto Sans SC"/>
                <a:sym typeface="Noto Sans SC"/>
              </a:rPr>
              <a:t>•</a:t>
            </a:r>
            <a:r>
              <a:rPr lang="en-US" sz="1300" b="1" i="0" u="none" strike="noStrike">
                <a:solidFill>
                  <a:srgbClr val="4B5563"/>
                </a:solidFill>
                <a:latin typeface="Noto Sans SC"/>
                <a:ea typeface="Noto Sans SC"/>
                <a:cs typeface="Noto Sans SC"/>
                <a:sym typeface="Noto Sans SC"/>
              </a:rPr>
              <a:t>数据质量：</a:t>
            </a:r>
            <a:r>
              <a:rPr lang="en-US" sz="1300" b="0" i="0" u="none" strike="noStrike">
                <a:solidFill>
                  <a:srgbClr val="4B5563"/>
                </a:solidFill>
                <a:latin typeface="Noto Sans SC"/>
                <a:ea typeface="Noto Sans SC"/>
                <a:cs typeface="Noto Sans SC"/>
                <a:sym typeface="Noto Sans SC"/>
              </a:rPr>
              <a:t>其他特征两两间相关系数普遍较低，表明数据不存在严重的多重共线性问题。</a:t>
            </a:r>
            <a:endParaRPr lang="en-US" sz="1300" b="0" i="0" u="none" strike="noStrike">
              <a:solidFill>
                <a:srgbClr val="4B5563"/>
              </a:solidFill>
              <a:latin typeface="Noto Sans SC"/>
              <a:ea typeface="Noto Sans SC"/>
              <a:cs typeface="Noto Sans SC"/>
              <a:sym typeface="Noto Sans SC"/>
            </a:endParaRPr>
          </a:p>
        </p:txBody>
      </p:sp>
      <p:sp>
        <p:nvSpPr>
          <p:cNvPr id="12" name="AutoShape 12"/>
          <p:cNvSpPr/>
          <p:nvPr/>
        </p:nvSpPr>
        <p:spPr>
          <a:xfrm>
            <a:off x="762000" y="4572000"/>
            <a:ext cx="10668000" cy="1778000"/>
          </a:xfrm>
          <a:prstGeom prst="roundRect">
            <a:avLst>
              <a:gd name="adj" fmla="val 8571"/>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143000" y="5016500"/>
            <a:ext cx="889000" cy="889000"/>
          </a:xfrm>
          <a:prstGeom prst="rect">
            <a:avLst/>
          </a:prstGeom>
        </p:spPr>
      </p:pic>
      <p:sp>
        <p:nvSpPr>
          <p:cNvPr id="14" name="AutoShape 14"/>
          <p:cNvSpPr/>
          <p:nvPr/>
        </p:nvSpPr>
        <p:spPr>
          <a:xfrm>
            <a:off x="2413000" y="4889500"/>
            <a:ext cx="8636000" cy="1143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800" b="1" i="0" u="none" strike="noStrike">
                <a:solidFill>
                  <a:srgbClr val="374151"/>
                </a:solidFill>
                <a:latin typeface="Noto Sans SC"/>
                <a:ea typeface="Noto Sans SC"/>
                <a:cs typeface="Noto Sans SC"/>
                <a:sym typeface="Noto Sans SC"/>
              </a:rPr>
              <a:t>特征相关性热力图 (Heatmap)</a:t>
            </a:r>
            <a:endParaRPr lang="en-US" sz="1100"/>
          </a:p>
          <a:p>
            <a:pPr indent="0" algn="l">
              <a:lnSpc>
                <a:spcPct val="108000"/>
              </a:lnSpc>
            </a:pPr>
            <a:r>
              <a:rPr lang="en-US" sz="1300" b="0" i="0" u="none" strike="noStrike">
                <a:solidFill>
                  <a:srgbClr val="6B7280"/>
                </a:solidFill>
                <a:latin typeface="Noto Sans SC"/>
                <a:ea typeface="Noto Sans SC"/>
                <a:cs typeface="Noto Sans SC"/>
                <a:sym typeface="Noto Sans SC"/>
              </a:rPr>
              <a:t>热力图直观展示了数据集中所有变量两两之间的相关系数矩阵。颜色越深代表相关性越强，通过可视化分析，我们能够快速识别出与糖尿病发生最紧密的关键指标，并验证特征之间的独立性，为后续特征选择和建模提供重要依据。</a:t>
            </a:r>
            <a:endParaRPr lang="en-US" sz="1300" b="0" i="0" u="none" strike="noStrike">
              <a:solidFill>
                <a:srgbClr val="6B7280"/>
              </a:solidFill>
              <a:latin typeface="Noto Sans SC"/>
              <a:ea typeface="Noto Sans SC"/>
              <a:cs typeface="Noto Sans SC"/>
              <a:sym typeface="Noto Sans SC"/>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8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74151"/>
                </a:solidFill>
                <a:latin typeface="Noto Sans SC"/>
                <a:ea typeface="Noto Sans SC"/>
                <a:cs typeface="Noto Sans SC"/>
                <a:sym typeface="Noto Sans SC"/>
              </a:rPr>
              <a:t>03 数据预处理与特征工程</a:t>
            </a:r>
            <a:endParaRPr lang="en-US" sz="1100"/>
          </a:p>
        </p:txBody>
      </p:sp>
      <p:sp>
        <p:nvSpPr>
          <p:cNvPr id="4" name="AutoShape 4"/>
          <p:cNvSpPr/>
          <p:nvPr/>
        </p:nvSpPr>
        <p:spPr>
          <a:xfrm>
            <a:off x="762000" y="1778000"/>
            <a:ext cx="5207000" cy="4318000"/>
          </a:xfrm>
          <a:prstGeom prst="roundRect">
            <a:avLst>
              <a:gd name="adj" fmla="val 3529"/>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6800" y="2133600"/>
            <a:ext cx="355600" cy="355600"/>
          </a:xfrm>
          <a:prstGeom prst="rect">
            <a:avLst/>
          </a:prstGeom>
        </p:spPr>
      </p:pic>
      <p:sp>
        <p:nvSpPr>
          <p:cNvPr id="6" name="AutoShape 6"/>
          <p:cNvSpPr/>
          <p:nvPr/>
        </p:nvSpPr>
        <p:spPr>
          <a:xfrm>
            <a:off x="1549400" y="2082800"/>
            <a:ext cx="4191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1F2937"/>
                </a:solidFill>
                <a:latin typeface="Noto Sans SC"/>
                <a:ea typeface="Noto Sans SC"/>
                <a:cs typeface="Noto Sans SC"/>
                <a:sym typeface="Noto Sans SC"/>
              </a:rPr>
              <a:t>处理异常零值</a:t>
            </a:r>
            <a:endParaRPr lang="en-US" sz="1100"/>
          </a:p>
        </p:txBody>
      </p:sp>
      <p:sp>
        <p:nvSpPr>
          <p:cNvPr id="7" name="AutoShape 7"/>
          <p:cNvSpPr/>
          <p:nvPr/>
        </p:nvSpPr>
        <p:spPr>
          <a:xfrm>
            <a:off x="1066800" y="2921000"/>
            <a:ext cx="4597400" cy="2794000"/>
          </a:xfrm>
          <a:prstGeom prst="rect">
            <a:avLst/>
          </a:prstGeom>
          <a:noFill/>
          <a:ln w="12700" cap="flat" cmpd="sng">
            <a:noFill/>
            <a:prstDash val="solid"/>
            <a:round/>
          </a:ln>
        </p:spPr>
        <p:txBody>
          <a:bodyPr vert="horz" wrap="square" lIns="0" tIns="0" rIns="0" bIns="0" rtlCol="0" anchor="ctr" anchorCtr="0"/>
          <a:lstStyle/>
          <a:p>
            <a:pPr indent="0" algn="l">
              <a:lnSpc>
                <a:spcPct val="133000"/>
              </a:lnSpc>
              <a:defRPr/>
            </a:pPr>
            <a:r>
              <a:rPr lang="en-US" sz="1400" b="0" i="0" u="none" strike="noStrike">
                <a:solidFill>
                  <a:srgbClr val="4B5563"/>
                </a:solidFill>
                <a:latin typeface="Noto Sans SC"/>
                <a:ea typeface="Noto Sans SC"/>
                <a:cs typeface="Noto Sans SC"/>
                <a:sym typeface="Noto Sans SC"/>
              </a:rPr>
              <a:t>直接删除含有零值的样本会导致大量关键信息丢失，这是不可取的。我们需要一种更稳健、更能保留信息的策略来处理这些异常数据。</a:t>
            </a:r>
            <a:endParaRPr lang="en-US" sz="1100"/>
          </a:p>
          <a:p>
            <a:pPr indent="0" algn="l">
              <a:lnSpc>
                <a:spcPct val="133000"/>
              </a:lnSpc>
              <a:spcBef>
                <a:spcPts val="1600"/>
              </a:spcBef>
            </a:pPr>
            <a:r>
              <a:rPr lang="en-US" sz="1400" b="0" i="0" u="none" strike="noStrike">
                <a:solidFill>
                  <a:srgbClr val="4B5563"/>
                </a:solidFill>
                <a:latin typeface="Noto Sans SC"/>
                <a:ea typeface="Noto Sans SC"/>
                <a:cs typeface="Noto Sans SC"/>
                <a:sym typeface="Noto Sans SC"/>
              </a:rPr>
              <a:t>针对血糖、血压、BMI等生理指标，我们采用了分类填充策略：</a:t>
            </a:r>
            <a:r>
              <a:rPr lang="en-US" sz="1400" b="1" i="0" u="none" strike="noStrike">
                <a:solidFill>
                  <a:srgbClr val="22C55E"/>
                </a:solidFill>
                <a:latin typeface="Noto Sans SC"/>
                <a:ea typeface="Noto Sans SC"/>
                <a:cs typeface="Noto Sans SC"/>
                <a:sym typeface="Noto Sans SC"/>
              </a:rPr>
              <a:t>按“是否患病(Outcome)”分类，用每个类别下对应特征的中位数来填充零值。</a:t>
            </a:r>
            <a:r>
              <a:rPr lang="en-US" sz="1400" b="0" i="0" u="none" strike="noStrike">
                <a:solidFill>
                  <a:srgbClr val="6B7280"/>
                </a:solidFill>
                <a:latin typeface="Noto Sans SC"/>
                <a:ea typeface="Noto Sans SC"/>
                <a:cs typeface="Noto Sans SC"/>
                <a:sym typeface="Noto Sans SC"/>
              </a:rPr>
              <a:t>中位数对极值不敏感，能更好地代表数据的中心趋势，避免引入偏差。</a:t>
            </a:r>
            <a:endParaRPr lang="en-US" sz="1400" b="0" i="0" u="none" strike="noStrike">
              <a:solidFill>
                <a:srgbClr val="6B7280"/>
              </a:solidFill>
              <a:latin typeface="Noto Sans SC"/>
              <a:ea typeface="Noto Sans SC"/>
              <a:cs typeface="Noto Sans SC"/>
              <a:sym typeface="Noto Sans SC"/>
            </a:endParaRPr>
          </a:p>
        </p:txBody>
      </p:sp>
      <p:sp>
        <p:nvSpPr>
          <p:cNvPr id="8" name="AutoShape 8"/>
          <p:cNvSpPr/>
          <p:nvPr/>
        </p:nvSpPr>
        <p:spPr>
          <a:xfrm>
            <a:off x="6223000" y="1778000"/>
            <a:ext cx="5207000" cy="4318000"/>
          </a:xfrm>
          <a:prstGeom prst="roundRect">
            <a:avLst>
              <a:gd name="adj" fmla="val 3529"/>
            </a:avLst>
          </a:prstGeom>
          <a:solidFill>
            <a:srgbClr val="1F2937">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9" name="AutoShape 9"/>
          <p:cNvSpPr/>
          <p:nvPr/>
        </p:nvSpPr>
        <p:spPr>
          <a:xfrm>
            <a:off x="6477000" y="2032000"/>
            <a:ext cx="4699000" cy="3810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6B7280"/>
                </a:solidFill>
                <a:latin typeface="Source Code Pro"/>
                <a:ea typeface="Source Code Pro"/>
                <a:cs typeface="Source Code Pro"/>
                <a:sym typeface="Source Code Pro"/>
              </a:rPr>
              <a:t># 定义需要填充的特征列</a:t>
            </a:r>
            <a:endParaRPr lang="en-US" sz="1100"/>
          </a:p>
          <a:p>
            <a:pPr indent="0" algn="l">
              <a:lnSpc>
                <a:spcPct val="108000"/>
              </a:lnSpc>
            </a:pPr>
            <a:r>
              <a:rPr lang="en-US" sz="1200" b="0" i="0" u="none" strike="noStrike">
                <a:solidFill>
                  <a:srgbClr val="F87171"/>
                </a:solidFill>
                <a:latin typeface="Source Code Pro"/>
                <a:ea typeface="Source Code Pro"/>
                <a:cs typeface="Source Code Pro"/>
                <a:sym typeface="Source Code Pro"/>
              </a:rPr>
              <a:t>zero_features</a:t>
            </a:r>
            <a:r>
              <a:rPr lang="en-US" sz="1200" b="0" i="0" u="none" strike="noStrike">
                <a:solidFill>
                  <a:srgbClr val="E5E7EB"/>
                </a:solidFill>
                <a:latin typeface="Source Code Pro"/>
                <a:ea typeface="Source Code Pro"/>
                <a:cs typeface="Source Code Pro"/>
                <a:sym typeface="Source Code Pro"/>
              </a:rPr>
              <a:t>= [</a:t>
            </a:r>
            <a:r>
              <a:rPr lang="en-US" sz="1200" b="0" i="0" u="none" strike="noStrike">
                <a:solidFill>
                  <a:srgbClr val="86EFAC"/>
                </a:solidFill>
                <a:latin typeface="Source Code Pro"/>
                <a:ea typeface="Source Code Pro"/>
                <a:cs typeface="Source Code Pro"/>
                <a:sym typeface="Source Code Pro"/>
              </a:rPr>
              <a:t>'Glucose'</a:t>
            </a:r>
            <a:r>
              <a:rPr lang="en-US" sz="1200" b="0" i="0" u="none" strike="noStrike">
                <a:solidFill>
                  <a:srgbClr val="E5E7EB"/>
                </a:solidFill>
                <a:latin typeface="Source Code Pro"/>
                <a:ea typeface="Source Code Pro"/>
                <a:cs typeface="Source Code Pro"/>
                <a:sym typeface="Source Code Pro"/>
              </a:rPr>
              <a:t>,</a:t>
            </a:r>
            <a:r>
              <a:rPr lang="en-US" sz="1200" b="0" i="0" u="none" strike="noStrike">
                <a:solidFill>
                  <a:srgbClr val="86EFAC"/>
                </a:solidFill>
                <a:latin typeface="Source Code Pro"/>
                <a:ea typeface="Source Code Pro"/>
                <a:cs typeface="Source Code Pro"/>
                <a:sym typeface="Source Code Pro"/>
              </a:rPr>
              <a:t>'BloodPressure'</a:t>
            </a:r>
            <a:r>
              <a:rPr lang="en-US" sz="1200" b="0" i="0" u="none" strike="noStrike">
                <a:solidFill>
                  <a:srgbClr val="E5E7EB"/>
                </a:solidFill>
                <a:latin typeface="Source Code Pro"/>
                <a:ea typeface="Source Code Pro"/>
                <a:cs typeface="Source Code Pro"/>
                <a:sym typeface="Source Code Pro"/>
              </a:rPr>
              <a:t>,</a:t>
            </a:r>
            <a:r>
              <a:rPr lang="en-US" sz="1200" b="0" i="0" u="none" strike="noStrike">
                <a:solidFill>
                  <a:srgbClr val="86EFAC"/>
                </a:solidFill>
                <a:latin typeface="Source Code Pro"/>
                <a:ea typeface="Source Code Pro"/>
                <a:cs typeface="Source Code Pro"/>
                <a:sym typeface="Source Code Pro"/>
              </a:rPr>
              <a:t>'SkinThickness'</a:t>
            </a:r>
            <a:r>
              <a:rPr lang="en-US" sz="1200" b="0" i="0" u="none" strike="noStrike">
                <a:solidFill>
                  <a:srgbClr val="E5E7EB"/>
                </a:solidFill>
                <a:latin typeface="Source Code Pro"/>
                <a:ea typeface="Source Code Pro"/>
                <a:cs typeface="Source Code Pro"/>
                <a:sym typeface="Source Code Pro"/>
              </a:rPr>
              <a:t>,</a:t>
            </a:r>
            <a:r>
              <a:rPr lang="en-US" sz="1200" b="0" i="0" u="none" strike="noStrike">
                <a:solidFill>
                  <a:srgbClr val="86EFAC"/>
                </a:solidFill>
                <a:latin typeface="Source Code Pro"/>
                <a:ea typeface="Source Code Pro"/>
                <a:cs typeface="Source Code Pro"/>
                <a:sym typeface="Source Code Pro"/>
              </a:rPr>
              <a:t>'Insulin'</a:t>
            </a:r>
            <a:r>
              <a:rPr lang="en-US" sz="1200" b="0" i="0" u="none" strike="noStrike">
                <a:solidFill>
                  <a:srgbClr val="E5E7EB"/>
                </a:solidFill>
                <a:latin typeface="Source Code Pro"/>
                <a:ea typeface="Source Code Pro"/>
                <a:cs typeface="Source Code Pro"/>
                <a:sym typeface="Source Code Pro"/>
              </a:rPr>
              <a:t>,</a:t>
            </a:r>
            <a:r>
              <a:rPr lang="en-US" sz="1200" b="0" i="0" u="none" strike="noStrike">
                <a:solidFill>
                  <a:srgbClr val="86EFAC"/>
                </a:solidFill>
                <a:latin typeface="Source Code Pro"/>
                <a:ea typeface="Source Code Pro"/>
                <a:cs typeface="Source Code Pro"/>
                <a:sym typeface="Source Code Pro"/>
              </a:rPr>
              <a:t>'BMI'</a:t>
            </a:r>
            <a:r>
              <a:rPr lang="en-US" sz="1200" b="0" i="0" u="none" strike="noStrike">
                <a:solidFill>
                  <a:srgbClr val="E5E7EB"/>
                </a:solidFill>
                <a:latin typeface="Source Code Pro"/>
                <a:ea typeface="Source Code Pro"/>
                <a:cs typeface="Source Code Pro"/>
                <a:sym typeface="Source Code Pro"/>
              </a:rPr>
              <a:t>]</a:t>
            </a:r>
            <a:endParaRPr lang="en-US" sz="1200" b="0" i="0" u="none" strike="noStrike">
              <a:solidFill>
                <a:srgbClr val="E5E7EB"/>
              </a:solidFill>
              <a:latin typeface="Source Code Pro"/>
              <a:ea typeface="Source Code Pro"/>
              <a:cs typeface="Source Code Pro"/>
              <a:sym typeface="Source Code Pro"/>
            </a:endParaRPr>
          </a:p>
          <a:p>
            <a:pPr indent="0" algn="l">
              <a:lnSpc>
                <a:spcPct val="108000"/>
              </a:lnSpc>
            </a:pPr>
            <a:r>
              <a:rPr lang="en-US" sz="1200" b="0" i="0" u="none" strike="noStrike">
                <a:solidFill>
                  <a:srgbClr val="F59E0B"/>
                </a:solidFill>
                <a:latin typeface="Source Code Pro"/>
                <a:ea typeface="Source Code Pro"/>
                <a:cs typeface="Source Code Pro"/>
                <a:sym typeface="Source Code Pro"/>
              </a:rPr>
              <a:t>for</a:t>
            </a:r>
            <a:r>
              <a:rPr lang="en-US" sz="1200" b="0" i="0" u="none" strike="noStrike">
                <a:solidFill>
                  <a:srgbClr val="93C5FD"/>
                </a:solidFill>
                <a:latin typeface="Source Code Pro"/>
                <a:ea typeface="Source Code Pro"/>
                <a:cs typeface="Source Code Pro"/>
                <a:sym typeface="Source Code Pro"/>
              </a:rPr>
              <a:t>feature</a:t>
            </a:r>
            <a:r>
              <a:rPr lang="en-US" sz="1200" b="0" i="0" u="none" strike="noStrike">
                <a:solidFill>
                  <a:srgbClr val="F59E0B"/>
                </a:solidFill>
                <a:latin typeface="Source Code Pro"/>
                <a:ea typeface="Source Code Pro"/>
                <a:cs typeface="Source Code Pro"/>
                <a:sym typeface="Source Code Pro"/>
              </a:rPr>
              <a:t>in</a:t>
            </a:r>
            <a:r>
              <a:rPr lang="en-US" sz="1200" b="0" i="0" u="none" strike="noStrike">
                <a:solidFill>
                  <a:srgbClr val="E5E7EB"/>
                </a:solidFill>
                <a:latin typeface="Source Code Pro"/>
                <a:ea typeface="Source Code Pro"/>
                <a:cs typeface="Source Code Pro"/>
                <a:sym typeface="Source Code Pro"/>
              </a:rPr>
              <a:t>zero_features:</a:t>
            </a:r>
            <a:endParaRPr lang="en-US" sz="1200" b="0" i="0" u="none" strike="noStrike">
              <a:solidFill>
                <a:srgbClr val="E5E7EB"/>
              </a:solidFill>
              <a:latin typeface="Source Code Pro"/>
              <a:ea typeface="Source Code Pro"/>
              <a:cs typeface="Source Code Pro"/>
              <a:sym typeface="Source Code Pro"/>
            </a:endParaRPr>
          </a:p>
          <a:p>
            <a:pPr indent="0" algn="l">
              <a:lnSpc>
                <a:spcPct val="108000"/>
              </a:lnSpc>
            </a:pPr>
            <a:r>
              <a:rPr lang="en-US" sz="1200" b="0" i="0" u="none" strike="noStrike">
                <a:solidFill>
                  <a:srgbClr val="E5E7EB"/>
                </a:solidFill>
                <a:latin typeface="Source Code Pro"/>
                <a:ea typeface="Source Code Pro"/>
                <a:cs typeface="Source Code Pro"/>
                <a:sym typeface="Source Code Pro"/>
              </a:rPr>
              <a:t># 分别计算患病/未患病群体的中位数</a:t>
            </a:r>
            <a:endParaRPr lang="en-US" sz="1200" b="0" i="0" u="none" strike="noStrike">
              <a:solidFill>
                <a:srgbClr val="E5E7EB"/>
              </a:solidFill>
              <a:latin typeface="Source Code Pro"/>
              <a:ea typeface="Source Code Pro"/>
              <a:cs typeface="Source Code Pro"/>
              <a:sym typeface="Source Code Pro"/>
            </a:endParaRPr>
          </a:p>
          <a:p>
            <a:pPr indent="0" algn="l">
              <a:lnSpc>
                <a:spcPct val="108000"/>
              </a:lnSpc>
            </a:pPr>
            <a:r>
              <a:rPr lang="en-US" sz="1200" b="0" i="0" u="none" strike="noStrike">
                <a:solidFill>
                  <a:srgbClr val="E5E7EB"/>
                </a:solidFill>
                <a:latin typeface="Source Code Pro"/>
                <a:ea typeface="Source Code Pro"/>
                <a:cs typeface="Source Code Pro"/>
                <a:sym typeface="Source Code Pro"/>
              </a:rPr>
              <a:t>med_diabetic = df[df[</a:t>
            </a:r>
            <a:r>
              <a:rPr lang="en-US" sz="1200" b="0" i="0" u="none" strike="noStrike">
                <a:solidFill>
                  <a:srgbClr val="86EFAC"/>
                </a:solidFill>
                <a:latin typeface="Source Code Pro"/>
                <a:ea typeface="Source Code Pro"/>
                <a:cs typeface="Source Code Pro"/>
                <a:sym typeface="Source Code Pro"/>
              </a:rPr>
              <a:t>'Outcome'</a:t>
            </a:r>
            <a:r>
              <a:rPr lang="en-US" sz="1200" b="0" i="0" u="none" strike="noStrike">
                <a:solidFill>
                  <a:srgbClr val="E5E7EB"/>
                </a:solidFill>
                <a:latin typeface="Source Code Pro"/>
                <a:ea typeface="Source Code Pro"/>
                <a:cs typeface="Source Code Pro"/>
                <a:sym typeface="Source Code Pro"/>
              </a:rPr>
              <a:t>] == 1][feature].median()</a:t>
            </a:r>
            <a:endParaRPr lang="en-US" sz="1200" b="0" i="0" u="none" strike="noStrike">
              <a:solidFill>
                <a:srgbClr val="E5E7EB"/>
              </a:solidFill>
              <a:latin typeface="Source Code Pro"/>
              <a:ea typeface="Source Code Pro"/>
              <a:cs typeface="Source Code Pro"/>
              <a:sym typeface="Source Code Pro"/>
            </a:endParaRPr>
          </a:p>
          <a:p>
            <a:pPr indent="0" algn="l">
              <a:lnSpc>
                <a:spcPct val="108000"/>
              </a:lnSpc>
            </a:pPr>
            <a:r>
              <a:rPr lang="en-US" sz="1200" b="0" i="0" u="none" strike="noStrike">
                <a:solidFill>
                  <a:srgbClr val="E5E7EB"/>
                </a:solidFill>
                <a:latin typeface="Source Code Pro"/>
                <a:ea typeface="Source Code Pro"/>
                <a:cs typeface="Source Code Pro"/>
                <a:sym typeface="Source Code Pro"/>
              </a:rPr>
              <a:t>med_non_diabetic = df[df[</a:t>
            </a:r>
            <a:r>
              <a:rPr lang="en-US" sz="1200" b="0" i="0" u="none" strike="noStrike">
                <a:solidFill>
                  <a:srgbClr val="86EFAC"/>
                </a:solidFill>
                <a:latin typeface="Source Code Pro"/>
                <a:ea typeface="Source Code Pro"/>
                <a:cs typeface="Source Code Pro"/>
                <a:sym typeface="Source Code Pro"/>
              </a:rPr>
              <a:t>'Outcome'</a:t>
            </a:r>
            <a:r>
              <a:rPr lang="en-US" sz="1200" b="0" i="0" u="none" strike="noStrike">
                <a:solidFill>
                  <a:srgbClr val="E5E7EB"/>
                </a:solidFill>
                <a:latin typeface="Source Code Pro"/>
                <a:ea typeface="Source Code Pro"/>
                <a:cs typeface="Source Code Pro"/>
                <a:sym typeface="Source Code Pro"/>
              </a:rPr>
              <a:t>] == 0][feature].median()</a:t>
            </a:r>
            <a:endParaRPr lang="en-US" sz="1200" b="0" i="0" u="none" strike="noStrike">
              <a:solidFill>
                <a:srgbClr val="E5E7EB"/>
              </a:solidFill>
              <a:latin typeface="Source Code Pro"/>
              <a:ea typeface="Source Code Pro"/>
              <a:cs typeface="Source Code Pro"/>
              <a:sym typeface="Source Code Pro"/>
            </a:endParaRPr>
          </a:p>
          <a:p>
            <a:pPr indent="0" algn="l">
              <a:lnSpc>
                <a:spcPct val="108000"/>
              </a:lnSpc>
            </a:pPr>
            <a:r>
              <a:rPr lang="en-US" sz="1200" b="0" i="0" u="none" strike="noStrike">
                <a:solidFill>
                  <a:srgbClr val="E5E7EB"/>
                </a:solidFill>
                <a:latin typeface="Source Code Pro"/>
                <a:ea typeface="Source Code Pro"/>
                <a:cs typeface="Source Code Pro"/>
                <a:sym typeface="Source Code Pro"/>
              </a:rPr>
              <a:t># 按类别填充零值</a:t>
            </a:r>
            <a:endParaRPr lang="en-US" sz="1200" b="0" i="0" u="none" strike="noStrike">
              <a:solidFill>
                <a:srgbClr val="E5E7EB"/>
              </a:solidFill>
              <a:latin typeface="Source Code Pro"/>
              <a:ea typeface="Source Code Pro"/>
              <a:cs typeface="Source Code Pro"/>
              <a:sym typeface="Source Code Pro"/>
            </a:endParaRPr>
          </a:p>
          <a:p>
            <a:pPr indent="0" algn="l">
              <a:lnSpc>
                <a:spcPct val="108000"/>
              </a:lnSpc>
            </a:pPr>
            <a:r>
              <a:rPr lang="en-US" sz="1200" b="0" i="0" u="none" strike="noStrike">
                <a:solidFill>
                  <a:srgbClr val="E5E7EB"/>
                </a:solidFill>
                <a:latin typeface="Source Code Pro"/>
                <a:ea typeface="Source Code Pro"/>
                <a:cs typeface="Source Code Pro"/>
                <a:sym typeface="Source Code Pro"/>
              </a:rPr>
              <a:t>df.loc[(df[</a:t>
            </a:r>
            <a:r>
              <a:rPr lang="en-US" sz="1200" b="0" i="0" u="none" strike="noStrike">
                <a:solidFill>
                  <a:srgbClr val="86EFAC"/>
                </a:solidFill>
                <a:latin typeface="Source Code Pro"/>
                <a:ea typeface="Source Code Pro"/>
                <a:cs typeface="Source Code Pro"/>
                <a:sym typeface="Source Code Pro"/>
              </a:rPr>
              <a:t>'Outcome'</a:t>
            </a:r>
            <a:r>
              <a:rPr lang="en-US" sz="1200" b="0" i="0" u="none" strike="noStrike">
                <a:solidFill>
                  <a:srgbClr val="E5E7EB"/>
                </a:solidFill>
                <a:latin typeface="Source Code Pro"/>
                <a:ea typeface="Source Code Pro"/>
                <a:cs typeface="Source Code Pro"/>
                <a:sym typeface="Source Code Pro"/>
              </a:rPr>
              <a:t>]==1 &amp; (df[feature]==0), feature] = med_diabetic</a:t>
            </a:r>
            <a:endParaRPr lang="en-US" sz="1200" b="0" i="0" u="none" strike="noStrike">
              <a:solidFill>
                <a:srgbClr val="E5E7EB"/>
              </a:solidFill>
              <a:latin typeface="Source Code Pro"/>
              <a:ea typeface="Source Code Pro"/>
              <a:cs typeface="Source Code Pro"/>
              <a:sym typeface="Source Code Pro"/>
            </a:endParaRPr>
          </a:p>
          <a:p>
            <a:pPr indent="0" algn="l">
              <a:lnSpc>
                <a:spcPct val="108000"/>
              </a:lnSpc>
            </a:pPr>
            <a:r>
              <a:rPr lang="en-US" sz="1200" b="0" i="0" u="none" strike="noStrike">
                <a:solidFill>
                  <a:srgbClr val="E5E7EB"/>
                </a:solidFill>
                <a:latin typeface="Source Code Pro"/>
                <a:ea typeface="Source Code Pro"/>
                <a:cs typeface="Source Code Pro"/>
                <a:sym typeface="Source Code Pro"/>
              </a:rPr>
              <a:t>df.loc[(df[</a:t>
            </a:r>
            <a:r>
              <a:rPr lang="en-US" sz="1200" b="0" i="0" u="none" strike="noStrike">
                <a:solidFill>
                  <a:srgbClr val="86EFAC"/>
                </a:solidFill>
                <a:latin typeface="Source Code Pro"/>
                <a:ea typeface="Source Code Pro"/>
                <a:cs typeface="Source Code Pro"/>
                <a:sym typeface="Source Code Pro"/>
              </a:rPr>
              <a:t>'Outcome'</a:t>
            </a:r>
            <a:r>
              <a:rPr lang="en-US" sz="1200" b="0" i="0" u="none" strike="noStrike">
                <a:solidFill>
                  <a:srgbClr val="E5E7EB"/>
                </a:solidFill>
                <a:latin typeface="Source Code Pro"/>
                <a:ea typeface="Source Code Pro"/>
                <a:cs typeface="Source Code Pro"/>
                <a:sym typeface="Source Code Pro"/>
              </a:rPr>
              <a:t>]==0 &amp; (df[feature]==0), feature] = med_non_diabetic</a:t>
            </a:r>
            <a:endParaRPr lang="en-US" sz="1200" b="0" i="0" u="none" strike="noStrike">
              <a:solidFill>
                <a:srgbClr val="E5E7EB"/>
              </a:solidFill>
              <a:latin typeface="Source Code Pro"/>
              <a:ea typeface="Source Code Pro"/>
              <a:cs typeface="Source Code Pro"/>
              <a:sym typeface="Source Code Pro"/>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74151"/>
                </a:solidFill>
                <a:latin typeface="Noto Sans SC"/>
                <a:ea typeface="Noto Sans SC"/>
                <a:cs typeface="Noto Sans SC"/>
                <a:sym typeface="Noto Sans SC"/>
              </a:rPr>
              <a:t>03 数据预处理与特征工程</a:t>
            </a:r>
            <a:endParaRPr lang="en-US" sz="1100"/>
          </a:p>
        </p:txBody>
      </p:sp>
      <p:sp>
        <p:nvSpPr>
          <p:cNvPr id="4" name="AutoShape 4"/>
          <p:cNvSpPr/>
          <p:nvPr/>
        </p:nvSpPr>
        <p:spPr>
          <a:xfrm>
            <a:off x="762000" y="1778000"/>
            <a:ext cx="5207000" cy="4318000"/>
          </a:xfrm>
          <a:prstGeom prst="roundRect">
            <a:avLst>
              <a:gd name="adj" fmla="val 3529"/>
            </a:avLst>
          </a:prstGeom>
          <a:solidFill>
            <a:srgbClr val="FFFFFF">
              <a:alpha val="95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6800" y="2082800"/>
            <a:ext cx="355600" cy="355600"/>
          </a:xfrm>
          <a:prstGeom prst="rect">
            <a:avLst/>
          </a:prstGeom>
        </p:spPr>
      </p:pic>
      <p:sp>
        <p:nvSpPr>
          <p:cNvPr id="6" name="AutoShape 6"/>
          <p:cNvSpPr/>
          <p:nvPr/>
        </p:nvSpPr>
        <p:spPr>
          <a:xfrm>
            <a:off x="1574800" y="2057400"/>
            <a:ext cx="3810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22C55E"/>
                </a:solidFill>
                <a:latin typeface="Noto Sans SC"/>
                <a:ea typeface="Noto Sans SC"/>
                <a:cs typeface="Noto Sans SC"/>
                <a:sym typeface="Noto Sans SC"/>
              </a:rPr>
              <a:t>2. 数据标准化 (Standardization)</a:t>
            </a:r>
            <a:endParaRPr lang="en-US" sz="1100"/>
          </a:p>
        </p:txBody>
      </p:sp>
      <p:sp>
        <p:nvSpPr>
          <p:cNvPr id="7" name="AutoShape 7"/>
          <p:cNvSpPr/>
          <p:nvPr/>
        </p:nvSpPr>
        <p:spPr>
          <a:xfrm>
            <a:off x="1066800" y="2921000"/>
            <a:ext cx="4597400" cy="2667000"/>
          </a:xfrm>
          <a:prstGeom prst="rect">
            <a:avLst/>
          </a:prstGeom>
          <a:noFill/>
          <a:ln w="12700" cap="flat" cmpd="sng">
            <a:noFill/>
            <a:prstDash val="solid"/>
            <a:round/>
          </a:ln>
        </p:spPr>
        <p:txBody>
          <a:bodyPr vert="horz" wrap="square" lIns="0" tIns="0" rIns="0" bIns="0" rtlCol="0" anchor="ctr" anchorCtr="0"/>
          <a:lstStyle/>
          <a:p>
            <a:pPr indent="0" algn="l">
              <a:lnSpc>
                <a:spcPct val="133000"/>
              </a:lnSpc>
              <a:defRPr/>
            </a:pPr>
            <a:r>
              <a:rPr lang="en-US" sz="1400" b="0" i="0" u="none" strike="noStrike">
                <a:solidFill>
                  <a:srgbClr val="374151"/>
                </a:solidFill>
                <a:latin typeface="Noto Sans SC"/>
                <a:ea typeface="Noto Sans SC"/>
                <a:cs typeface="Noto Sans SC"/>
                <a:sym typeface="Noto Sans SC"/>
              </a:rPr>
              <a:t>许多机器学习模型（如逻辑回归、SVM、K近邻等）对特征的尺度非常敏感。特征量纲的差异（例如：年龄以年为单位，血糖以mg/dL为单位）可能导致模型过度重视数值较大的特征，从而影响最终的预测效果。</a:t>
            </a:r>
            <a:endParaRPr lang="en-US" sz="1100"/>
          </a:p>
          <a:p>
            <a:pPr indent="0" algn="l">
              <a:lnSpc>
                <a:spcPct val="133000"/>
              </a:lnSpc>
              <a:spcBef>
                <a:spcPts val="1600"/>
              </a:spcBef>
            </a:pPr>
            <a:r>
              <a:rPr lang="en-US" sz="1400" b="0" i="0" u="none" strike="noStrike">
                <a:solidFill>
                  <a:srgbClr val="374151"/>
                </a:solidFill>
                <a:latin typeface="Noto Sans SC"/>
                <a:ea typeface="Noto Sans SC"/>
                <a:cs typeface="Noto Sans SC"/>
                <a:sym typeface="Noto Sans SC"/>
              </a:rPr>
              <a:t>为了消除量纲影响，我们通常采用</a:t>
            </a:r>
            <a:r>
              <a:rPr lang="en-US" sz="1400" b="1" i="0" u="none" strike="noStrike">
                <a:solidFill>
                  <a:srgbClr val="22C55E"/>
                </a:solidFill>
                <a:latin typeface="Noto Sans SC"/>
                <a:ea typeface="Noto Sans SC"/>
                <a:cs typeface="Noto Sans SC"/>
                <a:sym typeface="Noto Sans SC"/>
              </a:rPr>
              <a:t>Z-score 标准化</a:t>
            </a:r>
            <a:r>
              <a:rPr lang="en-US" sz="1400" b="0" i="0" u="none" strike="noStrike">
                <a:solidFill>
                  <a:srgbClr val="374151"/>
                </a:solidFill>
                <a:latin typeface="Noto Sans SC"/>
                <a:ea typeface="Noto Sans SC"/>
                <a:cs typeface="Noto Sans SC"/>
                <a:sym typeface="Noto Sans SC"/>
              </a:rPr>
              <a:t>方法。该方法将所有特征转换为均值为 0，标准差为 1 的标准正态分布，确保所有特征处于同一量级，公平地参与模型训练。</a:t>
            </a:r>
            <a:endParaRPr lang="en-US" sz="1400" b="0" i="0" u="none" strike="noStrike">
              <a:solidFill>
                <a:srgbClr val="374151"/>
              </a:solidFill>
              <a:latin typeface="Noto Sans SC"/>
              <a:ea typeface="Noto Sans SC"/>
              <a:cs typeface="Noto Sans SC"/>
              <a:sym typeface="Noto Sans SC"/>
            </a:endParaRPr>
          </a:p>
        </p:txBody>
      </p:sp>
      <p:sp>
        <p:nvSpPr>
          <p:cNvPr id="8" name="AutoShape 8"/>
          <p:cNvSpPr/>
          <p:nvPr/>
        </p:nvSpPr>
        <p:spPr>
          <a:xfrm>
            <a:off x="6223000" y="1778000"/>
            <a:ext cx="5207000" cy="4318000"/>
          </a:xfrm>
          <a:prstGeom prst="roundRect">
            <a:avLst>
              <a:gd name="adj" fmla="val 3529"/>
            </a:avLst>
          </a:prstGeom>
          <a:solidFill>
            <a:srgbClr val="FFFFFF">
              <a:alpha val="95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9" name="AutoShape 9"/>
          <p:cNvSpPr/>
          <p:nvPr/>
        </p:nvSpPr>
        <p:spPr>
          <a:xfrm>
            <a:off x="6477000" y="2082800"/>
            <a:ext cx="4699000" cy="2032000"/>
          </a:xfrm>
          <a:prstGeom prst="roundRect">
            <a:avLst>
              <a:gd name="adj" fmla="val 5000"/>
            </a:avLst>
          </a:prstGeom>
          <a:solidFill>
            <a:srgbClr val="1E293B">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6680200" y="2235200"/>
            <a:ext cx="4292600" cy="17272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94A3B8"/>
                </a:solidFill>
                <a:latin typeface="Source Code Pro"/>
                <a:ea typeface="Source Code Pro"/>
                <a:cs typeface="Source Code Pro"/>
                <a:sym typeface="Source Code Pro"/>
              </a:rPr>
              <a:t># 导入工具库与数据分离</a:t>
            </a:r>
            <a:endParaRPr lang="en-US" sz="1100"/>
          </a:p>
          <a:p>
            <a:pPr indent="0" algn="l">
              <a:lnSpc>
                <a:spcPct val="108000"/>
              </a:lnSpc>
            </a:pPr>
            <a:r>
              <a:rPr lang="en-US" sz="1200" b="0" i="0" u="none" strike="noStrike">
                <a:solidFill>
                  <a:srgbClr val="E2E8F0"/>
                </a:solidFill>
                <a:latin typeface="Source Code Pro"/>
                <a:ea typeface="Source Code Pro"/>
                <a:cs typeface="Source Code Pro"/>
                <a:sym typeface="Source Code Pro"/>
              </a:rPr>
              <a:t>from sklearn.preprocessing import StandardScaler</a:t>
            </a:r>
            <a:endParaRPr lang="en-US" sz="1200" b="0" i="0" u="none" strike="noStrike">
              <a:solidFill>
                <a:srgbClr val="E2E8F0"/>
              </a:solidFill>
              <a:latin typeface="Source Code Pro"/>
              <a:ea typeface="Source Code Pro"/>
              <a:cs typeface="Source Code Pro"/>
              <a:sym typeface="Source Code Pro"/>
            </a:endParaRPr>
          </a:p>
          <a:p>
            <a:pPr indent="0" algn="l">
              <a:lnSpc>
                <a:spcPct val="108000"/>
              </a:lnSpc>
            </a:pPr>
            <a:r>
              <a:rPr lang="en-US" sz="1200" b="0" i="0" u="none" strike="noStrike">
                <a:solidFill>
                  <a:srgbClr val="E2E8F0"/>
                </a:solidFill>
                <a:latin typeface="Source Code Pro"/>
                <a:ea typeface="Source Code Pro"/>
                <a:cs typeface="Source Code Pro"/>
                <a:sym typeface="Source Code Pro"/>
              </a:rPr>
              <a:t>X, y = df.drop('Outcome', 1), df['Outcome']</a:t>
            </a:r>
            <a:endParaRPr lang="en-US" sz="1200" b="0" i="0" u="none" strike="noStrike">
              <a:solidFill>
                <a:srgbClr val="E2E8F0"/>
              </a:solidFill>
              <a:latin typeface="Source Code Pro"/>
              <a:ea typeface="Source Code Pro"/>
              <a:cs typeface="Source Code Pro"/>
              <a:sym typeface="Source Code Pro"/>
            </a:endParaRPr>
          </a:p>
          <a:p>
            <a:pPr indent="0" algn="l">
              <a:lnSpc>
                <a:spcPct val="108000"/>
              </a:lnSpc>
              <a:spcBef>
                <a:spcPts val="800"/>
              </a:spcBef>
            </a:pPr>
            <a:r>
              <a:rPr lang="en-US" sz="1200" b="0" i="0" u="none" strike="noStrike">
                <a:solidFill>
                  <a:srgbClr val="94A3B8"/>
                </a:solidFill>
                <a:latin typeface="Source Code Pro"/>
                <a:ea typeface="Source Code Pro"/>
                <a:cs typeface="Source Code Pro"/>
                <a:sym typeface="Source Code Pro"/>
              </a:rPr>
              <a:t># 初始化并执行标准化</a:t>
            </a:r>
            <a:endParaRPr lang="en-US" sz="1200" b="0" i="0" u="none" strike="noStrike">
              <a:solidFill>
                <a:srgbClr val="94A3B8"/>
              </a:solidFill>
              <a:latin typeface="Source Code Pro"/>
              <a:ea typeface="Source Code Pro"/>
              <a:cs typeface="Source Code Pro"/>
              <a:sym typeface="Source Code Pro"/>
            </a:endParaRPr>
          </a:p>
          <a:p>
            <a:pPr indent="0" algn="l">
              <a:lnSpc>
                <a:spcPct val="108000"/>
              </a:lnSpc>
            </a:pPr>
            <a:r>
              <a:rPr lang="en-US" sz="1200" b="0" i="0" u="none" strike="noStrike">
                <a:solidFill>
                  <a:srgbClr val="E2E8F0"/>
                </a:solidFill>
                <a:latin typeface="Source Code Pro"/>
                <a:ea typeface="Source Code Pro"/>
                <a:cs typeface="Source Code Pro"/>
                <a:sym typeface="Source Code Pro"/>
              </a:rPr>
              <a:t>scaler = StandardScaler()</a:t>
            </a:r>
            <a:r>
              <a:rPr lang="en-US" sz="1200" b="0" i="0" u="none" strike="noStrike">
                <a:solidFill>
                  <a:srgbClr val="94A3B8"/>
                </a:solidFill>
                <a:latin typeface="Source Code Pro"/>
                <a:ea typeface="Source Code Pro"/>
                <a:cs typeface="Source Code Pro"/>
                <a:sym typeface="Source Code Pro"/>
              </a:rPr>
              <a:t># 均值0，标准差1</a:t>
            </a:r>
            <a:endParaRPr lang="en-US" sz="1200" b="0" i="0" u="none" strike="noStrike">
              <a:solidFill>
                <a:srgbClr val="94A3B8"/>
              </a:solidFill>
              <a:latin typeface="Source Code Pro"/>
              <a:ea typeface="Source Code Pro"/>
              <a:cs typeface="Source Code Pro"/>
              <a:sym typeface="Source Code Pro"/>
            </a:endParaRPr>
          </a:p>
          <a:p>
            <a:pPr indent="0" algn="l">
              <a:lnSpc>
                <a:spcPct val="108000"/>
              </a:lnSpc>
            </a:pPr>
            <a:r>
              <a:rPr lang="en-US" sz="1200" b="0" i="0" u="none" strike="noStrike">
                <a:solidFill>
                  <a:srgbClr val="E2E8F0"/>
                </a:solidFill>
                <a:latin typeface="Source Code Pro"/>
                <a:ea typeface="Source Code Pro"/>
                <a:cs typeface="Source Code Pro"/>
                <a:sym typeface="Source Code Pro"/>
              </a:rPr>
              <a:t>X_scaled = scaler.fit_transform(X)</a:t>
            </a:r>
            <a:endParaRPr lang="en-US" sz="1200" b="0" i="0" u="none" strike="noStrike">
              <a:solidFill>
                <a:srgbClr val="E2E8F0"/>
              </a:solidFill>
              <a:latin typeface="Source Code Pro"/>
              <a:ea typeface="Source Code Pro"/>
              <a:cs typeface="Source Code Pro"/>
              <a:sym typeface="Source Code Pro"/>
            </a:endParaRPr>
          </a:p>
        </p:txBody>
      </p:sp>
      <p:sp>
        <p:nvSpPr>
          <p:cNvPr id="11" name="AutoShape 11"/>
          <p:cNvSpPr/>
          <p:nvPr/>
        </p:nvSpPr>
        <p:spPr>
          <a:xfrm>
            <a:off x="6477000" y="4318000"/>
            <a:ext cx="4699000" cy="1397000"/>
          </a:xfrm>
          <a:prstGeom prst="roundRect">
            <a:avLst>
              <a:gd name="adj" fmla="val 7272"/>
            </a:avLst>
          </a:prstGeom>
          <a:solidFill>
            <a:srgbClr val="ECFDF5">
              <a:alpha val="100000"/>
            </a:srgbClr>
          </a:solidFill>
          <a:ln w="12700" cap="flat" cmpd="sng">
            <a:solidFill>
              <a:srgbClr val="BBF7D0">
                <a:alpha val="100000"/>
              </a:srgbClr>
            </a:solid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680200" y="4572000"/>
            <a:ext cx="304800" cy="304800"/>
          </a:xfrm>
          <a:prstGeom prst="rect">
            <a:avLst/>
          </a:prstGeom>
        </p:spPr>
      </p:pic>
      <p:sp>
        <p:nvSpPr>
          <p:cNvPr id="13" name="AutoShape 13"/>
          <p:cNvSpPr/>
          <p:nvPr/>
        </p:nvSpPr>
        <p:spPr>
          <a:xfrm>
            <a:off x="7137400" y="4546600"/>
            <a:ext cx="3810000" cy="939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5803D"/>
                </a:solidFill>
                <a:latin typeface="Noto Sans SC"/>
                <a:ea typeface="Noto Sans SC"/>
                <a:cs typeface="Noto Sans SC"/>
                <a:sym typeface="Noto Sans SC"/>
              </a:rPr>
              <a:t>标准化后效果</a:t>
            </a:r>
            <a:endParaRPr lang="en-US" sz="1100"/>
          </a:p>
          <a:p>
            <a:pPr indent="0" algn="l">
              <a:lnSpc>
                <a:spcPct val="117000"/>
              </a:lnSpc>
              <a:spcBef>
                <a:spcPts val="600"/>
              </a:spcBef>
            </a:pPr>
            <a:r>
              <a:rPr lang="en-US" sz="1300" b="0" i="0" u="none" strike="noStrike">
                <a:solidFill>
                  <a:srgbClr val="166534"/>
                </a:solidFill>
                <a:latin typeface="Noto Sans SC"/>
                <a:ea typeface="Noto Sans SC"/>
                <a:cs typeface="Noto Sans SC"/>
                <a:sym typeface="Noto Sans SC"/>
              </a:rPr>
              <a:t>处理完成后，所有输入特征将呈现标准正态分布特性：</a:t>
            </a:r>
            <a:br>
              <a:rPr lang="en-US" sz="1600" b="0" i="0" u="none" strike="noStrike">
                <a:solidFill>
                  <a:srgbClr val="1F2329"/>
                </a:solidFill>
                <a:latin typeface="Noto Sans SC"/>
                <a:ea typeface="Noto Sans SC"/>
                <a:cs typeface="Noto Sans SC"/>
                <a:sym typeface="Noto Sans SC"/>
              </a:rPr>
            </a:br>
            <a:r>
              <a:rPr lang="en-US" sz="1300" b="0" i="0" u="none" strike="noStrike">
                <a:solidFill>
                  <a:srgbClr val="166534"/>
                </a:solidFill>
                <a:latin typeface="Noto Sans SC"/>
                <a:ea typeface="Noto Sans SC"/>
                <a:cs typeface="Noto Sans SC"/>
                <a:sym typeface="Noto Sans SC"/>
              </a:rPr>
              <a:t>• 所有特征列的均值 ≈ 0</a:t>
            </a:r>
            <a:br>
              <a:rPr lang="en-US" sz="1600" b="0" i="0" u="none" strike="noStrike">
                <a:solidFill>
                  <a:srgbClr val="1F2329"/>
                </a:solidFill>
                <a:latin typeface="Noto Sans SC"/>
                <a:ea typeface="Noto Sans SC"/>
                <a:cs typeface="Noto Sans SC"/>
                <a:sym typeface="Noto Sans SC"/>
              </a:rPr>
            </a:br>
            <a:r>
              <a:rPr lang="en-US" sz="1300" b="0" i="0" u="none" strike="noStrike">
                <a:solidFill>
                  <a:srgbClr val="166534"/>
                </a:solidFill>
                <a:latin typeface="Noto Sans SC"/>
                <a:ea typeface="Noto Sans SC"/>
                <a:cs typeface="Noto Sans SC"/>
                <a:sym typeface="Noto Sans SC"/>
              </a:rPr>
              <a:t>• 所有特征列的标准差 ≈ 1</a:t>
            </a:r>
            <a:endParaRPr lang="en-US" sz="1300" b="0" i="0" u="none" strike="noStrike">
              <a:solidFill>
                <a:srgbClr val="166534"/>
              </a:solidFill>
              <a:latin typeface="Noto Sans SC"/>
              <a:ea typeface="Noto Sans SC"/>
              <a:cs typeface="Noto Sans SC"/>
              <a:sym typeface="Noto Sans SC"/>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8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74151"/>
                </a:solidFill>
                <a:latin typeface="Noto Sans SC"/>
                <a:ea typeface="Noto Sans SC"/>
                <a:cs typeface="Noto Sans SC"/>
                <a:sym typeface="Noto Sans SC"/>
              </a:rPr>
              <a:t>04 模型构建与训练</a:t>
            </a:r>
            <a:endParaRPr lang="en-US" sz="1100"/>
          </a:p>
        </p:txBody>
      </p:sp>
      <p:sp>
        <p:nvSpPr>
          <p:cNvPr id="4" name="AutoShape 4"/>
          <p:cNvSpPr/>
          <p:nvPr/>
        </p:nvSpPr>
        <p:spPr>
          <a:xfrm>
            <a:off x="762000" y="1651000"/>
            <a:ext cx="5207000" cy="1206500"/>
          </a:xfrm>
          <a:prstGeom prst="roundRect">
            <a:avLst>
              <a:gd name="adj" fmla="val 12631"/>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5" name="AutoShape 5"/>
          <p:cNvSpPr/>
          <p:nvPr/>
        </p:nvSpPr>
        <p:spPr>
          <a:xfrm>
            <a:off x="762000" y="1651000"/>
            <a:ext cx="76200" cy="12065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16000" y="1778000"/>
            <a:ext cx="4699000" cy="952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5803D"/>
                </a:solidFill>
                <a:latin typeface="Noto Sans SC"/>
                <a:ea typeface="Noto Sans SC"/>
                <a:cs typeface="Noto Sans SC"/>
                <a:sym typeface="Noto Sans SC"/>
              </a:rPr>
              <a:t>📊 数据集划分策略</a:t>
            </a:r>
            <a:endParaRPr lang="en-US" sz="1100"/>
          </a:p>
          <a:p>
            <a:pPr indent="0" algn="l">
              <a:lnSpc>
                <a:spcPct val="108000"/>
              </a:lnSpc>
            </a:pPr>
            <a:r>
              <a:rPr lang="en-US" sz="1300" b="0" i="0" u="none" strike="noStrike">
                <a:solidFill>
                  <a:srgbClr val="4B5563"/>
                </a:solidFill>
                <a:latin typeface="Noto Sans SC"/>
                <a:ea typeface="Noto Sans SC"/>
                <a:cs typeface="Noto Sans SC"/>
                <a:sym typeface="Noto Sans SC"/>
              </a:rPr>
              <a:t>严格按照</a:t>
            </a:r>
            <a:r>
              <a:rPr lang="en-US" sz="1300" b="1" i="0" u="none" strike="noStrike">
                <a:solidFill>
                  <a:srgbClr val="4B5563"/>
                </a:solidFill>
                <a:latin typeface="Noto Sans SC"/>
                <a:ea typeface="Noto Sans SC"/>
                <a:cs typeface="Noto Sans SC"/>
                <a:sym typeface="Noto Sans SC"/>
              </a:rPr>
              <a:t>8:2</a:t>
            </a:r>
            <a:r>
              <a:rPr lang="en-US" sz="1300" b="0" i="0" u="none" strike="noStrike">
                <a:solidFill>
                  <a:srgbClr val="4B5563"/>
                </a:solidFill>
                <a:latin typeface="Noto Sans SC"/>
                <a:ea typeface="Noto Sans SC"/>
                <a:cs typeface="Noto Sans SC"/>
                <a:sym typeface="Noto Sans SC"/>
              </a:rPr>
              <a:t>比例将数据分为训练集与测试集，利用</a:t>
            </a:r>
            <a:r>
              <a:rPr lang="en-US" sz="1300" b="1" i="0" u="none" strike="noStrike">
                <a:solidFill>
                  <a:srgbClr val="4B5563"/>
                </a:solidFill>
                <a:latin typeface="Noto Sans SC"/>
                <a:ea typeface="Noto Sans SC"/>
                <a:cs typeface="Noto Sans SC"/>
                <a:sym typeface="Noto Sans SC"/>
              </a:rPr>
              <a:t>stratify</a:t>
            </a:r>
            <a:r>
              <a:rPr lang="en-US" sz="1300" b="0" i="0" u="none" strike="noStrike">
                <a:solidFill>
                  <a:srgbClr val="4B5563"/>
                </a:solidFill>
                <a:latin typeface="Noto Sans SC"/>
                <a:ea typeface="Noto Sans SC"/>
                <a:cs typeface="Noto Sans SC"/>
                <a:sym typeface="Noto Sans SC"/>
              </a:rPr>
              <a:t>参数，确保数据在不同子集间的类别分布一致，规避因抽样偏差导致的模型评估失真。</a:t>
            </a:r>
            <a:endParaRPr lang="en-US" sz="1300" b="0" i="0" u="none" strike="noStrike">
              <a:solidFill>
                <a:srgbClr val="4B5563"/>
              </a:solidFill>
              <a:latin typeface="Noto Sans SC"/>
              <a:ea typeface="Noto Sans SC"/>
              <a:cs typeface="Noto Sans SC"/>
              <a:sym typeface="Noto Sans SC"/>
            </a:endParaRPr>
          </a:p>
        </p:txBody>
      </p:sp>
      <p:sp>
        <p:nvSpPr>
          <p:cNvPr id="7" name="AutoShape 7"/>
          <p:cNvSpPr/>
          <p:nvPr/>
        </p:nvSpPr>
        <p:spPr>
          <a:xfrm>
            <a:off x="762000" y="3111500"/>
            <a:ext cx="2476500" cy="1714500"/>
          </a:xfrm>
          <a:prstGeom prst="roundRect">
            <a:avLst>
              <a:gd name="adj" fmla="val 5925"/>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14400" y="3263900"/>
            <a:ext cx="304800" cy="304800"/>
          </a:xfrm>
          <a:prstGeom prst="rect">
            <a:avLst/>
          </a:prstGeom>
        </p:spPr>
      </p:pic>
      <p:sp>
        <p:nvSpPr>
          <p:cNvPr id="9" name="AutoShape 9"/>
          <p:cNvSpPr/>
          <p:nvPr/>
        </p:nvSpPr>
        <p:spPr>
          <a:xfrm>
            <a:off x="1320800" y="3238500"/>
            <a:ext cx="1778000" cy="139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1F2937"/>
                </a:solidFill>
                <a:latin typeface="Noto Sans SC"/>
                <a:ea typeface="Noto Sans SC"/>
                <a:cs typeface="Noto Sans SC"/>
                <a:sym typeface="Noto Sans SC"/>
              </a:rPr>
              <a:t>逻辑回归 (LR)</a:t>
            </a:r>
            <a:endParaRPr lang="en-US" sz="1100"/>
          </a:p>
          <a:p>
            <a:pPr indent="0" algn="l">
              <a:lnSpc>
                <a:spcPct val="108000"/>
              </a:lnSpc>
            </a:pPr>
            <a:r>
              <a:rPr lang="en-US" sz="1200" b="0" i="0" u="none" strike="noStrike">
                <a:solidFill>
                  <a:srgbClr val="6B7280"/>
                </a:solidFill>
                <a:latin typeface="Noto Sans SC"/>
                <a:ea typeface="Noto Sans SC"/>
                <a:cs typeface="Noto Sans SC"/>
                <a:sym typeface="Noto Sans SC"/>
              </a:rPr>
              <a:t>经典线性分类模型，训练速度快，结果具备良好的可解释性，适合作为基准模型。</a:t>
            </a:r>
            <a:endParaRPr lang="en-US" sz="1200" b="0" i="0" u="none" strike="noStrike">
              <a:solidFill>
                <a:srgbClr val="6B7280"/>
              </a:solidFill>
              <a:latin typeface="Noto Sans SC"/>
              <a:ea typeface="Noto Sans SC"/>
              <a:cs typeface="Noto Sans SC"/>
              <a:sym typeface="Noto Sans SC"/>
            </a:endParaRPr>
          </a:p>
        </p:txBody>
      </p:sp>
      <p:sp>
        <p:nvSpPr>
          <p:cNvPr id="10" name="AutoShape 10"/>
          <p:cNvSpPr/>
          <p:nvPr/>
        </p:nvSpPr>
        <p:spPr>
          <a:xfrm>
            <a:off x="3492500" y="3111500"/>
            <a:ext cx="2476500" cy="1714500"/>
          </a:xfrm>
          <a:prstGeom prst="roundRect">
            <a:avLst>
              <a:gd name="adj" fmla="val 5925"/>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644900" y="3263900"/>
            <a:ext cx="304800" cy="304800"/>
          </a:xfrm>
          <a:prstGeom prst="rect">
            <a:avLst/>
          </a:prstGeom>
        </p:spPr>
      </p:pic>
      <p:sp>
        <p:nvSpPr>
          <p:cNvPr id="12" name="AutoShape 12"/>
          <p:cNvSpPr/>
          <p:nvPr/>
        </p:nvSpPr>
        <p:spPr>
          <a:xfrm>
            <a:off x="4051300" y="3238500"/>
            <a:ext cx="1778000" cy="139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1F2937"/>
                </a:solidFill>
                <a:latin typeface="Noto Sans SC"/>
                <a:ea typeface="Noto Sans SC"/>
                <a:cs typeface="Noto Sans SC"/>
                <a:sym typeface="Noto Sans SC"/>
              </a:rPr>
              <a:t>决策树 (DT)</a:t>
            </a:r>
            <a:endParaRPr lang="en-US" sz="1100"/>
          </a:p>
          <a:p>
            <a:pPr indent="0" algn="l">
              <a:lnSpc>
                <a:spcPct val="108000"/>
              </a:lnSpc>
            </a:pPr>
            <a:r>
              <a:rPr lang="en-US" sz="1200" b="0" i="0" u="none" strike="noStrike">
                <a:solidFill>
                  <a:srgbClr val="6B7280"/>
                </a:solidFill>
                <a:latin typeface="Noto Sans SC"/>
                <a:ea typeface="Noto Sans SC"/>
                <a:cs typeface="Noto Sans SC"/>
                <a:sym typeface="Noto Sans SC"/>
              </a:rPr>
              <a:t>典型的非线性模型，决策逻辑直观，支持特征重要性分析，便于业务理解。</a:t>
            </a:r>
            <a:endParaRPr lang="en-US" sz="1200" b="0" i="0" u="none" strike="noStrike">
              <a:solidFill>
                <a:srgbClr val="6B7280"/>
              </a:solidFill>
              <a:latin typeface="Noto Sans SC"/>
              <a:ea typeface="Noto Sans SC"/>
              <a:cs typeface="Noto Sans SC"/>
              <a:sym typeface="Noto Sans SC"/>
            </a:endParaRPr>
          </a:p>
        </p:txBody>
      </p:sp>
      <p:sp>
        <p:nvSpPr>
          <p:cNvPr id="13" name="AutoShape 13"/>
          <p:cNvSpPr/>
          <p:nvPr/>
        </p:nvSpPr>
        <p:spPr>
          <a:xfrm>
            <a:off x="762000" y="5016500"/>
            <a:ext cx="2476500" cy="1651000"/>
          </a:xfrm>
          <a:prstGeom prst="roundRect">
            <a:avLst>
              <a:gd name="adj" fmla="val 6153"/>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14400" y="5168900"/>
            <a:ext cx="304800" cy="304800"/>
          </a:xfrm>
          <a:prstGeom prst="rect">
            <a:avLst/>
          </a:prstGeom>
        </p:spPr>
      </p:pic>
      <p:sp>
        <p:nvSpPr>
          <p:cNvPr id="15" name="AutoShape 15"/>
          <p:cNvSpPr/>
          <p:nvPr/>
        </p:nvSpPr>
        <p:spPr>
          <a:xfrm>
            <a:off x="1320800" y="5143500"/>
            <a:ext cx="1778000" cy="139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1F2937"/>
                </a:solidFill>
                <a:latin typeface="Noto Sans SC"/>
                <a:ea typeface="Noto Sans SC"/>
                <a:cs typeface="Noto Sans SC"/>
                <a:sym typeface="Noto Sans SC"/>
              </a:rPr>
              <a:t>随机森林 (RF)</a:t>
            </a:r>
            <a:endParaRPr lang="en-US" sz="1100"/>
          </a:p>
          <a:p>
            <a:pPr indent="0" algn="l">
              <a:lnSpc>
                <a:spcPct val="108000"/>
              </a:lnSpc>
            </a:pPr>
            <a:r>
              <a:rPr lang="en-US" sz="1200" b="0" i="0" u="none" strike="noStrike">
                <a:solidFill>
                  <a:srgbClr val="6B7280"/>
                </a:solidFill>
                <a:latin typeface="Noto Sans SC"/>
                <a:ea typeface="Noto Sans SC"/>
                <a:cs typeface="Noto Sans SC"/>
                <a:sym typeface="Noto Sans SC"/>
              </a:rPr>
              <a:t>基于集成学习的算法，抗过拟合能力强，泛化性能优异，是解决分类问题的首选之一。</a:t>
            </a:r>
            <a:endParaRPr lang="en-US" sz="1200" b="0" i="0" u="none" strike="noStrike">
              <a:solidFill>
                <a:srgbClr val="6B7280"/>
              </a:solidFill>
              <a:latin typeface="Noto Sans SC"/>
              <a:ea typeface="Noto Sans SC"/>
              <a:cs typeface="Noto Sans SC"/>
              <a:sym typeface="Noto Sans SC"/>
            </a:endParaRPr>
          </a:p>
        </p:txBody>
      </p:sp>
      <p:sp>
        <p:nvSpPr>
          <p:cNvPr id="16" name="AutoShape 16"/>
          <p:cNvSpPr/>
          <p:nvPr/>
        </p:nvSpPr>
        <p:spPr>
          <a:xfrm>
            <a:off x="3492500" y="5016500"/>
            <a:ext cx="2476500" cy="1651000"/>
          </a:xfrm>
          <a:prstGeom prst="roundRect">
            <a:avLst>
              <a:gd name="adj" fmla="val 6153"/>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644900" y="5168900"/>
            <a:ext cx="304800" cy="304800"/>
          </a:xfrm>
          <a:prstGeom prst="rect">
            <a:avLst/>
          </a:prstGeom>
        </p:spPr>
      </p:pic>
      <p:sp>
        <p:nvSpPr>
          <p:cNvPr id="18" name="AutoShape 18"/>
          <p:cNvSpPr/>
          <p:nvPr/>
        </p:nvSpPr>
        <p:spPr>
          <a:xfrm>
            <a:off x="4051300" y="5143500"/>
            <a:ext cx="1778000" cy="139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1F2937"/>
                </a:solidFill>
                <a:latin typeface="Noto Sans SC"/>
                <a:ea typeface="Noto Sans SC"/>
                <a:cs typeface="Noto Sans SC"/>
                <a:sym typeface="Noto Sans SC"/>
              </a:rPr>
              <a:t>支持向量机 (SVM)</a:t>
            </a:r>
            <a:endParaRPr lang="en-US" sz="1100"/>
          </a:p>
          <a:p>
            <a:pPr indent="0" algn="l">
              <a:lnSpc>
                <a:spcPct val="108000"/>
              </a:lnSpc>
            </a:pPr>
            <a:r>
              <a:rPr lang="en-US" sz="1200" b="0" i="0" u="none" strike="noStrike">
                <a:solidFill>
                  <a:srgbClr val="6B7280"/>
                </a:solidFill>
                <a:latin typeface="Noto Sans SC"/>
                <a:ea typeface="Noto Sans SC"/>
                <a:cs typeface="Noto Sans SC"/>
                <a:sym typeface="Noto Sans SC"/>
              </a:rPr>
              <a:t>适用于高维特征空间的数据，通过核函数映射实现复杂边界分类，在小样本场景表现稳健。</a:t>
            </a:r>
            <a:endParaRPr lang="en-US" sz="1200" b="0" i="0" u="none" strike="noStrike">
              <a:solidFill>
                <a:srgbClr val="6B7280"/>
              </a:solidFill>
              <a:latin typeface="Noto Sans SC"/>
              <a:ea typeface="Noto Sans SC"/>
              <a:cs typeface="Noto Sans SC"/>
              <a:sym typeface="Noto Sans SC"/>
            </a:endParaRPr>
          </a:p>
        </p:txBody>
      </p:sp>
      <p:sp>
        <p:nvSpPr>
          <p:cNvPr id="19" name="AutoShape 19"/>
          <p:cNvSpPr/>
          <p:nvPr/>
        </p:nvSpPr>
        <p:spPr>
          <a:xfrm>
            <a:off x="6223000" y="1651000"/>
            <a:ext cx="5207000" cy="5016500"/>
          </a:xfrm>
          <a:prstGeom prst="roundRect">
            <a:avLst>
              <a:gd name="adj" fmla="val 3037"/>
            </a:avLst>
          </a:prstGeom>
          <a:solidFill>
            <a:srgbClr val="1E293B">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20" name="AutoShape 20"/>
          <p:cNvSpPr/>
          <p:nvPr/>
        </p:nvSpPr>
        <p:spPr>
          <a:xfrm>
            <a:off x="6477000" y="1905000"/>
            <a:ext cx="469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A7F3D0"/>
                </a:solidFill>
                <a:latin typeface="Noto Sans SC"/>
                <a:ea typeface="Noto Sans SC"/>
                <a:cs typeface="Noto Sans SC"/>
                <a:sym typeface="Noto Sans SC"/>
              </a:rPr>
              <a:t>💻 模型初始化与训练代码示例</a:t>
            </a:r>
            <a:endParaRPr lang="en-US" sz="1100"/>
          </a:p>
        </p:txBody>
      </p:sp>
      <p:sp>
        <p:nvSpPr>
          <p:cNvPr id="21" name="AutoShape 21"/>
          <p:cNvSpPr/>
          <p:nvPr/>
        </p:nvSpPr>
        <p:spPr>
          <a:xfrm>
            <a:off x="6477000" y="2667000"/>
            <a:ext cx="4699000" cy="3556000"/>
          </a:xfrm>
          <a:prstGeom prst="roundRect">
            <a:avLst>
              <a:gd name="adj" fmla="val 2857"/>
            </a:avLst>
          </a:prstGeom>
          <a:solidFill>
            <a:srgbClr val="111827">
              <a:alpha val="100000"/>
            </a:srgbClr>
          </a:solidFill>
          <a:ln w="12700" cap="flat" cmpd="sng">
            <a:solidFill>
              <a:srgbClr val="4B5563">
                <a:alpha val="100000"/>
              </a:srgbClr>
            </a:solidFill>
            <a:prstDash val="solid"/>
            <a:round/>
          </a:ln>
        </p:spPr>
        <p:txBody>
          <a:bodyPr vert="horz" wrap="square" lIns="63500" tIns="63500" rIns="63500" bIns="63500" rtlCol="0" anchor="ctr"/>
          <a:lstStyle/>
          <a:p>
            <a:pPr algn="ctr">
              <a:defRPr/>
            </a:pPr>
          </a:p>
        </p:txBody>
      </p:sp>
      <p:sp>
        <p:nvSpPr>
          <p:cNvPr id="22" name="AutoShape 22"/>
          <p:cNvSpPr/>
          <p:nvPr/>
        </p:nvSpPr>
        <p:spPr>
          <a:xfrm>
            <a:off x="6667500" y="2857500"/>
            <a:ext cx="4318000" cy="317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94A3B8"/>
                </a:solidFill>
                <a:latin typeface="Roboto Mono"/>
                <a:ea typeface="Roboto Mono"/>
                <a:cs typeface="Roboto Mono"/>
                <a:sym typeface="Roboto Mono"/>
              </a:rPr>
              <a:t># 导入所需库 (已省略)
# 初始化多种模型进行对比
models = {
 '逻辑回归': LogisticRegression(),
 '决策树': DecisionTreeClassifier(),
 '随机森林': RandomForestClassifier(),
 '支持向量机': SVC(probability=True)
}
# 批量训练所有模型
trained_models = {}
for name, model in models.items():
 print(f"开始训练: {name}...")
 model.fit(X_train, y_train)
 trained_models[name] = model</a:t>
            </a:r>
            <a:endParaRPr lang="en-US" sz="1100"/>
          </a:p>
          <a:p>
            <a:pPr indent="0" algn="l">
              <a:lnSpc>
                <a:spcPct val="125000"/>
              </a:lnSpc>
            </a:pPr>
            <a:r>
              <a:rPr lang="en-US" sz="1200" b="0" i="0" u="none" strike="noStrike">
                <a:solidFill>
                  <a:srgbClr val="94A3B8"/>
                </a:solidFill>
                <a:latin typeface="Roboto Mono"/>
                <a:ea typeface="Roboto Mono"/>
                <a:cs typeface="Roboto Mono"/>
                <a:sym typeface="Roboto Mono"/>
              </a:rPr>
              <a:t>print("所有模型训练完成!")</a:t>
            </a:r>
            <a:endParaRPr lang="en-US" sz="1200" b="0" i="0" u="none" strike="noStrike">
              <a:solidFill>
                <a:srgbClr val="94A3B8"/>
              </a:solidFill>
              <a:latin typeface="Roboto Mono"/>
              <a:ea typeface="Roboto Mono"/>
              <a:cs typeface="Roboto Mono"/>
              <a:sym typeface="Roboto Mono"/>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8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74151"/>
                </a:solidFill>
                <a:latin typeface="Noto Sans SC"/>
                <a:ea typeface="Noto Sans SC"/>
                <a:cs typeface="Noto Sans SC"/>
                <a:sym typeface="Noto Sans SC"/>
              </a:rPr>
              <a:t>04 模型构建与训练</a:t>
            </a:r>
            <a:endParaRPr lang="en-US" sz="1100"/>
          </a:p>
        </p:txBody>
      </p:sp>
      <p:sp>
        <p:nvSpPr>
          <p:cNvPr id="23" name="AutoShape 5"/>
          <p:cNvSpPr/>
          <p:nvPr/>
        </p:nvSpPr>
        <p:spPr>
          <a:xfrm>
            <a:off x="762000" y="2413000"/>
            <a:ext cx="3302000" cy="3683000"/>
          </a:xfrm>
          <a:prstGeom prst="roundRect">
            <a:avLst>
              <a:gd name="adj" fmla="val 4615"/>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24" name="AutoShape 10"/>
          <p:cNvSpPr/>
          <p:nvPr/>
        </p:nvSpPr>
        <p:spPr>
          <a:xfrm>
            <a:off x="4445000" y="2413000"/>
            <a:ext cx="3302000" cy="3683000"/>
          </a:xfrm>
          <a:prstGeom prst="roundRect">
            <a:avLst>
              <a:gd name="adj" fmla="val 4615"/>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25"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2730500"/>
            <a:ext cx="355600" cy="355600"/>
          </a:xfrm>
          <a:prstGeom prst="rect">
            <a:avLst/>
          </a:prstGeom>
        </p:spPr>
      </p:pic>
      <p:sp>
        <p:nvSpPr>
          <p:cNvPr id="26" name="AutoShape 7"/>
          <p:cNvSpPr/>
          <p:nvPr/>
        </p:nvSpPr>
        <p:spPr>
          <a:xfrm>
            <a:off x="1524000" y="2692400"/>
            <a:ext cx="2286000" cy="431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endParaRPr lang="zh-CN" altLang="en-US" sz="2000">
              <a:sym typeface="+mn-ea"/>
            </a:endParaRPr>
          </a:p>
          <a:p>
            <a:pPr indent="0" algn="l">
              <a:lnSpc>
                <a:spcPct val="125000"/>
              </a:lnSpc>
              <a:defRPr/>
            </a:pPr>
            <a:r>
              <a:rPr lang="zh-CN" altLang="en-US" sz="2000">
                <a:sym typeface="+mn-ea"/>
              </a:rPr>
              <a:t>虚拟环境建立</a:t>
            </a:r>
            <a:endParaRPr lang="zh-CN" altLang="en-US" sz="2000"/>
          </a:p>
          <a:p>
            <a:pPr indent="0" algn="l">
              <a:lnSpc>
                <a:spcPct val="125000"/>
              </a:lnSpc>
              <a:defRPr/>
            </a:pPr>
            <a:endParaRPr lang="en-US" sz="2000"/>
          </a:p>
        </p:txBody>
      </p:sp>
      <p:sp>
        <p:nvSpPr>
          <p:cNvPr id="27" name="AutoShape 8"/>
          <p:cNvSpPr/>
          <p:nvPr/>
        </p:nvSpPr>
        <p:spPr>
          <a:xfrm>
            <a:off x="952500" y="3429000"/>
            <a:ext cx="2921000" cy="1524000"/>
          </a:xfrm>
          <a:prstGeom prst="roundRect">
            <a:avLst>
              <a:gd name="adj" fmla="val 6666"/>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28" name="AutoShape 9"/>
          <p:cNvSpPr/>
          <p:nvPr/>
        </p:nvSpPr>
        <p:spPr>
          <a:xfrm>
            <a:off x="1079500" y="3619500"/>
            <a:ext cx="2667000" cy="1143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altLang="zh-CN" sz="1100"/>
              <a:t>python -m venv paddle_ocr_env</a:t>
            </a:r>
            <a:endParaRPr lang="en-US" altLang="zh-CN" sz="1100"/>
          </a:p>
        </p:txBody>
      </p:sp>
      <p:pic>
        <p:nvPicPr>
          <p:cNvPr id="29" name="Picture 11"/>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99000" y="2730500"/>
            <a:ext cx="355600" cy="355600"/>
          </a:xfrm>
          <a:prstGeom prst="rect">
            <a:avLst/>
          </a:prstGeom>
        </p:spPr>
      </p:pic>
      <p:sp>
        <p:nvSpPr>
          <p:cNvPr id="30" name="AutoShape 12"/>
          <p:cNvSpPr/>
          <p:nvPr/>
        </p:nvSpPr>
        <p:spPr>
          <a:xfrm>
            <a:off x="5207000" y="2692400"/>
            <a:ext cx="2286000" cy="431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2000"/>
              <a:t>激活虚拟环境</a:t>
            </a:r>
            <a:endParaRPr lang="zh-CN" altLang="en-US" sz="2000"/>
          </a:p>
        </p:txBody>
      </p:sp>
      <p:sp>
        <p:nvSpPr>
          <p:cNvPr id="31" name="AutoShape 13"/>
          <p:cNvSpPr/>
          <p:nvPr/>
        </p:nvSpPr>
        <p:spPr>
          <a:xfrm>
            <a:off x="4476750" y="3429000"/>
            <a:ext cx="2921000" cy="1524000"/>
          </a:xfrm>
          <a:prstGeom prst="roundRect">
            <a:avLst>
              <a:gd name="adj" fmla="val 6666"/>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32" name="AutoShape 14"/>
          <p:cNvSpPr/>
          <p:nvPr/>
        </p:nvSpPr>
        <p:spPr>
          <a:xfrm>
            <a:off x="4762500" y="3810000"/>
            <a:ext cx="2667000" cy="889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altLang="zh-CN" sz="1100"/>
              <a:t>paddle_ocr_env\Scripts\activate</a:t>
            </a:r>
            <a:endParaRPr lang="en-US" altLang="zh-CN" sz="1100"/>
          </a:p>
        </p:txBody>
      </p:sp>
      <p:sp>
        <p:nvSpPr>
          <p:cNvPr id="34" name="AutoShape 10"/>
          <p:cNvSpPr/>
          <p:nvPr/>
        </p:nvSpPr>
        <p:spPr>
          <a:xfrm>
            <a:off x="8382000" y="2413000"/>
            <a:ext cx="3302000" cy="3683000"/>
          </a:xfrm>
          <a:prstGeom prst="roundRect">
            <a:avLst>
              <a:gd name="adj" fmla="val 4615"/>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35" name="AutoShape 12"/>
          <p:cNvSpPr/>
          <p:nvPr/>
        </p:nvSpPr>
        <p:spPr>
          <a:xfrm>
            <a:off x="8636000" y="2654300"/>
            <a:ext cx="2286000" cy="431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2000"/>
              <a:t>安装</a:t>
            </a:r>
            <a:r>
              <a:rPr lang="zh-CN" altLang="en-US" sz="2000"/>
              <a:t>包</a:t>
            </a:r>
            <a:endParaRPr lang="zh-CN" altLang="en-US" sz="2000"/>
          </a:p>
        </p:txBody>
      </p:sp>
      <p:sp>
        <p:nvSpPr>
          <p:cNvPr id="39" name="AutoShape 13"/>
          <p:cNvSpPr/>
          <p:nvPr/>
        </p:nvSpPr>
        <p:spPr>
          <a:xfrm>
            <a:off x="8501380" y="3556000"/>
            <a:ext cx="2921000" cy="1524000"/>
          </a:xfrm>
          <a:prstGeom prst="roundRect">
            <a:avLst>
              <a:gd name="adj" fmla="val 6666"/>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r>
              <a:rPr lang="en-US" altLang="zh-CN"/>
              <a:t>python -m pip install scikit-learn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74151"/>
                </a:solidFill>
                <a:latin typeface="Noto Sans SC"/>
                <a:ea typeface="Noto Sans SC"/>
                <a:cs typeface="Noto Sans SC"/>
                <a:sym typeface="Noto Sans SC"/>
              </a:rPr>
              <a:t>05 模型评估与对比</a:t>
            </a:r>
            <a:endParaRPr lang="en-US" sz="1100"/>
          </a:p>
        </p:txBody>
      </p:sp>
      <p:sp>
        <p:nvSpPr>
          <p:cNvPr id="4" name="AutoShape 4"/>
          <p:cNvSpPr/>
          <p:nvPr/>
        </p:nvSpPr>
        <p:spPr>
          <a:xfrm>
            <a:off x="762000" y="1587500"/>
            <a:ext cx="10668000" cy="4826000"/>
          </a:xfrm>
          <a:prstGeom prst="roundRect">
            <a:avLst>
              <a:gd name="adj" fmla="val 3157"/>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5" name="AutoShape 5"/>
          <p:cNvSpPr/>
          <p:nvPr/>
        </p:nvSpPr>
        <p:spPr>
          <a:xfrm>
            <a:off x="1143000" y="1841500"/>
            <a:ext cx="9906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22C55E"/>
                </a:solidFill>
                <a:latin typeface="Noto Sans SC"/>
                <a:ea typeface="Noto Sans SC"/>
                <a:cs typeface="Noto Sans SC"/>
                <a:sym typeface="Noto Sans SC"/>
              </a:rPr>
              <a:t>多维度评估指标与性能对比</a:t>
            </a:r>
            <a:endParaRPr lang="en-US" sz="1100"/>
          </a:p>
        </p:txBody>
      </p:sp>
      <p:sp>
        <p:nvSpPr>
          <p:cNvPr id="6" name="AutoShape 6"/>
          <p:cNvSpPr/>
          <p:nvPr/>
        </p:nvSpPr>
        <p:spPr>
          <a:xfrm>
            <a:off x="1143000" y="2413000"/>
            <a:ext cx="9906000" cy="63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4B5563"/>
                </a:solidFill>
                <a:latin typeface="Noto Sans SC"/>
                <a:ea typeface="Noto Sans SC"/>
                <a:cs typeface="Noto Sans SC"/>
                <a:sym typeface="Noto Sans SC"/>
              </a:rPr>
              <a:t>为了全面衡量模型在分类任务中的表现，我们选取了五大核心指标：准确率(Accuracy)衡量整体正确性、精确率(Precision)关注预测为正样本的准确性、召回率(Recall)关注实际正样本的捕捉能力、F1分数兼顾精确率与召回率的平衡，以及AUC-ROC反映模型对正负样本的区分能力。</a:t>
            </a:r>
            <a:endParaRPr lang="en-US" sz="1100"/>
          </a:p>
        </p:txBody>
      </p:sp>
      <p:graphicFrame>
        <p:nvGraphicFramePr>
          <p:cNvPr id="7" name="Table 7"/>
          <p:cNvGraphicFramePr>
            <a:graphicFrameLocks noGrp="1"/>
          </p:cNvGraphicFramePr>
          <p:nvPr/>
        </p:nvGraphicFramePr>
        <p:xfrm>
          <a:off x="1143000" y="3302000"/>
          <a:ext cx="9906000" cy="2184400"/>
        </p:xfrm>
        <a:graphic>
          <a:graphicData uri="http://schemas.openxmlformats.org/drawingml/2006/table">
            <a:tbl>
              <a:tblPr>
                <a:effectLst/>
              </a:tblPr>
              <a:tblGrid>
                <a:gridCol w="1905000"/>
                <a:gridCol w="1600200"/>
                <a:gridCol w="1600200"/>
                <a:gridCol w="1600200"/>
                <a:gridCol w="1600200"/>
                <a:gridCol w="1600200"/>
              </a:tblGrid>
              <a:tr h="508000">
                <a:tc>
                  <a:txBody>
                    <a:bodyPr rtlCol="0"/>
                    <a:lstStyle/>
                    <a:p>
                      <a:pPr indent="0" algn="ctr">
                        <a:lnSpc>
                          <a:spcPct val="100000"/>
                        </a:lnSpc>
                        <a:defRPr/>
                      </a:pPr>
                      <a:r>
                        <a:rPr lang="en-US" sz="1400" b="1" i="0" u="none" strike="noStrike">
                          <a:solidFill>
                            <a:srgbClr val="FFFFFF"/>
                          </a:solidFill>
                          <a:latin typeface="Noto Sans SC"/>
                          <a:ea typeface="Noto Sans SC"/>
                          <a:cs typeface="Noto Sans SC"/>
                          <a:sym typeface="Noto Sans SC"/>
                        </a:rPr>
                        <a:t>模型算法</a:t>
                      </a:r>
                      <a:endParaRPr lang="en-US" sz="1100"/>
                    </a:p>
                  </a:txBody>
                  <a:tcPr marL="101600" marR="101600" marT="101600" marB="101600" anchor="t" anchorCtr="0">
                    <a:lnL>
                      <a:noFill/>
                    </a:lnL>
                    <a:lnR>
                      <a:noFill/>
                    </a:lnR>
                    <a:lnT>
                      <a:noFill/>
                    </a:lnT>
                    <a:lnB>
                      <a:noFill/>
                    </a:lnB>
                    <a:solidFill>
                      <a:srgbClr val="22C55E">
                        <a:alpha val="100000"/>
                      </a:srgbClr>
                    </a:solidFill>
                  </a:tcPr>
                </a:tc>
                <a:tc>
                  <a:txBody>
                    <a:bodyPr rtlCol="0"/>
                    <a:lstStyle/>
                    <a:p>
                      <a:pPr indent="0" algn="ctr">
                        <a:lnSpc>
                          <a:spcPct val="100000"/>
                        </a:lnSpc>
                        <a:defRPr/>
                      </a:pPr>
                      <a:r>
                        <a:rPr lang="en-US" sz="1400" b="1" i="0" u="none" strike="noStrike">
                          <a:solidFill>
                            <a:srgbClr val="FFFFFF"/>
                          </a:solidFill>
                          <a:latin typeface="Noto Sans SC"/>
                          <a:ea typeface="Noto Sans SC"/>
                          <a:cs typeface="Noto Sans SC"/>
                          <a:sym typeface="Noto Sans SC"/>
                        </a:rPr>
                        <a:t>准确率</a:t>
                      </a:r>
                      <a:endParaRPr lang="en-US" sz="1100"/>
                    </a:p>
                  </a:txBody>
                  <a:tcPr marL="101600" marR="101600" marT="101600" marB="101600" anchor="t" anchorCtr="0">
                    <a:lnL>
                      <a:noFill/>
                    </a:lnL>
                    <a:lnR>
                      <a:noFill/>
                    </a:lnR>
                    <a:lnT>
                      <a:noFill/>
                    </a:lnT>
                    <a:lnB>
                      <a:noFill/>
                    </a:lnB>
                    <a:solidFill>
                      <a:srgbClr val="22C55E">
                        <a:alpha val="100000"/>
                      </a:srgbClr>
                    </a:solidFill>
                  </a:tcPr>
                </a:tc>
                <a:tc>
                  <a:txBody>
                    <a:bodyPr rtlCol="0"/>
                    <a:lstStyle/>
                    <a:p>
                      <a:pPr indent="0" algn="ctr">
                        <a:lnSpc>
                          <a:spcPct val="100000"/>
                        </a:lnSpc>
                        <a:defRPr/>
                      </a:pPr>
                      <a:r>
                        <a:rPr lang="en-US" sz="1400" b="1" i="0" u="none" strike="noStrike">
                          <a:solidFill>
                            <a:srgbClr val="FFFFFF"/>
                          </a:solidFill>
                          <a:latin typeface="Noto Sans SC"/>
                          <a:ea typeface="Noto Sans SC"/>
                          <a:cs typeface="Noto Sans SC"/>
                          <a:sym typeface="Noto Sans SC"/>
                        </a:rPr>
                        <a:t>精确率</a:t>
                      </a:r>
                      <a:endParaRPr lang="en-US" sz="1100"/>
                    </a:p>
                  </a:txBody>
                  <a:tcPr marL="101600" marR="101600" marT="101600" marB="101600" anchor="t" anchorCtr="0">
                    <a:lnL>
                      <a:noFill/>
                    </a:lnL>
                    <a:lnR>
                      <a:noFill/>
                    </a:lnR>
                    <a:lnT>
                      <a:noFill/>
                    </a:lnT>
                    <a:lnB>
                      <a:noFill/>
                    </a:lnB>
                    <a:solidFill>
                      <a:srgbClr val="22C55E">
                        <a:alpha val="100000"/>
                      </a:srgbClr>
                    </a:solidFill>
                  </a:tcPr>
                </a:tc>
                <a:tc>
                  <a:txBody>
                    <a:bodyPr rtlCol="0"/>
                    <a:lstStyle/>
                    <a:p>
                      <a:pPr indent="0" algn="ctr">
                        <a:lnSpc>
                          <a:spcPct val="100000"/>
                        </a:lnSpc>
                        <a:defRPr/>
                      </a:pPr>
                      <a:r>
                        <a:rPr lang="en-US" sz="1400" b="1" i="0" u="none" strike="noStrike">
                          <a:solidFill>
                            <a:srgbClr val="FFFFFF"/>
                          </a:solidFill>
                          <a:latin typeface="Noto Sans SC"/>
                          <a:ea typeface="Noto Sans SC"/>
                          <a:cs typeface="Noto Sans SC"/>
                          <a:sym typeface="Noto Sans SC"/>
                        </a:rPr>
                        <a:t>召回率</a:t>
                      </a:r>
                      <a:endParaRPr lang="en-US" sz="1100"/>
                    </a:p>
                  </a:txBody>
                  <a:tcPr marL="101600" marR="101600" marT="101600" marB="101600" anchor="t" anchorCtr="0">
                    <a:lnL>
                      <a:noFill/>
                    </a:lnL>
                    <a:lnR>
                      <a:noFill/>
                    </a:lnR>
                    <a:lnT>
                      <a:noFill/>
                    </a:lnT>
                    <a:lnB>
                      <a:noFill/>
                    </a:lnB>
                    <a:solidFill>
                      <a:srgbClr val="22C55E">
                        <a:alpha val="100000"/>
                      </a:srgbClr>
                    </a:solidFill>
                  </a:tcPr>
                </a:tc>
                <a:tc>
                  <a:txBody>
                    <a:bodyPr rtlCol="0"/>
                    <a:lstStyle/>
                    <a:p>
                      <a:pPr indent="0" algn="ctr">
                        <a:lnSpc>
                          <a:spcPct val="100000"/>
                        </a:lnSpc>
                        <a:defRPr/>
                      </a:pPr>
                      <a:r>
                        <a:rPr lang="en-US" sz="1400" b="1" i="0" u="none" strike="noStrike">
                          <a:solidFill>
                            <a:srgbClr val="FFFFFF"/>
                          </a:solidFill>
                          <a:latin typeface="Noto Sans SC"/>
                          <a:ea typeface="Noto Sans SC"/>
                          <a:cs typeface="Noto Sans SC"/>
                          <a:sym typeface="Noto Sans SC"/>
                        </a:rPr>
                        <a:t>F1 分数</a:t>
                      </a:r>
                      <a:endParaRPr lang="en-US" sz="1100"/>
                    </a:p>
                  </a:txBody>
                  <a:tcPr marL="101600" marR="101600" marT="101600" marB="101600" anchor="t" anchorCtr="0">
                    <a:lnL>
                      <a:noFill/>
                    </a:lnL>
                    <a:lnR>
                      <a:noFill/>
                    </a:lnR>
                    <a:lnT>
                      <a:noFill/>
                    </a:lnT>
                    <a:lnB>
                      <a:noFill/>
                    </a:lnB>
                    <a:solidFill>
                      <a:srgbClr val="22C55E">
                        <a:alpha val="100000"/>
                      </a:srgbClr>
                    </a:solidFill>
                  </a:tcPr>
                </a:tc>
                <a:tc>
                  <a:txBody>
                    <a:bodyPr rtlCol="0"/>
                    <a:lstStyle/>
                    <a:p>
                      <a:pPr indent="0" algn="ctr">
                        <a:lnSpc>
                          <a:spcPct val="100000"/>
                        </a:lnSpc>
                        <a:defRPr/>
                      </a:pPr>
                      <a:r>
                        <a:rPr lang="en-US" sz="1400" b="1" i="0" u="none" strike="noStrike">
                          <a:solidFill>
                            <a:srgbClr val="FFFFFF"/>
                          </a:solidFill>
                          <a:latin typeface="Noto Sans SC"/>
                          <a:ea typeface="Noto Sans SC"/>
                          <a:cs typeface="Noto Sans SC"/>
                          <a:sym typeface="Noto Sans SC"/>
                        </a:rPr>
                        <a:t>AUC-ROC</a:t>
                      </a:r>
                      <a:endParaRPr lang="en-US" sz="1100"/>
                    </a:p>
                  </a:txBody>
                  <a:tcPr marL="101600" marR="101600" marT="101600" marB="101600" anchor="t" anchorCtr="0">
                    <a:lnL>
                      <a:noFill/>
                    </a:lnL>
                    <a:lnR>
                      <a:noFill/>
                    </a:lnR>
                    <a:lnT>
                      <a:noFill/>
                    </a:lnT>
                    <a:lnB>
                      <a:noFill/>
                    </a:lnB>
                    <a:solidFill>
                      <a:srgbClr val="22C55E">
                        <a:alpha val="100000"/>
                      </a:srgbClr>
                    </a:solidFill>
                  </a:tcPr>
                </a:tc>
              </a:tr>
              <a:tr h="406400">
                <a:tc>
                  <a:txBody>
                    <a:bodyPr rtlCol="0"/>
                    <a:lstStyle/>
                    <a:p>
                      <a:pPr indent="0" algn="ctr">
                        <a:lnSpc>
                          <a:spcPct val="100000"/>
                        </a:lnSpc>
                        <a:defRPr/>
                      </a:pPr>
                      <a:r>
                        <a:rPr lang="en-US" sz="1300" b="0" i="0" u="none" strike="noStrike">
                          <a:solidFill>
                            <a:srgbClr val="374151"/>
                          </a:solidFill>
                          <a:latin typeface="Noto Sans SC"/>
                          <a:ea typeface="Noto Sans SC"/>
                          <a:cs typeface="Noto Sans SC"/>
                          <a:sym typeface="Noto Sans SC"/>
                        </a:rPr>
                        <a:t>逻辑回归 (LR)</a:t>
                      </a:r>
                      <a:endParaRPr lang="en-US" sz="1100"/>
                    </a:p>
                  </a:txBody>
                  <a:tcPr marL="101600" marR="101600" marT="101600" marB="101600" anchor="t" anchorCtr="0">
                    <a:lnL>
                      <a:noFill/>
                    </a:lnL>
                    <a:lnR>
                      <a:noFill/>
                    </a:lnR>
                    <a:lnT>
                      <a:noFill/>
                    </a:lnT>
                    <a:lnB>
                      <a:noFill/>
                    </a:lnB>
                    <a:solidFill>
                      <a:srgbClr val="F9FAFB">
                        <a:alpha val="100000"/>
                      </a:srgbClr>
                    </a:solidFill>
                  </a:tcPr>
                </a:tc>
                <a:tc>
                  <a:txBody>
                    <a:bodyPr rtlCol="0"/>
                    <a:lstStyle/>
                    <a:p>
                      <a:pPr indent="0" algn="ctr">
                        <a:lnSpc>
                          <a:spcPct val="100000"/>
                        </a:lnSpc>
                        <a:defRPr/>
                      </a:pPr>
                      <a:r>
                        <a:rPr lang="en-US" sz="1300" b="0" i="0" u="none" strike="noStrike">
                          <a:solidFill>
                            <a:srgbClr val="374151"/>
                          </a:solidFill>
                          <a:latin typeface="Noto Sans SC"/>
                          <a:ea typeface="Noto Sans SC"/>
                          <a:cs typeface="Noto Sans SC"/>
                          <a:sym typeface="Noto Sans SC"/>
                        </a:rPr>
                        <a:t>0.79</a:t>
                      </a:r>
                      <a:endParaRPr lang="en-US" sz="1100"/>
                    </a:p>
                  </a:txBody>
                  <a:tcPr marL="101600" marR="101600" marT="101600" marB="101600" anchor="t" anchorCtr="0">
                    <a:lnL>
                      <a:noFill/>
                    </a:lnL>
                    <a:lnR>
                      <a:noFill/>
                    </a:lnR>
                    <a:lnT>
                      <a:noFill/>
                    </a:lnT>
                    <a:lnB>
                      <a:noFill/>
                    </a:lnB>
                    <a:solidFill>
                      <a:srgbClr val="F9FAFB">
                        <a:alpha val="100000"/>
                      </a:srgbClr>
                    </a:solidFill>
                  </a:tcPr>
                </a:tc>
                <a:tc>
                  <a:txBody>
                    <a:bodyPr rtlCol="0"/>
                    <a:lstStyle/>
                    <a:p>
                      <a:pPr indent="0" algn="ctr">
                        <a:lnSpc>
                          <a:spcPct val="100000"/>
                        </a:lnSpc>
                        <a:defRPr/>
                      </a:pPr>
                      <a:r>
                        <a:rPr lang="en-US" sz="1300" b="0" i="0" u="none" strike="noStrike">
                          <a:solidFill>
                            <a:srgbClr val="374151"/>
                          </a:solidFill>
                          <a:latin typeface="Noto Sans SC"/>
                          <a:ea typeface="Noto Sans SC"/>
                          <a:cs typeface="Noto Sans SC"/>
                          <a:sym typeface="Noto Sans SC"/>
                        </a:rPr>
                        <a:t>0.73</a:t>
                      </a:r>
                      <a:endParaRPr lang="en-US" sz="1100"/>
                    </a:p>
                  </a:txBody>
                  <a:tcPr marL="101600" marR="101600" marT="101600" marB="101600" anchor="t" anchorCtr="0">
                    <a:lnL>
                      <a:noFill/>
                    </a:lnL>
                    <a:lnR>
                      <a:noFill/>
                    </a:lnR>
                    <a:lnT>
                      <a:noFill/>
                    </a:lnT>
                    <a:lnB>
                      <a:noFill/>
                    </a:lnB>
                    <a:solidFill>
                      <a:srgbClr val="F9FAFB">
                        <a:alpha val="100000"/>
                      </a:srgbClr>
                    </a:solidFill>
                  </a:tcPr>
                </a:tc>
                <a:tc>
                  <a:txBody>
                    <a:bodyPr rtlCol="0"/>
                    <a:lstStyle/>
                    <a:p>
                      <a:pPr indent="0" algn="ctr">
                        <a:lnSpc>
                          <a:spcPct val="100000"/>
                        </a:lnSpc>
                        <a:defRPr/>
                      </a:pPr>
                      <a:r>
                        <a:rPr lang="en-US" sz="1300" b="0" i="0" u="none" strike="noStrike">
                          <a:solidFill>
                            <a:srgbClr val="374151"/>
                          </a:solidFill>
                          <a:latin typeface="Noto Sans SC"/>
                          <a:ea typeface="Noto Sans SC"/>
                          <a:cs typeface="Noto Sans SC"/>
                          <a:sym typeface="Noto Sans SC"/>
                        </a:rPr>
                        <a:t>0.65</a:t>
                      </a:r>
                      <a:endParaRPr lang="en-US" sz="1100"/>
                    </a:p>
                  </a:txBody>
                  <a:tcPr marL="101600" marR="101600" marT="101600" marB="101600" anchor="t" anchorCtr="0">
                    <a:lnL>
                      <a:noFill/>
                    </a:lnL>
                    <a:lnR>
                      <a:noFill/>
                    </a:lnR>
                    <a:lnT>
                      <a:noFill/>
                    </a:lnT>
                    <a:lnB>
                      <a:noFill/>
                    </a:lnB>
                    <a:solidFill>
                      <a:srgbClr val="F9FAFB">
                        <a:alpha val="100000"/>
                      </a:srgbClr>
                    </a:solidFill>
                  </a:tcPr>
                </a:tc>
                <a:tc>
                  <a:txBody>
                    <a:bodyPr rtlCol="0"/>
                    <a:lstStyle/>
                    <a:p>
                      <a:pPr indent="0" algn="ctr">
                        <a:lnSpc>
                          <a:spcPct val="100000"/>
                        </a:lnSpc>
                        <a:defRPr/>
                      </a:pPr>
                      <a:r>
                        <a:rPr lang="en-US" sz="1300" b="0" i="0" u="none" strike="noStrike">
                          <a:solidFill>
                            <a:srgbClr val="374151"/>
                          </a:solidFill>
                          <a:latin typeface="Noto Sans SC"/>
                          <a:ea typeface="Noto Sans SC"/>
                          <a:cs typeface="Noto Sans SC"/>
                          <a:sym typeface="Noto Sans SC"/>
                        </a:rPr>
                        <a:t>0.69</a:t>
                      </a:r>
                      <a:endParaRPr lang="en-US" sz="1100"/>
                    </a:p>
                  </a:txBody>
                  <a:tcPr marL="101600" marR="101600" marT="101600" marB="101600" anchor="t" anchorCtr="0">
                    <a:lnL>
                      <a:noFill/>
                    </a:lnL>
                    <a:lnR>
                      <a:noFill/>
                    </a:lnR>
                    <a:lnT>
                      <a:noFill/>
                    </a:lnT>
                    <a:lnB>
                      <a:noFill/>
                    </a:lnB>
                    <a:solidFill>
                      <a:srgbClr val="F9FAFB">
                        <a:alpha val="100000"/>
                      </a:srgbClr>
                    </a:solidFill>
                  </a:tcPr>
                </a:tc>
                <a:tc>
                  <a:txBody>
                    <a:bodyPr rtlCol="0"/>
                    <a:lstStyle/>
                    <a:p>
                      <a:pPr indent="0" algn="ctr">
                        <a:lnSpc>
                          <a:spcPct val="100000"/>
                        </a:lnSpc>
                        <a:defRPr/>
                      </a:pPr>
                      <a:r>
                        <a:rPr lang="en-US" sz="1300" b="0" i="0" u="none" strike="noStrike">
                          <a:solidFill>
                            <a:srgbClr val="374151"/>
                          </a:solidFill>
                          <a:latin typeface="Noto Sans SC"/>
                          <a:ea typeface="Noto Sans SC"/>
                          <a:cs typeface="Noto Sans SC"/>
                          <a:sym typeface="Noto Sans SC"/>
                        </a:rPr>
                        <a:t>0.84</a:t>
                      </a:r>
                      <a:endParaRPr lang="en-US" sz="1100"/>
                    </a:p>
                  </a:txBody>
                  <a:tcPr marL="101600" marR="101600" marT="101600" marB="101600" anchor="t" anchorCtr="0">
                    <a:lnL>
                      <a:noFill/>
                    </a:lnL>
                    <a:lnR>
                      <a:noFill/>
                    </a:lnR>
                    <a:lnT>
                      <a:noFill/>
                    </a:lnT>
                    <a:lnB>
                      <a:noFill/>
                    </a:lnB>
                    <a:solidFill>
                      <a:srgbClr val="F9FAFB">
                        <a:alpha val="100000"/>
                      </a:srgbClr>
                    </a:solidFill>
                  </a:tcPr>
                </a:tc>
              </a:tr>
              <a:tr h="406400">
                <a:tc>
                  <a:txBody>
                    <a:bodyPr rtlCol="0"/>
                    <a:lstStyle/>
                    <a:p>
                      <a:pPr indent="0" algn="ctr">
                        <a:lnSpc>
                          <a:spcPct val="100000"/>
                        </a:lnSpc>
                        <a:defRPr/>
                      </a:pPr>
                      <a:r>
                        <a:rPr lang="en-US" sz="1300" b="0" i="0" u="none" strike="noStrike">
                          <a:solidFill>
                            <a:srgbClr val="374151"/>
                          </a:solidFill>
                          <a:latin typeface="Noto Sans SC"/>
                          <a:ea typeface="Noto Sans SC"/>
                          <a:cs typeface="Noto Sans SC"/>
                          <a:sym typeface="Noto Sans SC"/>
                        </a:rPr>
                        <a:t>决策树 (DT)</a:t>
                      </a:r>
                      <a:endParaRPr lang="en-US" sz="1100"/>
                    </a:p>
                  </a:txBody>
                  <a:tcPr marL="101600" marR="101600" marT="101600" marB="101600" anchor="t" anchorCtr="0">
                    <a:lnL>
                      <a:noFill/>
                    </a:lnL>
                    <a:lnR>
                      <a:noFill/>
                    </a:lnR>
                    <a:lnT>
                      <a:noFill/>
                    </a:lnT>
                    <a:lnB>
                      <a:noFill/>
                    </a:lnB>
                    <a:solidFill>
                      <a:srgbClr val="FFFFFF">
                        <a:alpha val="100000"/>
                      </a:srgbClr>
                    </a:solidFill>
                  </a:tcPr>
                </a:tc>
                <a:tc>
                  <a:txBody>
                    <a:bodyPr rtlCol="0"/>
                    <a:lstStyle/>
                    <a:p>
                      <a:pPr indent="0" algn="ctr">
                        <a:lnSpc>
                          <a:spcPct val="100000"/>
                        </a:lnSpc>
                        <a:defRPr/>
                      </a:pPr>
                      <a:r>
                        <a:rPr lang="en-US" sz="1300" b="0" i="0" u="none" strike="noStrike">
                          <a:solidFill>
                            <a:srgbClr val="374151"/>
                          </a:solidFill>
                          <a:latin typeface="Noto Sans SC"/>
                          <a:ea typeface="Noto Sans SC"/>
                          <a:cs typeface="Noto Sans SC"/>
                          <a:sym typeface="Noto Sans SC"/>
                        </a:rPr>
                        <a:t>0.74</a:t>
                      </a:r>
                      <a:endParaRPr lang="en-US" sz="1100"/>
                    </a:p>
                  </a:txBody>
                  <a:tcPr marL="101600" marR="101600" marT="101600" marB="101600" anchor="t" anchorCtr="0">
                    <a:lnL>
                      <a:noFill/>
                    </a:lnL>
                    <a:lnR>
                      <a:noFill/>
                    </a:lnR>
                    <a:lnT>
                      <a:noFill/>
                    </a:lnT>
                    <a:lnB>
                      <a:noFill/>
                    </a:lnB>
                    <a:solidFill>
                      <a:srgbClr val="FFFFFF">
                        <a:alpha val="100000"/>
                      </a:srgbClr>
                    </a:solidFill>
                  </a:tcPr>
                </a:tc>
                <a:tc>
                  <a:txBody>
                    <a:bodyPr rtlCol="0"/>
                    <a:lstStyle/>
                    <a:p>
                      <a:pPr indent="0" algn="ctr">
                        <a:lnSpc>
                          <a:spcPct val="100000"/>
                        </a:lnSpc>
                        <a:defRPr/>
                      </a:pPr>
                      <a:r>
                        <a:rPr lang="en-US" sz="1300" b="0" i="0" u="none" strike="noStrike">
                          <a:solidFill>
                            <a:srgbClr val="374151"/>
                          </a:solidFill>
                          <a:latin typeface="Noto Sans SC"/>
                          <a:ea typeface="Noto Sans SC"/>
                          <a:cs typeface="Noto Sans SC"/>
                          <a:sym typeface="Noto Sans SC"/>
                        </a:rPr>
                        <a:t>0.64</a:t>
                      </a:r>
                      <a:endParaRPr lang="en-US" sz="1100"/>
                    </a:p>
                  </a:txBody>
                  <a:tcPr marL="101600" marR="101600" marT="101600" marB="101600" anchor="t" anchorCtr="0">
                    <a:lnL>
                      <a:noFill/>
                    </a:lnL>
                    <a:lnR>
                      <a:noFill/>
                    </a:lnR>
                    <a:lnT>
                      <a:noFill/>
                    </a:lnT>
                    <a:lnB>
                      <a:noFill/>
                    </a:lnB>
                    <a:solidFill>
                      <a:srgbClr val="FFFFFF">
                        <a:alpha val="100000"/>
                      </a:srgbClr>
                    </a:solidFill>
                  </a:tcPr>
                </a:tc>
                <a:tc>
                  <a:txBody>
                    <a:bodyPr rtlCol="0"/>
                    <a:lstStyle/>
                    <a:p>
                      <a:pPr indent="0" algn="ctr">
                        <a:lnSpc>
                          <a:spcPct val="100000"/>
                        </a:lnSpc>
                        <a:defRPr/>
                      </a:pPr>
                      <a:r>
                        <a:rPr lang="en-US" sz="1300" b="0" i="0" u="none" strike="noStrike">
                          <a:solidFill>
                            <a:srgbClr val="374151"/>
                          </a:solidFill>
                          <a:latin typeface="Noto Sans SC"/>
                          <a:ea typeface="Noto Sans SC"/>
                          <a:cs typeface="Noto Sans SC"/>
                          <a:sym typeface="Noto Sans SC"/>
                        </a:rPr>
                        <a:t>0.61</a:t>
                      </a:r>
                      <a:endParaRPr lang="en-US" sz="1100"/>
                    </a:p>
                  </a:txBody>
                  <a:tcPr marL="101600" marR="101600" marT="101600" marB="101600" anchor="t" anchorCtr="0">
                    <a:lnL>
                      <a:noFill/>
                    </a:lnL>
                    <a:lnR>
                      <a:noFill/>
                    </a:lnR>
                    <a:lnT>
                      <a:noFill/>
                    </a:lnT>
                    <a:lnB>
                      <a:noFill/>
                    </a:lnB>
                    <a:solidFill>
                      <a:srgbClr val="FFFFFF">
                        <a:alpha val="100000"/>
                      </a:srgbClr>
                    </a:solidFill>
                  </a:tcPr>
                </a:tc>
                <a:tc>
                  <a:txBody>
                    <a:bodyPr rtlCol="0"/>
                    <a:lstStyle/>
                    <a:p>
                      <a:pPr indent="0" algn="ctr">
                        <a:lnSpc>
                          <a:spcPct val="100000"/>
                        </a:lnSpc>
                        <a:defRPr/>
                      </a:pPr>
                      <a:r>
                        <a:rPr lang="en-US" sz="1300" b="0" i="0" u="none" strike="noStrike">
                          <a:solidFill>
                            <a:srgbClr val="374151"/>
                          </a:solidFill>
                          <a:latin typeface="Noto Sans SC"/>
                          <a:ea typeface="Noto Sans SC"/>
                          <a:cs typeface="Noto Sans SC"/>
                          <a:sym typeface="Noto Sans SC"/>
                        </a:rPr>
                        <a:t>0.62</a:t>
                      </a:r>
                      <a:endParaRPr lang="en-US" sz="1100"/>
                    </a:p>
                  </a:txBody>
                  <a:tcPr marL="101600" marR="101600" marT="101600" marB="101600" anchor="t" anchorCtr="0">
                    <a:lnL>
                      <a:noFill/>
                    </a:lnL>
                    <a:lnR>
                      <a:noFill/>
                    </a:lnR>
                    <a:lnT>
                      <a:noFill/>
                    </a:lnT>
                    <a:lnB>
                      <a:noFill/>
                    </a:lnB>
                    <a:solidFill>
                      <a:srgbClr val="FFFFFF">
                        <a:alpha val="100000"/>
                      </a:srgbClr>
                    </a:solidFill>
                  </a:tcPr>
                </a:tc>
                <a:tc>
                  <a:txBody>
                    <a:bodyPr rtlCol="0"/>
                    <a:lstStyle/>
                    <a:p>
                      <a:pPr indent="0" algn="ctr">
                        <a:lnSpc>
                          <a:spcPct val="100000"/>
                        </a:lnSpc>
                        <a:defRPr/>
                      </a:pPr>
                      <a:r>
                        <a:rPr lang="en-US" sz="1300" b="0" i="0" u="none" strike="noStrike">
                          <a:solidFill>
                            <a:srgbClr val="374151"/>
                          </a:solidFill>
                          <a:latin typeface="Noto Sans SC"/>
                          <a:ea typeface="Noto Sans SC"/>
                          <a:cs typeface="Noto Sans SC"/>
                          <a:sym typeface="Noto Sans SC"/>
                        </a:rPr>
                        <a:t>0.73</a:t>
                      </a:r>
                      <a:endParaRPr lang="en-US" sz="1100"/>
                    </a:p>
                  </a:txBody>
                  <a:tcPr marL="101600" marR="101600" marT="101600" marB="101600" anchor="t" anchorCtr="0">
                    <a:lnL>
                      <a:noFill/>
                    </a:lnL>
                    <a:lnR>
                      <a:noFill/>
                    </a:lnR>
                    <a:lnT>
                      <a:noFill/>
                    </a:lnT>
                    <a:lnB>
                      <a:noFill/>
                    </a:lnB>
                    <a:solidFill>
                      <a:srgbClr val="FFFFFF">
                        <a:alpha val="100000"/>
                      </a:srgbClr>
                    </a:solidFill>
                  </a:tcPr>
                </a:tc>
              </a:tr>
              <a:tr h="457200">
                <a:tc>
                  <a:txBody>
                    <a:bodyPr rtlCol="0"/>
                    <a:lstStyle/>
                    <a:p>
                      <a:pPr indent="0" algn="ctr">
                        <a:lnSpc>
                          <a:spcPct val="100000"/>
                        </a:lnSpc>
                        <a:defRPr/>
                      </a:pPr>
                      <a:r>
                        <a:rPr lang="en-US" sz="1400" b="1" i="0" u="none" strike="noStrike">
                          <a:solidFill>
                            <a:srgbClr val="15803D"/>
                          </a:solidFill>
                          <a:latin typeface="Noto Sans SC"/>
                          <a:ea typeface="Noto Sans SC"/>
                          <a:cs typeface="Noto Sans SC"/>
                          <a:sym typeface="Noto Sans SC"/>
                        </a:rPr>
                        <a:t>随机森林 (RF)</a:t>
                      </a:r>
                      <a:endParaRPr lang="en-US" sz="1100"/>
                    </a:p>
                  </a:txBody>
                  <a:tcPr marL="101600" marR="101600" marT="101600" marB="101600" anchor="t" anchorCtr="0">
                    <a:lnL>
                      <a:noFill/>
                    </a:lnL>
                    <a:lnR>
                      <a:noFill/>
                    </a:lnR>
                    <a:lnT>
                      <a:noFill/>
                    </a:lnT>
                    <a:lnB w="25400" cap="flat" cmpd="sng" algn="ctr">
                      <a:solidFill>
                        <a:srgbClr val="22C55E"/>
                      </a:solidFill>
                      <a:prstDash val="solid"/>
                      <a:round/>
                      <a:headEnd type="none" w="med" len="med"/>
                      <a:tailEnd type="none" w="med" len="med"/>
                    </a:lnB>
                    <a:solidFill>
                      <a:srgbClr val="DCFCE7">
                        <a:alpha val="100000"/>
                      </a:srgbClr>
                    </a:solidFill>
                  </a:tcPr>
                </a:tc>
                <a:tc>
                  <a:txBody>
                    <a:bodyPr rtlCol="0"/>
                    <a:lstStyle/>
                    <a:p>
                      <a:pPr indent="0" algn="ctr">
                        <a:lnSpc>
                          <a:spcPct val="100000"/>
                        </a:lnSpc>
                        <a:defRPr/>
                      </a:pPr>
                      <a:r>
                        <a:rPr lang="en-US" sz="1400" b="1" i="0" u="none" strike="noStrike">
                          <a:solidFill>
                            <a:srgbClr val="15803D"/>
                          </a:solidFill>
                          <a:latin typeface="Noto Sans SC"/>
                          <a:ea typeface="Noto Sans SC"/>
                          <a:cs typeface="Noto Sans SC"/>
                          <a:sym typeface="Noto Sans SC"/>
                        </a:rPr>
                        <a:t>0.82 🥇</a:t>
                      </a:r>
                      <a:endParaRPr lang="en-US" sz="1100"/>
                    </a:p>
                  </a:txBody>
                  <a:tcPr marL="101600" marR="101600" marT="101600" marB="101600" anchor="t" anchorCtr="0">
                    <a:lnL>
                      <a:noFill/>
                    </a:lnL>
                    <a:lnR>
                      <a:noFill/>
                    </a:lnR>
                    <a:lnT>
                      <a:noFill/>
                    </a:lnT>
                    <a:lnB w="25400" cap="flat" cmpd="sng" algn="ctr">
                      <a:solidFill>
                        <a:srgbClr val="22C55E"/>
                      </a:solidFill>
                      <a:prstDash val="solid"/>
                      <a:round/>
                      <a:headEnd type="none" w="med" len="med"/>
                      <a:tailEnd type="none" w="med" len="med"/>
                    </a:lnB>
                    <a:solidFill>
                      <a:srgbClr val="DCFCE7">
                        <a:alpha val="100000"/>
                      </a:srgbClr>
                    </a:solidFill>
                  </a:tcPr>
                </a:tc>
                <a:tc>
                  <a:txBody>
                    <a:bodyPr rtlCol="0"/>
                    <a:lstStyle/>
                    <a:p>
                      <a:pPr indent="0" algn="ctr">
                        <a:lnSpc>
                          <a:spcPct val="100000"/>
                        </a:lnSpc>
                        <a:defRPr/>
                      </a:pPr>
                      <a:r>
                        <a:rPr lang="en-US" sz="1400" b="1" i="0" u="none" strike="noStrike">
                          <a:solidFill>
                            <a:srgbClr val="15803D"/>
                          </a:solidFill>
                          <a:latin typeface="Noto Sans SC"/>
                          <a:ea typeface="Noto Sans SC"/>
                          <a:cs typeface="Noto Sans SC"/>
                          <a:sym typeface="Noto Sans SC"/>
                        </a:rPr>
                        <a:t>0.78 🥇</a:t>
                      </a:r>
                      <a:endParaRPr lang="en-US" sz="1100"/>
                    </a:p>
                  </a:txBody>
                  <a:tcPr marL="101600" marR="101600" marT="101600" marB="101600" anchor="t" anchorCtr="0">
                    <a:lnL>
                      <a:noFill/>
                    </a:lnL>
                    <a:lnR>
                      <a:noFill/>
                    </a:lnR>
                    <a:lnT>
                      <a:noFill/>
                    </a:lnT>
                    <a:lnB w="25400" cap="flat" cmpd="sng" algn="ctr">
                      <a:solidFill>
                        <a:srgbClr val="22C55E"/>
                      </a:solidFill>
                      <a:prstDash val="solid"/>
                      <a:round/>
                      <a:headEnd type="none" w="med" len="med"/>
                      <a:tailEnd type="none" w="med" len="med"/>
                    </a:lnB>
                    <a:solidFill>
                      <a:srgbClr val="DCFCE7">
                        <a:alpha val="100000"/>
                      </a:srgbClr>
                    </a:solidFill>
                  </a:tcPr>
                </a:tc>
                <a:tc>
                  <a:txBody>
                    <a:bodyPr rtlCol="0"/>
                    <a:lstStyle/>
                    <a:p>
                      <a:pPr indent="0" algn="ctr">
                        <a:lnSpc>
                          <a:spcPct val="100000"/>
                        </a:lnSpc>
                        <a:defRPr/>
                      </a:pPr>
                      <a:r>
                        <a:rPr lang="en-US" sz="1400" b="1" i="0" u="none" strike="noStrike">
                          <a:solidFill>
                            <a:srgbClr val="15803D"/>
                          </a:solidFill>
                          <a:latin typeface="Noto Sans SC"/>
                          <a:ea typeface="Noto Sans SC"/>
                          <a:cs typeface="Noto Sans SC"/>
                          <a:sym typeface="Noto Sans SC"/>
                        </a:rPr>
                        <a:t>0.70 🥇</a:t>
                      </a:r>
                      <a:endParaRPr lang="en-US" sz="1100"/>
                    </a:p>
                  </a:txBody>
                  <a:tcPr marL="101600" marR="101600" marT="101600" marB="101600" anchor="t" anchorCtr="0">
                    <a:lnL>
                      <a:noFill/>
                    </a:lnL>
                    <a:lnR>
                      <a:noFill/>
                    </a:lnR>
                    <a:lnT>
                      <a:noFill/>
                    </a:lnT>
                    <a:lnB w="25400" cap="flat" cmpd="sng" algn="ctr">
                      <a:solidFill>
                        <a:srgbClr val="22C55E"/>
                      </a:solidFill>
                      <a:prstDash val="solid"/>
                      <a:round/>
                      <a:headEnd type="none" w="med" len="med"/>
                      <a:tailEnd type="none" w="med" len="med"/>
                    </a:lnB>
                    <a:solidFill>
                      <a:srgbClr val="DCFCE7">
                        <a:alpha val="100000"/>
                      </a:srgbClr>
                    </a:solidFill>
                  </a:tcPr>
                </a:tc>
                <a:tc>
                  <a:txBody>
                    <a:bodyPr rtlCol="0"/>
                    <a:lstStyle/>
                    <a:p>
                      <a:pPr indent="0" algn="ctr">
                        <a:lnSpc>
                          <a:spcPct val="100000"/>
                        </a:lnSpc>
                        <a:defRPr/>
                      </a:pPr>
                      <a:r>
                        <a:rPr lang="en-US" sz="1400" b="1" i="0" u="none" strike="noStrike">
                          <a:solidFill>
                            <a:srgbClr val="15803D"/>
                          </a:solidFill>
                          <a:latin typeface="Noto Sans SC"/>
                          <a:ea typeface="Noto Sans SC"/>
                          <a:cs typeface="Noto Sans SC"/>
                          <a:sym typeface="Noto Sans SC"/>
                        </a:rPr>
                        <a:t>0.74 🥇</a:t>
                      </a:r>
                      <a:endParaRPr lang="en-US" sz="1100"/>
                    </a:p>
                  </a:txBody>
                  <a:tcPr marL="101600" marR="101600" marT="101600" marB="101600" anchor="t" anchorCtr="0">
                    <a:lnL>
                      <a:noFill/>
                    </a:lnL>
                    <a:lnR>
                      <a:noFill/>
                    </a:lnR>
                    <a:lnT>
                      <a:noFill/>
                    </a:lnT>
                    <a:lnB w="25400" cap="flat" cmpd="sng" algn="ctr">
                      <a:solidFill>
                        <a:srgbClr val="22C55E"/>
                      </a:solidFill>
                      <a:prstDash val="solid"/>
                      <a:round/>
                      <a:headEnd type="none" w="med" len="med"/>
                      <a:tailEnd type="none" w="med" len="med"/>
                    </a:lnB>
                    <a:solidFill>
                      <a:srgbClr val="DCFCE7">
                        <a:alpha val="100000"/>
                      </a:srgbClr>
                    </a:solidFill>
                  </a:tcPr>
                </a:tc>
                <a:tc>
                  <a:txBody>
                    <a:bodyPr rtlCol="0"/>
                    <a:lstStyle/>
                    <a:p>
                      <a:pPr indent="0" algn="ctr">
                        <a:lnSpc>
                          <a:spcPct val="100000"/>
                        </a:lnSpc>
                        <a:defRPr/>
                      </a:pPr>
                      <a:r>
                        <a:rPr lang="en-US" sz="1400" b="1" i="0" u="none" strike="noStrike">
                          <a:solidFill>
                            <a:srgbClr val="15803D"/>
                          </a:solidFill>
                          <a:latin typeface="Noto Sans SC"/>
                          <a:ea typeface="Noto Sans SC"/>
                          <a:cs typeface="Noto Sans SC"/>
                          <a:sym typeface="Noto Sans SC"/>
                        </a:rPr>
                        <a:t>0.88 🥇</a:t>
                      </a:r>
                      <a:endParaRPr lang="en-US" sz="1100"/>
                    </a:p>
                  </a:txBody>
                  <a:tcPr marL="101600" marR="101600" marT="101600" marB="101600" anchor="t" anchorCtr="0">
                    <a:lnL>
                      <a:noFill/>
                    </a:lnL>
                    <a:lnR>
                      <a:noFill/>
                    </a:lnR>
                    <a:lnT>
                      <a:noFill/>
                    </a:lnT>
                    <a:lnB w="25400" cap="flat" cmpd="sng" algn="ctr">
                      <a:solidFill>
                        <a:srgbClr val="22C55E"/>
                      </a:solidFill>
                      <a:prstDash val="solid"/>
                      <a:round/>
                      <a:headEnd type="none" w="med" len="med"/>
                      <a:tailEnd type="none" w="med" len="med"/>
                    </a:lnB>
                    <a:solidFill>
                      <a:srgbClr val="DCFCE7">
                        <a:alpha val="100000"/>
                      </a:srgbClr>
                    </a:solidFill>
                  </a:tcPr>
                </a:tc>
              </a:tr>
              <a:tr h="406400">
                <a:tc>
                  <a:txBody>
                    <a:bodyPr rtlCol="0"/>
                    <a:lstStyle/>
                    <a:p>
                      <a:pPr indent="0" algn="ctr">
                        <a:lnSpc>
                          <a:spcPct val="100000"/>
                        </a:lnSpc>
                        <a:defRPr/>
                      </a:pPr>
                      <a:r>
                        <a:rPr lang="en-US" sz="1300" b="0" i="0" u="none" strike="noStrike">
                          <a:solidFill>
                            <a:srgbClr val="374151"/>
                          </a:solidFill>
                          <a:latin typeface="Noto Sans SC"/>
                          <a:ea typeface="Noto Sans SC"/>
                          <a:cs typeface="Noto Sans SC"/>
                          <a:sym typeface="Noto Sans SC"/>
                        </a:rPr>
                        <a:t>支持向量机 (SVM)</a:t>
                      </a:r>
                      <a:endParaRPr lang="en-US" sz="1100"/>
                    </a:p>
                  </a:txBody>
                  <a:tcPr marL="101600" marR="101600" marT="101600" marB="101600" anchor="t" anchorCtr="0">
                    <a:lnL>
                      <a:noFill/>
                    </a:lnL>
                    <a:lnR>
                      <a:noFill/>
                    </a:lnR>
                    <a:lnT w="25400" cap="flat" cmpd="sng" algn="ctr">
                      <a:solidFill>
                        <a:srgbClr val="22C55E"/>
                      </a:solidFill>
                      <a:prstDash val="solid"/>
                      <a:round/>
                      <a:headEnd type="none" w="med" len="med"/>
                      <a:tailEnd type="none" w="med" len="med"/>
                    </a:lnT>
                    <a:lnB>
                      <a:noFill/>
                    </a:lnB>
                    <a:solidFill>
                      <a:srgbClr val="F9FAFB">
                        <a:alpha val="100000"/>
                      </a:srgbClr>
                    </a:solidFill>
                  </a:tcPr>
                </a:tc>
                <a:tc>
                  <a:txBody>
                    <a:bodyPr rtlCol="0"/>
                    <a:lstStyle/>
                    <a:p>
                      <a:pPr indent="0" algn="ctr">
                        <a:lnSpc>
                          <a:spcPct val="100000"/>
                        </a:lnSpc>
                        <a:defRPr/>
                      </a:pPr>
                      <a:r>
                        <a:rPr lang="en-US" sz="1300" b="0" i="0" u="none" strike="noStrike">
                          <a:solidFill>
                            <a:srgbClr val="374151"/>
                          </a:solidFill>
                          <a:latin typeface="Noto Sans SC"/>
                          <a:ea typeface="Noto Sans SC"/>
                          <a:cs typeface="Noto Sans SC"/>
                          <a:sym typeface="Noto Sans SC"/>
                        </a:rPr>
                        <a:t>0.81</a:t>
                      </a:r>
                      <a:endParaRPr lang="en-US" sz="1100"/>
                    </a:p>
                  </a:txBody>
                  <a:tcPr marL="101600" marR="101600" marT="101600" marB="101600" anchor="t" anchorCtr="0">
                    <a:lnL>
                      <a:noFill/>
                    </a:lnL>
                    <a:lnR>
                      <a:noFill/>
                    </a:lnR>
                    <a:lnT w="25400" cap="flat" cmpd="sng" algn="ctr">
                      <a:solidFill>
                        <a:srgbClr val="22C55E"/>
                      </a:solidFill>
                      <a:prstDash val="solid"/>
                      <a:round/>
                      <a:headEnd type="none" w="med" len="med"/>
                      <a:tailEnd type="none" w="med" len="med"/>
                    </a:lnT>
                    <a:lnB>
                      <a:noFill/>
                    </a:lnB>
                    <a:solidFill>
                      <a:srgbClr val="F9FAFB">
                        <a:alpha val="100000"/>
                      </a:srgbClr>
                    </a:solidFill>
                  </a:tcPr>
                </a:tc>
                <a:tc>
                  <a:txBody>
                    <a:bodyPr rtlCol="0"/>
                    <a:lstStyle/>
                    <a:p>
                      <a:pPr indent="0" algn="ctr">
                        <a:lnSpc>
                          <a:spcPct val="100000"/>
                        </a:lnSpc>
                        <a:defRPr/>
                      </a:pPr>
                      <a:r>
                        <a:rPr lang="en-US" sz="1300" b="0" i="0" u="none" strike="noStrike">
                          <a:solidFill>
                            <a:srgbClr val="374151"/>
                          </a:solidFill>
                          <a:latin typeface="Noto Sans SC"/>
                          <a:ea typeface="Noto Sans SC"/>
                          <a:cs typeface="Noto Sans SC"/>
                          <a:sym typeface="Noto Sans SC"/>
                        </a:rPr>
                        <a:t>0.77</a:t>
                      </a:r>
                      <a:endParaRPr lang="en-US" sz="1100"/>
                    </a:p>
                  </a:txBody>
                  <a:tcPr marL="101600" marR="101600" marT="101600" marB="101600" anchor="t" anchorCtr="0">
                    <a:lnL>
                      <a:noFill/>
                    </a:lnL>
                    <a:lnR>
                      <a:noFill/>
                    </a:lnR>
                    <a:lnT w="25400" cap="flat" cmpd="sng" algn="ctr">
                      <a:solidFill>
                        <a:srgbClr val="22C55E"/>
                      </a:solidFill>
                      <a:prstDash val="solid"/>
                      <a:round/>
                      <a:headEnd type="none" w="med" len="med"/>
                      <a:tailEnd type="none" w="med" len="med"/>
                    </a:lnT>
                    <a:lnB>
                      <a:noFill/>
                    </a:lnB>
                    <a:solidFill>
                      <a:srgbClr val="F9FAFB">
                        <a:alpha val="100000"/>
                      </a:srgbClr>
                    </a:solidFill>
                  </a:tcPr>
                </a:tc>
                <a:tc>
                  <a:txBody>
                    <a:bodyPr rtlCol="0"/>
                    <a:lstStyle/>
                    <a:p>
                      <a:pPr indent="0" algn="ctr">
                        <a:lnSpc>
                          <a:spcPct val="100000"/>
                        </a:lnSpc>
                        <a:defRPr/>
                      </a:pPr>
                      <a:r>
                        <a:rPr lang="en-US" sz="1300" b="0" i="0" u="none" strike="noStrike">
                          <a:solidFill>
                            <a:srgbClr val="374151"/>
                          </a:solidFill>
                          <a:latin typeface="Noto Sans SC"/>
                          <a:ea typeface="Noto Sans SC"/>
                          <a:cs typeface="Noto Sans SC"/>
                          <a:sym typeface="Noto Sans SC"/>
                        </a:rPr>
                        <a:t>0.68</a:t>
                      </a:r>
                      <a:endParaRPr lang="en-US" sz="1100"/>
                    </a:p>
                  </a:txBody>
                  <a:tcPr marL="101600" marR="101600" marT="101600" marB="101600" anchor="t" anchorCtr="0">
                    <a:lnL>
                      <a:noFill/>
                    </a:lnL>
                    <a:lnR>
                      <a:noFill/>
                    </a:lnR>
                    <a:lnT w="25400" cap="flat" cmpd="sng" algn="ctr">
                      <a:solidFill>
                        <a:srgbClr val="22C55E"/>
                      </a:solidFill>
                      <a:prstDash val="solid"/>
                      <a:round/>
                      <a:headEnd type="none" w="med" len="med"/>
                      <a:tailEnd type="none" w="med" len="med"/>
                    </a:lnT>
                    <a:lnB>
                      <a:noFill/>
                    </a:lnB>
                    <a:solidFill>
                      <a:srgbClr val="F9FAFB">
                        <a:alpha val="100000"/>
                      </a:srgbClr>
                    </a:solidFill>
                  </a:tcPr>
                </a:tc>
                <a:tc>
                  <a:txBody>
                    <a:bodyPr rtlCol="0"/>
                    <a:lstStyle/>
                    <a:p>
                      <a:pPr indent="0" algn="ctr">
                        <a:lnSpc>
                          <a:spcPct val="100000"/>
                        </a:lnSpc>
                        <a:defRPr/>
                      </a:pPr>
                      <a:r>
                        <a:rPr lang="en-US" sz="1300" b="0" i="0" u="none" strike="noStrike">
                          <a:solidFill>
                            <a:srgbClr val="374151"/>
                          </a:solidFill>
                          <a:latin typeface="Noto Sans SC"/>
                          <a:ea typeface="Noto Sans SC"/>
                          <a:cs typeface="Noto Sans SC"/>
                          <a:sym typeface="Noto Sans SC"/>
                        </a:rPr>
                        <a:t>0.72</a:t>
                      </a:r>
                      <a:endParaRPr lang="en-US" sz="1100"/>
                    </a:p>
                  </a:txBody>
                  <a:tcPr marL="101600" marR="101600" marT="101600" marB="101600" anchor="t" anchorCtr="0">
                    <a:lnL>
                      <a:noFill/>
                    </a:lnL>
                    <a:lnR>
                      <a:noFill/>
                    </a:lnR>
                    <a:lnT w="25400" cap="flat" cmpd="sng" algn="ctr">
                      <a:solidFill>
                        <a:srgbClr val="22C55E"/>
                      </a:solidFill>
                      <a:prstDash val="solid"/>
                      <a:round/>
                      <a:headEnd type="none" w="med" len="med"/>
                      <a:tailEnd type="none" w="med" len="med"/>
                    </a:lnT>
                    <a:lnB>
                      <a:noFill/>
                    </a:lnB>
                    <a:solidFill>
                      <a:srgbClr val="F9FAFB">
                        <a:alpha val="100000"/>
                      </a:srgbClr>
                    </a:solidFill>
                  </a:tcPr>
                </a:tc>
                <a:tc>
                  <a:txBody>
                    <a:bodyPr rtlCol="0"/>
                    <a:lstStyle/>
                    <a:p>
                      <a:pPr indent="0" algn="ctr">
                        <a:lnSpc>
                          <a:spcPct val="100000"/>
                        </a:lnSpc>
                        <a:defRPr/>
                      </a:pPr>
                      <a:r>
                        <a:rPr lang="en-US" sz="1300" b="0" i="0" u="none" strike="noStrike">
                          <a:solidFill>
                            <a:srgbClr val="374151"/>
                          </a:solidFill>
                          <a:latin typeface="Noto Sans SC"/>
                          <a:ea typeface="Noto Sans SC"/>
                          <a:cs typeface="Noto Sans SC"/>
                          <a:sym typeface="Noto Sans SC"/>
                        </a:rPr>
                        <a:t>0.87</a:t>
                      </a:r>
                      <a:endParaRPr lang="en-US" sz="1100"/>
                    </a:p>
                  </a:txBody>
                  <a:tcPr marL="101600" marR="101600" marT="101600" marB="101600" anchor="t" anchorCtr="0">
                    <a:lnL>
                      <a:noFill/>
                    </a:lnL>
                    <a:lnR>
                      <a:noFill/>
                    </a:lnR>
                    <a:lnT w="25400" cap="flat" cmpd="sng" algn="ctr">
                      <a:solidFill>
                        <a:srgbClr val="22C55E"/>
                      </a:solidFill>
                      <a:prstDash val="solid"/>
                      <a:round/>
                      <a:headEnd type="none" w="med" len="med"/>
                      <a:tailEnd type="none" w="med" len="med"/>
                    </a:lnT>
                    <a:lnB>
                      <a:noFill/>
                    </a:lnB>
                    <a:solidFill>
                      <a:srgbClr val="F9FAFB">
                        <a:alpha val="100000"/>
                      </a:srgbClr>
                    </a:solidFill>
                  </a:tcPr>
                </a:tc>
              </a:tr>
            </a:tbl>
          </a:graphicData>
        </a:graphic>
      </p:graphicFrame>
      <p:sp>
        <p:nvSpPr>
          <p:cNvPr id="8" name="AutoShape 8"/>
          <p:cNvSpPr/>
          <p:nvPr/>
        </p:nvSpPr>
        <p:spPr>
          <a:xfrm>
            <a:off x="1143000" y="5524500"/>
            <a:ext cx="9906000" cy="762000"/>
          </a:xfrm>
          <a:prstGeom prst="roundRect">
            <a:avLst>
              <a:gd name="adj" fmla="val 13333"/>
            </a:avLst>
          </a:prstGeom>
          <a:solidFill>
            <a:srgbClr val="F0FDF4">
              <a:alpha val="100000"/>
            </a:srgbClr>
          </a:solidFill>
          <a:ln w="12700" cap="flat" cmpd="sng">
            <a:solidFill>
              <a:srgbClr val="BBF7D0">
                <a:alpha val="100000"/>
              </a:srgbClr>
            </a:solid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397000" y="5689600"/>
            <a:ext cx="431800" cy="431800"/>
          </a:xfrm>
          <a:prstGeom prst="rect">
            <a:avLst/>
          </a:prstGeom>
        </p:spPr>
      </p:pic>
      <p:sp>
        <p:nvSpPr>
          <p:cNvPr id="10" name="AutoShape 10"/>
          <p:cNvSpPr/>
          <p:nvPr/>
        </p:nvSpPr>
        <p:spPr>
          <a:xfrm>
            <a:off x="2032000" y="5613400"/>
            <a:ext cx="8636000" cy="5842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400" b="1" i="0" u="none" strike="noStrike">
                <a:solidFill>
                  <a:srgbClr val="15803D"/>
                </a:solidFill>
                <a:latin typeface="Noto Sans SC"/>
                <a:ea typeface="Noto Sans SC"/>
                <a:cs typeface="Noto Sans SC"/>
                <a:sym typeface="Noto Sans SC"/>
              </a:rPr>
              <a:t>结论：</a:t>
            </a:r>
            <a:r>
              <a:rPr lang="en-US" sz="1400" b="0" i="0" u="none" strike="noStrike">
                <a:solidFill>
                  <a:srgbClr val="374151"/>
                </a:solidFill>
                <a:latin typeface="Noto Sans SC"/>
                <a:ea typeface="Noto Sans SC"/>
                <a:cs typeface="Noto Sans SC"/>
                <a:sym typeface="Noto Sans SC"/>
              </a:rPr>
              <a:t>在该数据集上，</a:t>
            </a:r>
            <a:r>
              <a:rPr lang="en-US" sz="1400" b="1" i="0" u="none" strike="noStrike">
                <a:solidFill>
                  <a:srgbClr val="15803D"/>
                </a:solidFill>
                <a:latin typeface="Noto Sans SC"/>
                <a:ea typeface="Noto Sans SC"/>
                <a:cs typeface="Noto Sans SC"/>
                <a:sym typeface="Noto Sans SC"/>
              </a:rPr>
              <a:t>随机森林 (Random Forest)</a:t>
            </a:r>
            <a:r>
              <a:rPr lang="en-US" sz="1400" b="0" i="0" u="none" strike="noStrike">
                <a:solidFill>
                  <a:srgbClr val="374151"/>
                </a:solidFill>
                <a:latin typeface="Noto Sans SC"/>
                <a:ea typeface="Noto Sans SC"/>
                <a:cs typeface="Noto Sans SC"/>
                <a:sym typeface="Noto Sans SC"/>
              </a:rPr>
              <a:t>表现出最佳的综合性能，在反映模型稳定性与泛化能力的AUC-ROC指标上领先，是我们最终方案的首选模型。</a:t>
            </a:r>
            <a:endParaRPr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74151"/>
                </a:solidFill>
                <a:latin typeface="Noto Sans SC"/>
                <a:ea typeface="Noto Sans SC"/>
                <a:cs typeface="Noto Sans SC"/>
                <a:sym typeface="Noto Sans SC"/>
              </a:rPr>
              <a:t>05 模型评估与对比</a:t>
            </a:r>
            <a:endParaRPr lang="en-US" sz="1100"/>
          </a:p>
        </p:txBody>
      </p:sp>
      <p:sp>
        <p:nvSpPr>
          <p:cNvPr id="4" name="AutoShape 4"/>
          <p:cNvSpPr/>
          <p:nvPr/>
        </p:nvSpPr>
        <p:spPr>
          <a:xfrm>
            <a:off x="762000" y="1778000"/>
            <a:ext cx="5207000" cy="4318000"/>
          </a:xfrm>
          <a:prstGeom prst="roundRect">
            <a:avLst>
              <a:gd name="adj" fmla="val 3529"/>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2032000"/>
            <a:ext cx="355600" cy="355600"/>
          </a:xfrm>
          <a:prstGeom prst="rect">
            <a:avLst/>
          </a:prstGeom>
        </p:spPr>
      </p:pic>
      <p:sp>
        <p:nvSpPr>
          <p:cNvPr id="6" name="AutoShape 6"/>
          <p:cNvSpPr/>
          <p:nvPr/>
        </p:nvSpPr>
        <p:spPr>
          <a:xfrm>
            <a:off x="1524000" y="20320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22C55E"/>
                </a:solidFill>
                <a:latin typeface="Noto Sans SC"/>
                <a:ea typeface="Noto Sans SC"/>
                <a:cs typeface="Noto Sans SC"/>
                <a:sym typeface="Noto Sans SC"/>
              </a:rPr>
              <a:t>混淆矩阵 (随机森林模型)</a:t>
            </a:r>
            <a:endParaRPr lang="en-US" sz="1100"/>
          </a:p>
        </p:txBody>
      </p:sp>
      <p:sp>
        <p:nvSpPr>
          <p:cNvPr id="7" name="AutoShape 7"/>
          <p:cNvSpPr/>
          <p:nvPr/>
        </p:nvSpPr>
        <p:spPr>
          <a:xfrm>
            <a:off x="1016000" y="2794000"/>
            <a:ext cx="4699000" cy="292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74151"/>
                </a:solidFill>
                <a:latin typeface="Noto Sans SC"/>
                <a:ea typeface="Noto Sans SC"/>
                <a:cs typeface="Noto Sans SC"/>
                <a:sym typeface="Noto Sans SC"/>
              </a:rPr>
              <a:t>真阴性 (TN)：</a:t>
            </a:r>
            <a:r>
              <a:rPr lang="en-US" sz="1300" b="0" i="0" u="none" strike="noStrike">
                <a:solidFill>
                  <a:srgbClr val="4B5563"/>
                </a:solidFill>
                <a:latin typeface="Noto Sans SC"/>
                <a:ea typeface="Noto Sans SC"/>
                <a:cs typeface="Noto Sans SC"/>
                <a:sym typeface="Noto Sans SC"/>
              </a:rPr>
              <a:t>预测为“非糖尿病”，且实际情况也是“非糖尿病”，代表正确排除。</a:t>
            </a:r>
            <a:endParaRPr lang="en-US" sz="1100"/>
          </a:p>
          <a:p>
            <a:pPr indent="0" algn="l">
              <a:lnSpc>
                <a:spcPct val="125000"/>
              </a:lnSpc>
            </a:pPr>
            <a:r>
              <a:rPr lang="en-US" sz="1400" b="1" i="0" u="none" strike="noStrike">
                <a:solidFill>
                  <a:srgbClr val="374151"/>
                </a:solidFill>
                <a:latin typeface="Noto Sans SC"/>
                <a:ea typeface="Noto Sans SC"/>
                <a:cs typeface="Noto Sans SC"/>
                <a:sym typeface="Noto Sans SC"/>
              </a:rPr>
              <a:t>假阳性 (FP)：</a:t>
            </a:r>
            <a:r>
              <a:rPr lang="en-US" sz="1300" b="0" i="0" u="none" strike="noStrike">
                <a:solidFill>
                  <a:srgbClr val="4B5563"/>
                </a:solidFill>
                <a:latin typeface="Noto Sans SC"/>
                <a:ea typeface="Noto Sans SC"/>
                <a:cs typeface="Noto Sans SC"/>
                <a:sym typeface="Noto Sans SC"/>
              </a:rPr>
              <a:t>预测为“糖尿病”，但实际并非糖尿病，即“误诊”。</a:t>
            </a:r>
            <a:endParaRPr lang="en-US" sz="1300" b="0" i="0" u="none" strike="noStrike">
              <a:solidFill>
                <a:srgbClr val="4B5563"/>
              </a:solidFill>
              <a:latin typeface="Noto Sans SC"/>
              <a:ea typeface="Noto Sans SC"/>
              <a:cs typeface="Noto Sans SC"/>
              <a:sym typeface="Noto Sans SC"/>
            </a:endParaRPr>
          </a:p>
          <a:p>
            <a:pPr indent="0" algn="l">
              <a:lnSpc>
                <a:spcPct val="125000"/>
              </a:lnSpc>
            </a:pPr>
            <a:r>
              <a:rPr lang="en-US" sz="1400" b="1" i="0" u="none" strike="noStrike">
                <a:solidFill>
                  <a:srgbClr val="374151"/>
                </a:solidFill>
                <a:latin typeface="Noto Sans SC"/>
                <a:ea typeface="Noto Sans SC"/>
                <a:cs typeface="Noto Sans SC"/>
                <a:sym typeface="Noto Sans SC"/>
              </a:rPr>
              <a:t>假阴性 (FN)：</a:t>
            </a:r>
            <a:r>
              <a:rPr lang="en-US" sz="1300" b="0" i="0" u="none" strike="noStrike">
                <a:solidFill>
                  <a:srgbClr val="4B5563"/>
                </a:solidFill>
                <a:latin typeface="Noto Sans SC"/>
                <a:ea typeface="Noto Sans SC"/>
                <a:cs typeface="Noto Sans SC"/>
                <a:sym typeface="Noto Sans SC"/>
              </a:rPr>
              <a:t>预测为“非糖尿病”，但实际却是糖尿病，即“漏诊”，需重点关注。</a:t>
            </a:r>
            <a:endParaRPr lang="en-US" sz="1300" b="0" i="0" u="none" strike="noStrike">
              <a:solidFill>
                <a:srgbClr val="4B5563"/>
              </a:solidFill>
              <a:latin typeface="Noto Sans SC"/>
              <a:ea typeface="Noto Sans SC"/>
              <a:cs typeface="Noto Sans SC"/>
              <a:sym typeface="Noto Sans SC"/>
            </a:endParaRPr>
          </a:p>
          <a:p>
            <a:pPr indent="0" algn="l">
              <a:lnSpc>
                <a:spcPct val="125000"/>
              </a:lnSpc>
            </a:pPr>
            <a:r>
              <a:rPr lang="en-US" sz="1400" b="1" i="0" u="none" strike="noStrike">
                <a:solidFill>
                  <a:srgbClr val="374151"/>
                </a:solidFill>
                <a:latin typeface="Noto Sans SC"/>
                <a:ea typeface="Noto Sans SC"/>
                <a:cs typeface="Noto Sans SC"/>
                <a:sym typeface="Noto Sans SC"/>
              </a:rPr>
              <a:t>真阳性 (TP)：</a:t>
            </a:r>
            <a:r>
              <a:rPr lang="en-US" sz="1300" b="0" i="0" u="none" strike="noStrike">
                <a:solidFill>
                  <a:srgbClr val="4B5563"/>
                </a:solidFill>
                <a:latin typeface="Noto Sans SC"/>
                <a:ea typeface="Noto Sans SC"/>
                <a:cs typeface="Noto Sans SC"/>
                <a:sym typeface="Noto Sans SC"/>
              </a:rPr>
              <a:t>预测为“糖尿病”，且实际情况也是“糖尿病”，代表正确识别。</a:t>
            </a:r>
            <a:endParaRPr lang="en-US" sz="1300" b="0" i="0" u="none" strike="noStrike">
              <a:solidFill>
                <a:srgbClr val="4B5563"/>
              </a:solidFill>
              <a:latin typeface="Noto Sans SC"/>
              <a:ea typeface="Noto Sans SC"/>
              <a:cs typeface="Noto Sans SC"/>
              <a:sym typeface="Noto Sans SC"/>
            </a:endParaRPr>
          </a:p>
        </p:txBody>
      </p:sp>
      <p:sp>
        <p:nvSpPr>
          <p:cNvPr id="8" name="AutoShape 8"/>
          <p:cNvSpPr/>
          <p:nvPr/>
        </p:nvSpPr>
        <p:spPr>
          <a:xfrm>
            <a:off x="6223000" y="1778000"/>
            <a:ext cx="5207000" cy="4318000"/>
          </a:xfrm>
          <a:prstGeom prst="roundRect">
            <a:avLst>
              <a:gd name="adj" fmla="val 3529"/>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77000" y="2032000"/>
            <a:ext cx="355600" cy="355600"/>
          </a:xfrm>
          <a:prstGeom prst="rect">
            <a:avLst/>
          </a:prstGeom>
        </p:spPr>
      </p:pic>
      <p:sp>
        <p:nvSpPr>
          <p:cNvPr id="10" name="AutoShape 10"/>
          <p:cNvSpPr/>
          <p:nvPr/>
        </p:nvSpPr>
        <p:spPr>
          <a:xfrm>
            <a:off x="6985000" y="20320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22C55E"/>
                </a:solidFill>
                <a:latin typeface="Noto Sans SC"/>
                <a:ea typeface="Noto Sans SC"/>
                <a:cs typeface="Noto Sans SC"/>
                <a:sym typeface="Noto Sans SC"/>
              </a:rPr>
              <a:t>ROC 曲线与 AUC 指标</a:t>
            </a:r>
            <a:endParaRPr lang="en-US" sz="1100"/>
          </a:p>
        </p:txBody>
      </p:sp>
      <p:sp>
        <p:nvSpPr>
          <p:cNvPr id="11" name="AutoShape 11"/>
          <p:cNvSpPr/>
          <p:nvPr/>
        </p:nvSpPr>
        <p:spPr>
          <a:xfrm>
            <a:off x="6477000" y="2794000"/>
            <a:ext cx="4699000" cy="1270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300" b="0" i="0" u="none" strike="noStrike">
                <a:solidFill>
                  <a:srgbClr val="4B5563"/>
                </a:solidFill>
                <a:latin typeface="Noto Sans SC"/>
                <a:ea typeface="Noto Sans SC"/>
                <a:cs typeface="Noto Sans SC"/>
                <a:sym typeface="Noto Sans SC"/>
              </a:rPr>
              <a:t>ROC曲线下的面积 (AUC) 是衡量二分类模型区分能力的核心指标。其数值越接近 1，代表模型在区分正、负样本上的表现越优秀。</a:t>
            </a:r>
            <a:endParaRPr lang="en-US" sz="1100"/>
          </a:p>
        </p:txBody>
      </p:sp>
      <p:sp>
        <p:nvSpPr>
          <p:cNvPr id="12" name="AutoShape 12"/>
          <p:cNvSpPr/>
          <p:nvPr/>
        </p:nvSpPr>
        <p:spPr>
          <a:xfrm>
            <a:off x="6477000" y="4191000"/>
            <a:ext cx="4699000" cy="1397000"/>
          </a:xfrm>
          <a:prstGeom prst="roundRect">
            <a:avLst>
              <a:gd name="adj" fmla="val 7272"/>
            </a:avLst>
          </a:prstGeom>
          <a:solidFill>
            <a:srgbClr val="F0FDF4">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6667500" y="4445000"/>
            <a:ext cx="2032000" cy="889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800" b="1" i="0" u="none" strike="noStrike">
                <a:solidFill>
                  <a:srgbClr val="22C55E"/>
                </a:solidFill>
                <a:latin typeface="Noto Sans SC"/>
                <a:ea typeface="Noto Sans SC"/>
                <a:cs typeface="Noto Sans SC"/>
                <a:sym typeface="Noto Sans SC"/>
              </a:rPr>
              <a:t>0.88</a:t>
            </a:r>
            <a:endParaRPr lang="en-US" sz="1100"/>
          </a:p>
        </p:txBody>
      </p:sp>
      <p:sp>
        <p:nvSpPr>
          <p:cNvPr id="14" name="AutoShape 14"/>
          <p:cNvSpPr/>
          <p:nvPr/>
        </p:nvSpPr>
        <p:spPr>
          <a:xfrm>
            <a:off x="8763000" y="4445000"/>
            <a:ext cx="2286000" cy="889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600" b="1" i="0" u="none" strike="noStrike">
                <a:solidFill>
                  <a:srgbClr val="374151"/>
                </a:solidFill>
                <a:latin typeface="Noto Sans SC"/>
                <a:ea typeface="Noto Sans SC"/>
                <a:cs typeface="Noto Sans SC"/>
                <a:sym typeface="Noto Sans SC"/>
              </a:rPr>
              <a:t>随机森林模型 AUC</a:t>
            </a:r>
            <a:endParaRPr lang="en-US" sz="1100"/>
          </a:p>
          <a:p>
            <a:pPr indent="0" algn="l">
              <a:lnSpc>
                <a:spcPct val="125000"/>
              </a:lnSpc>
            </a:pPr>
            <a:r>
              <a:rPr lang="en-US" sz="1200" b="0" i="0" u="none" strike="noStrike">
                <a:solidFill>
                  <a:srgbClr val="6B7280"/>
                </a:solidFill>
                <a:latin typeface="Noto Sans SC"/>
                <a:ea typeface="Noto Sans SC"/>
                <a:cs typeface="Noto Sans SC"/>
                <a:sym typeface="Noto Sans SC"/>
              </a:rPr>
              <a:t>表现优秀，具备强分类能力</a:t>
            </a:r>
            <a:endParaRPr lang="en-US" sz="1200" b="0" i="0" u="none" strike="noStrike">
              <a:solidFill>
                <a:srgbClr val="6B7280"/>
              </a:solidFill>
              <a:latin typeface="Noto Sans SC"/>
              <a:ea typeface="Noto Sans SC"/>
              <a:cs typeface="Noto Sans SC"/>
              <a:sym typeface="Noto Sans SC"/>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74151"/>
                </a:solidFill>
                <a:latin typeface="Noto Sans SC"/>
                <a:ea typeface="Noto Sans SC"/>
                <a:cs typeface="Noto Sans SC"/>
                <a:sym typeface="Noto Sans SC"/>
              </a:rPr>
              <a:t>06 模型优化与解释</a:t>
            </a:r>
            <a:endParaRPr lang="en-US" sz="1100"/>
          </a:p>
        </p:txBody>
      </p:sp>
      <p:sp>
        <p:nvSpPr>
          <p:cNvPr id="4" name="AutoShape 4"/>
          <p:cNvSpPr/>
          <p:nvPr/>
        </p:nvSpPr>
        <p:spPr>
          <a:xfrm>
            <a:off x="762000" y="1778000"/>
            <a:ext cx="5207000" cy="4318000"/>
          </a:xfrm>
          <a:prstGeom prst="roundRect">
            <a:avLst>
              <a:gd name="adj" fmla="val 3529"/>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5" name="AutoShape 5"/>
          <p:cNvSpPr/>
          <p:nvPr/>
        </p:nvSpPr>
        <p:spPr>
          <a:xfrm>
            <a:off x="1066800" y="2082800"/>
            <a:ext cx="45974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22C55E"/>
                </a:solidFill>
                <a:latin typeface="Noto Sans SC"/>
                <a:ea typeface="Noto Sans SC"/>
                <a:cs typeface="Noto Sans SC"/>
                <a:sym typeface="Noto Sans SC"/>
              </a:rPr>
              <a:t>1. 超参数调优 (以随机森林为例)</a:t>
            </a:r>
            <a:endParaRPr lang="en-US" sz="1100"/>
          </a:p>
        </p:txBody>
      </p:sp>
      <p:sp>
        <p:nvSpPr>
          <p:cNvPr id="6" name="AutoShape 6"/>
          <p:cNvSpPr/>
          <p:nvPr/>
        </p:nvSpPr>
        <p:spPr>
          <a:xfrm>
            <a:off x="1066800" y="2921000"/>
            <a:ext cx="4597400" cy="139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4B5563"/>
                </a:solidFill>
                <a:latin typeface="Noto Sans SC"/>
                <a:ea typeface="Noto Sans SC"/>
                <a:cs typeface="Noto Sans SC"/>
                <a:sym typeface="Noto Sans SC"/>
              </a:rPr>
              <a:t>模型的性能往往受限于其“配置”。我们使用</a:t>
            </a:r>
            <a:r>
              <a:rPr lang="en-US" sz="1400" b="1" i="0" u="none" strike="noStrike">
                <a:solidFill>
                  <a:srgbClr val="22C55E"/>
                </a:solidFill>
                <a:latin typeface="Noto Sans SC"/>
                <a:ea typeface="Noto Sans SC"/>
                <a:cs typeface="Noto Sans SC"/>
                <a:sym typeface="Noto Sans SC"/>
              </a:rPr>
              <a:t>网格搜索 (Grid Search)</a:t>
            </a:r>
            <a:r>
              <a:rPr lang="en-US" sz="1400" b="0" i="0" u="none" strike="noStrike">
                <a:solidFill>
                  <a:srgbClr val="4B5563"/>
                </a:solidFill>
                <a:latin typeface="Noto Sans SC"/>
                <a:ea typeface="Noto Sans SC"/>
                <a:cs typeface="Noto Sans SC"/>
                <a:sym typeface="Noto Sans SC"/>
              </a:rPr>
              <a:t>算法，在预设的参数空间内，通过交叉验证系统地遍历不同的参数组合，精准定位能够最大化模型表现的“最优配置”。</a:t>
            </a:r>
            <a:endParaRPr lang="en-US" sz="1100"/>
          </a:p>
        </p:txBody>
      </p:sp>
      <p:sp>
        <p:nvSpPr>
          <p:cNvPr id="7" name="AutoShape 7"/>
          <p:cNvSpPr/>
          <p:nvPr/>
        </p:nvSpPr>
        <p:spPr>
          <a:xfrm>
            <a:off x="1066800" y="4699000"/>
            <a:ext cx="4597400" cy="1143000"/>
          </a:xfrm>
          <a:prstGeom prst="roundRect">
            <a:avLst>
              <a:gd name="adj" fmla="val 8888"/>
            </a:avLst>
          </a:prstGeom>
          <a:solidFill>
            <a:srgbClr val="F0FDF4">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1219200" y="4889500"/>
            <a:ext cx="4292600" cy="762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400" b="1" i="0" u="none" strike="noStrike">
                <a:solidFill>
                  <a:srgbClr val="15803D"/>
                </a:solidFill>
                <a:latin typeface="Noto Sans SC"/>
                <a:ea typeface="Noto Sans SC"/>
                <a:cs typeface="Noto Sans SC"/>
                <a:sym typeface="Noto Sans SC"/>
              </a:rPr>
              <a:t>🎯 调优价值：</a:t>
            </a:r>
            <a:r>
              <a:rPr lang="en-US" sz="1300" b="0" i="0" u="none" strike="noStrike">
                <a:solidFill>
                  <a:srgbClr val="374151"/>
                </a:solidFill>
                <a:latin typeface="Noto Sans SC"/>
                <a:ea typeface="Noto Sans SC"/>
                <a:cs typeface="Noto Sans SC"/>
                <a:sym typeface="Noto Sans SC"/>
              </a:rPr>
              <a:t>通过调整决策树数量(n_estimators)与深度(max_depth)等核心参数，随机森林模型的F1分数通常能获得显著提升，从而更好地平衡偏差与方差。</a:t>
            </a:r>
            <a:endParaRPr lang="en-US" sz="1100"/>
          </a:p>
        </p:txBody>
      </p:sp>
      <p:sp>
        <p:nvSpPr>
          <p:cNvPr id="9" name="AutoShape 9"/>
          <p:cNvSpPr/>
          <p:nvPr/>
        </p:nvSpPr>
        <p:spPr>
          <a:xfrm>
            <a:off x="6223000" y="1778000"/>
            <a:ext cx="5207000" cy="4318000"/>
          </a:xfrm>
          <a:prstGeom prst="roundRect">
            <a:avLst>
              <a:gd name="adj" fmla="val 3529"/>
            </a:avLst>
          </a:prstGeom>
          <a:solidFill>
            <a:srgbClr val="1E293B">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10" name="AutoShape 10"/>
          <p:cNvSpPr/>
          <p:nvPr/>
        </p:nvSpPr>
        <p:spPr>
          <a:xfrm>
            <a:off x="6223000" y="1778000"/>
            <a:ext cx="5207000" cy="558800"/>
          </a:xfrm>
          <a:prstGeom prst="roundRect">
            <a:avLst>
              <a:gd name="adj" fmla="val 27272"/>
            </a:avLst>
          </a:prstGeom>
          <a:solidFill>
            <a:srgbClr val="0F172A">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426200" y="1905000"/>
            <a:ext cx="279400" cy="279400"/>
          </a:xfrm>
          <a:prstGeom prst="rect">
            <a:avLst/>
          </a:prstGeom>
        </p:spPr>
      </p:pic>
      <p:sp>
        <p:nvSpPr>
          <p:cNvPr id="12" name="AutoShape 12"/>
          <p:cNvSpPr/>
          <p:nvPr/>
        </p:nvSpPr>
        <p:spPr>
          <a:xfrm>
            <a:off x="6858000" y="1892300"/>
            <a:ext cx="3810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E2E8F0"/>
                </a:solidFill>
                <a:latin typeface="Source Code Pro"/>
                <a:ea typeface="Source Code Pro"/>
                <a:cs typeface="Source Code Pro"/>
                <a:sym typeface="Source Code Pro"/>
              </a:rPr>
              <a:t>Python: GridSearchCV Implementation</a:t>
            </a:r>
            <a:endParaRPr lang="en-US" sz="1100"/>
          </a:p>
        </p:txBody>
      </p:sp>
      <p:sp>
        <p:nvSpPr>
          <p:cNvPr id="13" name="AutoShape 13"/>
          <p:cNvSpPr/>
          <p:nvPr/>
        </p:nvSpPr>
        <p:spPr>
          <a:xfrm>
            <a:off x="6413500" y="2540000"/>
            <a:ext cx="4826000" cy="330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100" b="0" i="0" u="none" strike="noStrike">
                <a:solidFill>
                  <a:srgbClr val="94A3B8"/>
                </a:solidFill>
                <a:latin typeface="Source Code Pro"/>
                <a:ea typeface="Source Code Pro"/>
                <a:cs typeface="Source Code Pro"/>
                <a:sym typeface="Source Code Pro"/>
              </a:rPr>
              <a:t># 1. 导入库并定义参数网格</a:t>
            </a:r>
            <a:br>
              <a:rPr lang="en-US" sz="1100" b="0" i="0" u="none" strike="noStrike">
                <a:solidFill>
                  <a:srgbClr val="1F2329"/>
                </a:solidFill>
                <a:latin typeface="Source Code Pro"/>
                <a:ea typeface="Source Code Pro"/>
                <a:cs typeface="Source Code Pro"/>
                <a:sym typeface="Source Code Pro"/>
              </a:rPr>
            </a:br>
            <a:r>
              <a:rPr lang="en-US" sz="1100" b="0" i="0" u="none" strike="noStrike">
                <a:solidFill>
                  <a:srgbClr val="94A3B8"/>
                </a:solidFill>
                <a:latin typeface="Source Code Pro"/>
                <a:ea typeface="Source Code Pro"/>
                <a:cs typeface="Source Code Pro"/>
                <a:sym typeface="Source Code Pro"/>
              </a:rPr>
              <a:t>from sklearn.model_selection import GridSearchCV</a:t>
            </a:r>
            <a:br>
              <a:rPr lang="en-US" sz="1100" b="0" i="0" u="none" strike="noStrike">
                <a:solidFill>
                  <a:srgbClr val="1F2329"/>
                </a:solidFill>
                <a:latin typeface="Source Code Pro"/>
                <a:ea typeface="Source Code Pro"/>
                <a:cs typeface="Source Code Pro"/>
                <a:sym typeface="Source Code Pro"/>
              </a:rPr>
            </a:br>
            <a:r>
              <a:rPr lang="en-US" sz="1100" b="0" i="0" u="none" strike="noStrike">
                <a:solidFill>
                  <a:srgbClr val="A7F3D0"/>
                </a:solidFill>
                <a:latin typeface="Source Code Pro"/>
                <a:ea typeface="Source Code Pro"/>
                <a:cs typeface="Source Code Pro"/>
                <a:sym typeface="Source Code Pro"/>
              </a:rPr>
              <a:t>param_grid</a:t>
            </a:r>
            <a:r>
              <a:rPr lang="en-US" sz="1100" b="0" i="0" u="none" strike="noStrike">
                <a:solidFill>
                  <a:srgbClr val="E2E8F0"/>
                </a:solidFill>
                <a:latin typeface="Source Code Pro"/>
                <a:ea typeface="Source Code Pro"/>
                <a:cs typeface="Source Code Pro"/>
                <a:sym typeface="Source Code Pro"/>
              </a:rPr>
              <a:t>= {</a:t>
            </a:r>
            <a:r>
              <a:rPr lang="en-US" sz="1100" b="0" i="0" u="none" strike="noStrike">
                <a:solidFill>
                  <a:srgbClr val="94A3B8"/>
                </a:solidFill>
                <a:latin typeface="Source Code Pro"/>
                <a:ea typeface="Source Code Pro"/>
                <a:cs typeface="Source Code Pro"/>
                <a:sym typeface="Source Code Pro"/>
              </a:rPr>
              <a:t># 搜索空间定义</a:t>
            </a:r>
            <a:br>
              <a:rPr lang="en-US" sz="1100" b="0" i="0" u="none" strike="noStrike">
                <a:solidFill>
                  <a:srgbClr val="1F2329"/>
                </a:solidFill>
                <a:latin typeface="Source Code Pro"/>
                <a:ea typeface="Source Code Pro"/>
                <a:cs typeface="Source Code Pro"/>
                <a:sym typeface="Source Code Pro"/>
              </a:rPr>
            </a:br>
            <a:r>
              <a:rPr lang="en-US" sz="1100" b="0" i="0" u="none" strike="noStrike">
                <a:solidFill>
                  <a:srgbClr val="FDBA74"/>
                </a:solidFill>
                <a:latin typeface="Source Code Pro"/>
                <a:ea typeface="Source Code Pro"/>
                <a:cs typeface="Source Code Pro"/>
                <a:sym typeface="Source Code Pro"/>
              </a:rPr>
              <a:t>'n_estimators'</a:t>
            </a:r>
            <a:r>
              <a:rPr lang="en-US" sz="1100" b="0" i="0" u="none" strike="noStrike">
                <a:solidFill>
                  <a:srgbClr val="E2E8F0"/>
                </a:solidFill>
                <a:latin typeface="Source Code Pro"/>
                <a:ea typeface="Source Code Pro"/>
                <a:cs typeface="Source Code Pro"/>
                <a:sym typeface="Source Code Pro"/>
              </a:rPr>
              <a:t>: [50, 100, 200],</a:t>
            </a:r>
            <a:br>
              <a:rPr lang="en-US" sz="1100" b="0" i="0" u="none" strike="noStrike">
                <a:solidFill>
                  <a:srgbClr val="1F2329"/>
                </a:solidFill>
                <a:latin typeface="Source Code Pro"/>
                <a:ea typeface="Source Code Pro"/>
                <a:cs typeface="Source Code Pro"/>
                <a:sym typeface="Source Code Pro"/>
              </a:rPr>
            </a:br>
            <a:r>
              <a:rPr lang="en-US" sz="1100" b="0" i="0" u="none" strike="noStrike">
                <a:solidFill>
                  <a:srgbClr val="FDBA74"/>
                </a:solidFill>
                <a:latin typeface="Source Code Pro"/>
                <a:ea typeface="Source Code Pro"/>
                <a:cs typeface="Source Code Pro"/>
                <a:sym typeface="Source Code Pro"/>
              </a:rPr>
              <a:t>'max_depth'</a:t>
            </a:r>
            <a:r>
              <a:rPr lang="en-US" sz="1100" b="0" i="0" u="none" strike="noStrike">
                <a:solidFill>
                  <a:srgbClr val="E2E8F0"/>
                </a:solidFill>
                <a:latin typeface="Source Code Pro"/>
                <a:ea typeface="Source Code Pro"/>
                <a:cs typeface="Source Code Pro"/>
                <a:sym typeface="Source Code Pro"/>
              </a:rPr>
              <a:t>: [None, 10, 20],</a:t>
            </a:r>
            <a:br>
              <a:rPr lang="en-US" sz="1100" b="0" i="0" u="none" strike="noStrike">
                <a:solidFill>
                  <a:srgbClr val="1F2329"/>
                </a:solidFill>
                <a:latin typeface="Source Code Pro"/>
                <a:ea typeface="Source Code Pro"/>
                <a:cs typeface="Source Code Pro"/>
                <a:sym typeface="Source Code Pro"/>
              </a:rPr>
            </a:br>
            <a:r>
              <a:rPr lang="en-US" sz="1100" b="0" i="0" u="none" strike="noStrike">
                <a:solidFill>
                  <a:srgbClr val="FDBA74"/>
                </a:solidFill>
                <a:latin typeface="Source Code Pro"/>
                <a:ea typeface="Source Code Pro"/>
                <a:cs typeface="Source Code Pro"/>
                <a:sym typeface="Source Code Pro"/>
              </a:rPr>
              <a:t>'min_samples_split'</a:t>
            </a:r>
            <a:r>
              <a:rPr lang="en-US" sz="1100" b="0" i="0" u="none" strike="noStrike">
                <a:solidFill>
                  <a:srgbClr val="E2E8F0"/>
                </a:solidFill>
                <a:latin typeface="Source Code Pro"/>
                <a:ea typeface="Source Code Pro"/>
                <a:cs typeface="Source Code Pro"/>
                <a:sym typeface="Source Code Pro"/>
              </a:rPr>
              <a:t>: [2, 5, 10]</a:t>
            </a:r>
            <a:br>
              <a:rPr lang="en-US" sz="1100" b="0" i="0" u="none" strike="noStrike">
                <a:solidFill>
                  <a:srgbClr val="1F2329"/>
                </a:solidFill>
                <a:latin typeface="Source Code Pro"/>
                <a:ea typeface="Source Code Pro"/>
                <a:cs typeface="Source Code Pro"/>
                <a:sym typeface="Source Code Pro"/>
              </a:rPr>
            </a:br>
            <a:r>
              <a:rPr lang="en-US" sz="1100" b="0" i="0" u="none" strike="noStrike">
                <a:solidFill>
                  <a:srgbClr val="E2E8F0"/>
                </a:solidFill>
                <a:latin typeface="Source Code Pro"/>
                <a:ea typeface="Source Code Pro"/>
                <a:cs typeface="Source Code Pro"/>
                <a:sym typeface="Source Code Pro"/>
              </a:rPr>
              <a:t>}</a:t>
            </a:r>
            <a:br>
              <a:rPr lang="en-US" sz="1100" b="0" i="0" u="none" strike="noStrike">
                <a:solidFill>
                  <a:srgbClr val="1F2329"/>
                </a:solidFill>
                <a:latin typeface="Source Code Pro"/>
                <a:ea typeface="Source Code Pro"/>
                <a:cs typeface="Source Code Pro"/>
                <a:sym typeface="Source Code Pro"/>
              </a:rPr>
            </a:br>
            <a:r>
              <a:rPr lang="en-US" sz="1100" b="0" i="0" u="none" strike="noStrike">
                <a:solidFill>
                  <a:srgbClr val="94A3B8"/>
                </a:solidFill>
                <a:latin typeface="Source Code Pro"/>
                <a:ea typeface="Source Code Pro"/>
                <a:cs typeface="Source Code Pro"/>
                <a:sym typeface="Source Code Pro"/>
              </a:rPr>
              <a:t># 2. 初始化并执行5折交叉验证网格搜索</a:t>
            </a:r>
            <a:br>
              <a:rPr lang="en-US" sz="1100" b="0" i="0" u="none" strike="noStrike">
                <a:solidFill>
                  <a:srgbClr val="1F2329"/>
                </a:solidFill>
                <a:latin typeface="Source Code Pro"/>
                <a:ea typeface="Source Code Pro"/>
                <a:cs typeface="Source Code Pro"/>
                <a:sym typeface="Source Code Pro"/>
              </a:rPr>
            </a:br>
            <a:r>
              <a:rPr lang="en-US" sz="1100" b="0" i="0" u="none" strike="noStrike">
                <a:solidFill>
                  <a:srgbClr val="A7F3D0"/>
                </a:solidFill>
                <a:latin typeface="Source Code Pro"/>
                <a:ea typeface="Source Code Pro"/>
                <a:cs typeface="Source Code Pro"/>
                <a:sym typeface="Source Code Pro"/>
              </a:rPr>
              <a:t>grid_search</a:t>
            </a:r>
            <a:r>
              <a:rPr lang="en-US" sz="1100" b="0" i="0" u="none" strike="noStrike">
                <a:solidFill>
                  <a:srgbClr val="E2E8F0"/>
                </a:solidFill>
                <a:latin typeface="Source Code Pro"/>
                <a:ea typeface="Source Code Pro"/>
                <a:cs typeface="Source Code Pro"/>
                <a:sym typeface="Source Code Pro"/>
              </a:rPr>
              <a:t>= GridSearchCV(RandomForestClassifier(),</a:t>
            </a:r>
            <a:r>
              <a:rPr lang="en-US" sz="1100" b="0" i="0" u="none" strike="noStrike">
                <a:solidFill>
                  <a:srgbClr val="A7F3D0"/>
                </a:solidFill>
                <a:latin typeface="Source Code Pro"/>
                <a:ea typeface="Source Code Pro"/>
                <a:cs typeface="Source Code Pro"/>
                <a:sym typeface="Source Code Pro"/>
              </a:rPr>
              <a:t>param_grid</a:t>
            </a:r>
            <a:r>
              <a:rPr lang="en-US" sz="1100" b="0" i="0" u="none" strike="noStrike">
                <a:solidFill>
                  <a:srgbClr val="E2E8F0"/>
                </a:solidFill>
                <a:latin typeface="Source Code Pro"/>
                <a:ea typeface="Source Code Pro"/>
                <a:cs typeface="Source Code Pro"/>
                <a:sym typeface="Source Code Pro"/>
              </a:rPr>
              <a:t>, cv=5)</a:t>
            </a:r>
            <a:br>
              <a:rPr lang="en-US" sz="1100" b="0" i="0" u="none" strike="noStrike">
                <a:solidFill>
                  <a:srgbClr val="1F2329"/>
                </a:solidFill>
                <a:latin typeface="Source Code Pro"/>
                <a:ea typeface="Source Code Pro"/>
                <a:cs typeface="Source Code Pro"/>
                <a:sym typeface="Source Code Pro"/>
              </a:rPr>
            </a:br>
            <a:r>
              <a:rPr lang="en-US" sz="1100" b="0" i="0" u="none" strike="noStrike">
                <a:solidFill>
                  <a:srgbClr val="A7F3D0"/>
                </a:solidFill>
                <a:latin typeface="Source Code Pro"/>
                <a:ea typeface="Source Code Pro"/>
                <a:cs typeface="Source Code Pro"/>
                <a:sym typeface="Source Code Pro"/>
              </a:rPr>
              <a:t>grid_search</a:t>
            </a:r>
            <a:r>
              <a:rPr lang="en-US" sz="1100" b="0" i="0" u="none" strike="noStrike">
                <a:solidFill>
                  <a:srgbClr val="E2E8F0"/>
                </a:solidFill>
                <a:latin typeface="Source Code Pro"/>
                <a:ea typeface="Source Code Pro"/>
                <a:cs typeface="Source Code Pro"/>
                <a:sym typeface="Source Code Pro"/>
              </a:rPr>
              <a:t>.fit(X_train, y_train)</a:t>
            </a:r>
            <a:br>
              <a:rPr lang="en-US" sz="1100" b="0" i="0" u="none" strike="noStrike">
                <a:solidFill>
                  <a:srgbClr val="1F2329"/>
                </a:solidFill>
                <a:latin typeface="Source Code Pro"/>
                <a:ea typeface="Source Code Pro"/>
                <a:cs typeface="Source Code Pro"/>
                <a:sym typeface="Source Code Pro"/>
              </a:rPr>
            </a:br>
            <a:r>
              <a:rPr lang="en-US" sz="1100" b="0" i="0" u="none" strike="noStrike">
                <a:solidFill>
                  <a:srgbClr val="94A3B8"/>
                </a:solidFill>
                <a:latin typeface="Source Code Pro"/>
                <a:ea typeface="Source Code Pro"/>
                <a:cs typeface="Source Code Pro"/>
                <a:sym typeface="Source Code Pro"/>
              </a:rPr>
              <a:t># 3. 输出最佳参数与性能指标</a:t>
            </a:r>
            <a:br>
              <a:rPr lang="en-US" sz="1100" b="0" i="0" u="none" strike="noStrike">
                <a:solidFill>
                  <a:srgbClr val="1F2329"/>
                </a:solidFill>
                <a:latin typeface="Source Code Pro"/>
                <a:ea typeface="Source Code Pro"/>
                <a:cs typeface="Source Code Pro"/>
                <a:sym typeface="Source Code Pro"/>
              </a:rPr>
            </a:br>
            <a:r>
              <a:rPr lang="en-US" sz="1100" b="0" i="0" u="none" strike="noStrike">
                <a:solidFill>
                  <a:srgbClr val="E2E8F0"/>
                </a:solidFill>
                <a:latin typeface="Source Code Pro"/>
                <a:ea typeface="Source Code Pro"/>
                <a:cs typeface="Source Code Pro"/>
                <a:sym typeface="Source Code Pro"/>
              </a:rPr>
              <a:t>print(</a:t>
            </a:r>
            <a:r>
              <a:rPr lang="en-US" sz="1100" b="0" i="0" u="none" strike="noStrike">
                <a:solidFill>
                  <a:srgbClr val="94A3B8"/>
                </a:solidFill>
                <a:latin typeface="Source Code Pro"/>
                <a:ea typeface="Source Code Pro"/>
                <a:cs typeface="Source Code Pro"/>
                <a:sym typeface="Source Code Pro"/>
              </a:rPr>
              <a:t>"Best Params:",</a:t>
            </a:r>
            <a:r>
              <a:rPr lang="en-US" sz="1100" b="0" i="0" u="none" strike="noStrike">
                <a:solidFill>
                  <a:srgbClr val="A7F3D0"/>
                </a:solidFill>
                <a:latin typeface="Source Code Pro"/>
                <a:ea typeface="Source Code Pro"/>
                <a:cs typeface="Source Code Pro"/>
                <a:sym typeface="Source Code Pro"/>
              </a:rPr>
              <a:t>grid_search</a:t>
            </a:r>
            <a:r>
              <a:rPr lang="en-US" sz="1100" b="0" i="0" u="none" strike="noStrike">
                <a:solidFill>
                  <a:srgbClr val="E2E8F0"/>
                </a:solidFill>
                <a:latin typeface="Source Code Pro"/>
                <a:ea typeface="Source Code Pro"/>
                <a:cs typeface="Source Code Pro"/>
                <a:sym typeface="Source Code Pro"/>
              </a:rPr>
              <a:t>.best_params_)</a:t>
            </a:r>
            <a:endParaRPr lang="en-US" sz="11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74151"/>
                </a:solidFill>
                <a:latin typeface="Noto Sans SC"/>
                <a:ea typeface="Noto Sans SC"/>
                <a:cs typeface="Noto Sans SC"/>
                <a:sym typeface="Noto Sans SC"/>
              </a:rPr>
              <a:t>06 模型优化与解释</a:t>
            </a:r>
            <a:endParaRPr lang="en-US" sz="1100"/>
          </a:p>
        </p:txBody>
      </p:sp>
      <p:sp>
        <p:nvSpPr>
          <p:cNvPr id="4" name="AutoShape 4"/>
          <p:cNvSpPr/>
          <p:nvPr/>
        </p:nvSpPr>
        <p:spPr>
          <a:xfrm>
            <a:off x="762000" y="1778000"/>
            <a:ext cx="5207000" cy="4318000"/>
          </a:xfrm>
          <a:prstGeom prst="roundRect">
            <a:avLst>
              <a:gd name="adj" fmla="val 3529"/>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5" name="AutoShape 5"/>
          <p:cNvSpPr/>
          <p:nvPr/>
        </p:nvSpPr>
        <p:spPr>
          <a:xfrm>
            <a:off x="1066800" y="2082800"/>
            <a:ext cx="45974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22C55E"/>
                </a:solidFill>
                <a:latin typeface="Noto Sans SC"/>
                <a:ea typeface="Noto Sans SC"/>
                <a:cs typeface="Noto Sans SC"/>
                <a:sym typeface="Noto Sans SC"/>
              </a:rPr>
              <a:t>2. 特征重要性分析</a:t>
            </a:r>
            <a:endParaRPr lang="en-US" sz="1100"/>
          </a:p>
        </p:txBody>
      </p:sp>
      <p:sp>
        <p:nvSpPr>
          <p:cNvPr id="6" name="AutoShape 6"/>
          <p:cNvSpPr/>
          <p:nvPr/>
        </p:nvSpPr>
        <p:spPr>
          <a:xfrm>
            <a:off x="1066800" y="2794000"/>
            <a:ext cx="4597400" cy="8255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300" b="0" i="0" u="none" strike="noStrike">
                <a:solidFill>
                  <a:srgbClr val="4B5563"/>
                </a:solidFill>
                <a:latin typeface="Noto Sans SC"/>
                <a:ea typeface="Noto Sans SC"/>
                <a:cs typeface="Noto Sans SC"/>
                <a:sym typeface="Noto Sans SC"/>
              </a:rPr>
              <a:t>随机森林模型可量化输出每个特征对预测结果的贡献度，突破了传统模型的“黑盒”限制，对解释模型逻辑、挖掘数据规律并转化为临床洞察具有重要价值。</a:t>
            </a:r>
            <a:endParaRPr lang="en-US" sz="1100"/>
          </a:p>
        </p:txBody>
      </p:sp>
      <p:sp>
        <p:nvSpPr>
          <p:cNvPr id="7" name="AutoShape 7"/>
          <p:cNvSpPr/>
          <p:nvPr/>
        </p:nvSpPr>
        <p:spPr>
          <a:xfrm>
            <a:off x="1066800" y="3873500"/>
            <a:ext cx="4597400" cy="1143000"/>
          </a:xfrm>
          <a:prstGeom prst="roundRect">
            <a:avLst>
              <a:gd name="adj" fmla="val 8888"/>
            </a:avLst>
          </a:prstGeom>
          <a:solidFill>
            <a:srgbClr val="F0FDF4">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1219200" y="4000500"/>
            <a:ext cx="4292600" cy="889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1" i="0" u="none" strike="noStrike">
                <a:solidFill>
                  <a:srgbClr val="15803D"/>
                </a:solidFill>
                <a:latin typeface="Noto Sans SC"/>
                <a:ea typeface="Noto Sans SC"/>
                <a:cs typeface="Noto Sans SC"/>
                <a:sym typeface="Noto Sans SC"/>
              </a:rPr>
              <a:t>💡 最重要的预测指标：</a:t>
            </a:r>
            <a:br>
              <a:rPr lang="en-US" sz="1600" b="0" i="0" u="none" strike="noStrike">
                <a:solidFill>
                  <a:srgbClr val="1F2329"/>
                </a:solidFill>
                <a:latin typeface="Noto Sans SC"/>
                <a:ea typeface="Noto Sans SC"/>
                <a:cs typeface="Noto Sans SC"/>
                <a:sym typeface="Noto Sans SC"/>
              </a:rPr>
            </a:br>
            <a:r>
              <a:rPr lang="en-US" sz="1200" b="1" i="0" u="none" strike="noStrike">
                <a:solidFill>
                  <a:srgbClr val="374151"/>
                </a:solidFill>
                <a:latin typeface="Noto Sans SC"/>
                <a:ea typeface="Noto Sans SC"/>
                <a:cs typeface="Noto Sans SC"/>
                <a:sym typeface="Noto Sans SC"/>
              </a:rPr>
              <a:t>Glucose (血糖)、BMI (体重指数)、Age (年龄)</a:t>
            </a:r>
            <a:r>
              <a:rPr lang="en-US" sz="1200" b="0" i="0" u="none" strike="noStrike">
                <a:solidFill>
                  <a:srgbClr val="374151"/>
                </a:solidFill>
                <a:latin typeface="Noto Sans SC"/>
                <a:ea typeface="Noto Sans SC"/>
                <a:cs typeface="Noto Sans SC"/>
                <a:sym typeface="Noto Sans SC"/>
              </a:rPr>
              <a:t>是预测糖尿病的最强有力指标，对模型预测结果贡献最大。</a:t>
            </a:r>
            <a:endParaRPr lang="en-US" sz="1100"/>
          </a:p>
        </p:txBody>
      </p:sp>
      <p:sp>
        <p:nvSpPr>
          <p:cNvPr id="9" name="AutoShape 9"/>
          <p:cNvSpPr/>
          <p:nvPr/>
        </p:nvSpPr>
        <p:spPr>
          <a:xfrm>
            <a:off x="1066800" y="5207000"/>
            <a:ext cx="4597400" cy="1143000"/>
          </a:xfrm>
          <a:prstGeom prst="roundRect">
            <a:avLst>
              <a:gd name="adj" fmla="val 8888"/>
            </a:avLst>
          </a:prstGeom>
          <a:solidFill>
            <a:srgbClr val="EFF6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1219200" y="5334000"/>
            <a:ext cx="4292600" cy="889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1" i="0" u="none" strike="noStrike">
                <a:solidFill>
                  <a:srgbClr val="1D4ED8"/>
                </a:solidFill>
                <a:latin typeface="Noto Sans SC"/>
                <a:ea typeface="Noto Sans SC"/>
                <a:cs typeface="Noto Sans SC"/>
                <a:sym typeface="Noto Sans SC"/>
              </a:rPr>
              <a:t>🏥 显著的临床指导意义：</a:t>
            </a:r>
            <a:br>
              <a:rPr lang="en-US" sz="1600" b="0" i="0" u="none" strike="noStrike">
                <a:solidFill>
                  <a:srgbClr val="1F2329"/>
                </a:solidFill>
                <a:latin typeface="Noto Sans SC"/>
                <a:ea typeface="Noto Sans SC"/>
                <a:cs typeface="Noto Sans SC"/>
                <a:sym typeface="Noto Sans SC"/>
              </a:rPr>
            </a:br>
            <a:r>
              <a:rPr lang="en-US" sz="1200" b="0" i="0" u="none" strike="noStrike">
                <a:solidFill>
                  <a:srgbClr val="374151"/>
                </a:solidFill>
                <a:latin typeface="Noto Sans SC"/>
                <a:ea typeface="Noto Sans SC"/>
                <a:cs typeface="Noto Sans SC"/>
                <a:sym typeface="Noto Sans SC"/>
              </a:rPr>
              <a:t>结论与医学常识、前期相关性分析高度一致，增强了模型可信度，为临床医生识别高危人群提供了明确的数据支撑。</a:t>
            </a:r>
            <a:endParaRPr lang="en-US" sz="1100"/>
          </a:p>
        </p:txBody>
      </p:sp>
      <p:sp>
        <p:nvSpPr>
          <p:cNvPr id="11" name="AutoShape 11"/>
          <p:cNvSpPr/>
          <p:nvPr/>
        </p:nvSpPr>
        <p:spPr>
          <a:xfrm>
            <a:off x="6223000" y="1778000"/>
            <a:ext cx="5207000" cy="4318000"/>
          </a:xfrm>
          <a:prstGeom prst="roundRect">
            <a:avLst>
              <a:gd name="adj" fmla="val 3529"/>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527800" y="2133600"/>
            <a:ext cx="304800" cy="304800"/>
          </a:xfrm>
          <a:prstGeom prst="rect">
            <a:avLst/>
          </a:prstGeom>
        </p:spPr>
      </p:pic>
      <p:sp>
        <p:nvSpPr>
          <p:cNvPr id="13" name="AutoShape 13"/>
          <p:cNvSpPr/>
          <p:nvPr/>
        </p:nvSpPr>
        <p:spPr>
          <a:xfrm>
            <a:off x="6985000" y="21082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74151"/>
                </a:solidFill>
                <a:latin typeface="Noto Sans SC"/>
                <a:ea typeface="Noto Sans SC"/>
                <a:cs typeface="Noto Sans SC"/>
                <a:sym typeface="Noto Sans SC"/>
              </a:rPr>
              <a:t>特征重要性排序 (Feature Importance)</a:t>
            </a:r>
            <a:endParaRPr lang="en-US" sz="1100"/>
          </a:p>
        </p:txBody>
      </p:sp>
      <p:sp>
        <p:nvSpPr>
          <p:cNvPr id="14" name="AutoShape 14"/>
          <p:cNvSpPr/>
          <p:nvPr/>
        </p:nvSpPr>
        <p:spPr>
          <a:xfrm>
            <a:off x="6527800" y="2921000"/>
            <a:ext cx="1143000" cy="381000"/>
          </a:xfrm>
          <a:prstGeom prst="rect">
            <a:avLst/>
          </a:prstGeom>
          <a:noFill/>
          <a:ln w="12700" cap="flat" cmpd="sng">
            <a:noFill/>
            <a:prstDash val="solid"/>
            <a:round/>
          </a:ln>
        </p:spPr>
        <p:txBody>
          <a:bodyPr vert="horz" wrap="square" lIns="0" tIns="0" rIns="0" bIns="0" rtlCol="0" anchor="ctr" anchorCtr="0"/>
          <a:lstStyle/>
          <a:p>
            <a:pPr indent="0" algn="r">
              <a:lnSpc>
                <a:spcPct val="125000"/>
              </a:lnSpc>
              <a:defRPr/>
            </a:pPr>
            <a:r>
              <a:rPr lang="en-US" sz="1300" b="0" i="0" u="none" strike="noStrike">
                <a:solidFill>
                  <a:srgbClr val="374151"/>
                </a:solidFill>
                <a:latin typeface="Noto Sans SC"/>
                <a:ea typeface="Noto Sans SC"/>
                <a:cs typeface="Noto Sans SC"/>
                <a:sym typeface="Noto Sans SC"/>
              </a:rPr>
              <a:t>Glucose</a:t>
            </a:r>
            <a:endParaRPr lang="en-US" sz="1100"/>
          </a:p>
        </p:txBody>
      </p:sp>
      <p:sp>
        <p:nvSpPr>
          <p:cNvPr id="15" name="AutoShape 15"/>
          <p:cNvSpPr/>
          <p:nvPr/>
        </p:nvSpPr>
        <p:spPr>
          <a:xfrm>
            <a:off x="7810500" y="2921000"/>
            <a:ext cx="2540000" cy="304800"/>
          </a:xfrm>
          <a:prstGeom prst="roundRect">
            <a:avLst>
              <a:gd name="adj" fmla="val 16666"/>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10477500" y="2921000"/>
            <a:ext cx="76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6B7280"/>
                </a:solidFill>
                <a:latin typeface="Noto Sans SC"/>
                <a:ea typeface="Noto Sans SC"/>
                <a:cs typeface="Noto Sans SC"/>
                <a:sym typeface="Noto Sans SC"/>
              </a:rPr>
              <a:t>0.32 (Highest)</a:t>
            </a:r>
            <a:endParaRPr lang="en-US" sz="1100"/>
          </a:p>
        </p:txBody>
      </p:sp>
      <p:sp>
        <p:nvSpPr>
          <p:cNvPr id="17" name="AutoShape 17"/>
          <p:cNvSpPr/>
          <p:nvPr/>
        </p:nvSpPr>
        <p:spPr>
          <a:xfrm>
            <a:off x="6527800" y="3683000"/>
            <a:ext cx="1143000" cy="381000"/>
          </a:xfrm>
          <a:prstGeom prst="rect">
            <a:avLst/>
          </a:prstGeom>
          <a:noFill/>
          <a:ln w="12700" cap="flat" cmpd="sng">
            <a:noFill/>
            <a:prstDash val="solid"/>
            <a:round/>
          </a:ln>
        </p:spPr>
        <p:txBody>
          <a:bodyPr vert="horz" wrap="square" lIns="0" tIns="0" rIns="0" bIns="0" rtlCol="0" anchor="ctr" anchorCtr="0"/>
          <a:lstStyle/>
          <a:p>
            <a:pPr indent="0" algn="r">
              <a:lnSpc>
                <a:spcPct val="125000"/>
              </a:lnSpc>
              <a:defRPr/>
            </a:pPr>
            <a:r>
              <a:rPr lang="en-US" sz="1300" b="0" i="0" u="none" strike="noStrike">
                <a:solidFill>
                  <a:srgbClr val="374151"/>
                </a:solidFill>
                <a:latin typeface="Noto Sans SC"/>
                <a:ea typeface="Noto Sans SC"/>
                <a:cs typeface="Noto Sans SC"/>
                <a:sym typeface="Noto Sans SC"/>
              </a:rPr>
              <a:t>BMI</a:t>
            </a:r>
            <a:endParaRPr lang="en-US" sz="1100"/>
          </a:p>
        </p:txBody>
      </p:sp>
      <p:sp>
        <p:nvSpPr>
          <p:cNvPr id="18" name="AutoShape 18"/>
          <p:cNvSpPr/>
          <p:nvPr/>
        </p:nvSpPr>
        <p:spPr>
          <a:xfrm>
            <a:off x="7810500" y="3683000"/>
            <a:ext cx="2032000" cy="304800"/>
          </a:xfrm>
          <a:prstGeom prst="roundRect">
            <a:avLst>
              <a:gd name="adj" fmla="val 16666"/>
            </a:avLst>
          </a:prstGeom>
          <a:solidFill>
            <a:srgbClr val="4ADE80">
              <a:alpha val="100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9969500" y="3683000"/>
            <a:ext cx="114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6B7280"/>
                </a:solidFill>
                <a:latin typeface="Noto Sans SC"/>
                <a:ea typeface="Noto Sans SC"/>
                <a:cs typeface="Noto Sans SC"/>
                <a:sym typeface="Noto Sans SC"/>
              </a:rPr>
              <a:t>0.25 (High)</a:t>
            </a:r>
            <a:endParaRPr lang="en-US" sz="1100"/>
          </a:p>
        </p:txBody>
      </p:sp>
      <p:sp>
        <p:nvSpPr>
          <p:cNvPr id="20" name="AutoShape 20"/>
          <p:cNvSpPr/>
          <p:nvPr/>
        </p:nvSpPr>
        <p:spPr>
          <a:xfrm>
            <a:off x="6527800" y="4445000"/>
            <a:ext cx="1143000" cy="381000"/>
          </a:xfrm>
          <a:prstGeom prst="rect">
            <a:avLst/>
          </a:prstGeom>
          <a:noFill/>
          <a:ln w="12700" cap="flat" cmpd="sng">
            <a:noFill/>
            <a:prstDash val="solid"/>
            <a:round/>
          </a:ln>
        </p:spPr>
        <p:txBody>
          <a:bodyPr vert="horz" wrap="square" lIns="0" tIns="0" rIns="0" bIns="0" rtlCol="0" anchor="ctr" anchorCtr="0"/>
          <a:lstStyle/>
          <a:p>
            <a:pPr indent="0" algn="r">
              <a:lnSpc>
                <a:spcPct val="125000"/>
              </a:lnSpc>
              <a:defRPr/>
            </a:pPr>
            <a:r>
              <a:rPr lang="en-US" sz="1300" b="0" i="0" u="none" strike="noStrike">
                <a:solidFill>
                  <a:srgbClr val="374151"/>
                </a:solidFill>
                <a:latin typeface="Noto Sans SC"/>
                <a:ea typeface="Noto Sans SC"/>
                <a:cs typeface="Noto Sans SC"/>
                <a:sym typeface="Noto Sans SC"/>
              </a:rPr>
              <a:t>Age</a:t>
            </a:r>
            <a:endParaRPr lang="en-US" sz="1100"/>
          </a:p>
        </p:txBody>
      </p:sp>
      <p:sp>
        <p:nvSpPr>
          <p:cNvPr id="21" name="AutoShape 21"/>
          <p:cNvSpPr/>
          <p:nvPr/>
        </p:nvSpPr>
        <p:spPr>
          <a:xfrm>
            <a:off x="7810500" y="4445000"/>
            <a:ext cx="1524000" cy="304800"/>
          </a:xfrm>
          <a:prstGeom prst="roundRect">
            <a:avLst>
              <a:gd name="adj" fmla="val 16666"/>
            </a:avLst>
          </a:prstGeom>
          <a:solidFill>
            <a:srgbClr val="86EFAC">
              <a:alpha val="100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9461500" y="4445000"/>
            <a:ext cx="152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6B7280"/>
                </a:solidFill>
                <a:latin typeface="Noto Sans SC"/>
                <a:ea typeface="Noto Sans SC"/>
                <a:cs typeface="Noto Sans SC"/>
                <a:sym typeface="Noto Sans SC"/>
              </a:rPr>
              <a:t>0.18 (Medium)</a:t>
            </a:r>
            <a:endParaRPr lang="en-US" sz="1100"/>
          </a:p>
        </p:txBody>
      </p:sp>
      <p:sp>
        <p:nvSpPr>
          <p:cNvPr id="23" name="AutoShape 23"/>
          <p:cNvSpPr/>
          <p:nvPr/>
        </p:nvSpPr>
        <p:spPr>
          <a:xfrm>
            <a:off x="6527800" y="5207000"/>
            <a:ext cx="1143000" cy="381000"/>
          </a:xfrm>
          <a:prstGeom prst="rect">
            <a:avLst/>
          </a:prstGeom>
          <a:noFill/>
          <a:ln w="12700" cap="flat" cmpd="sng">
            <a:noFill/>
            <a:prstDash val="solid"/>
            <a:round/>
          </a:ln>
        </p:spPr>
        <p:txBody>
          <a:bodyPr vert="horz" wrap="square" lIns="0" tIns="0" rIns="0" bIns="0" rtlCol="0" anchor="ctr" anchorCtr="0"/>
          <a:lstStyle/>
          <a:p>
            <a:pPr indent="0" algn="r">
              <a:lnSpc>
                <a:spcPct val="125000"/>
              </a:lnSpc>
              <a:defRPr/>
            </a:pPr>
            <a:r>
              <a:rPr lang="en-US" sz="1300" b="0" i="0" u="none" strike="noStrike">
                <a:solidFill>
                  <a:srgbClr val="6B7280"/>
                </a:solidFill>
                <a:latin typeface="Noto Sans SC"/>
                <a:ea typeface="Noto Sans SC"/>
                <a:cs typeface="Noto Sans SC"/>
                <a:sym typeface="Noto Sans SC"/>
              </a:rPr>
              <a:t>Others</a:t>
            </a:r>
            <a:endParaRPr lang="en-US" sz="1100"/>
          </a:p>
        </p:txBody>
      </p:sp>
      <p:sp>
        <p:nvSpPr>
          <p:cNvPr id="24" name="AutoShape 24"/>
          <p:cNvSpPr/>
          <p:nvPr/>
        </p:nvSpPr>
        <p:spPr>
          <a:xfrm>
            <a:off x="7810500" y="5207000"/>
            <a:ext cx="1016000" cy="304800"/>
          </a:xfrm>
          <a:prstGeom prst="roundRect">
            <a:avLst>
              <a:gd name="adj" fmla="val 16666"/>
            </a:avLst>
          </a:prstGeom>
          <a:solidFill>
            <a:srgbClr val="D1D5DB">
              <a:alpha val="100000"/>
            </a:srgbClr>
          </a:solidFill>
          <a:ln w="25400" cap="flat" cmpd="sng">
            <a:noFill/>
            <a:prstDash val="solid"/>
            <a:round/>
          </a:ln>
        </p:spPr>
        <p:txBody>
          <a:bodyPr vert="horz" wrap="square" lIns="63500" tIns="63500" rIns="63500" bIns="63500" rtlCol="0" anchor="ctr"/>
          <a:lstStyle/>
          <a:p>
            <a:pPr algn="ctr">
              <a:defRPr/>
            </a:pPr>
          </a:p>
        </p:txBody>
      </p:sp>
      <p:sp>
        <p:nvSpPr>
          <p:cNvPr id="25" name="AutoShape 25"/>
          <p:cNvSpPr/>
          <p:nvPr/>
        </p:nvSpPr>
        <p:spPr>
          <a:xfrm>
            <a:off x="8953500" y="5207000"/>
            <a:ext cx="177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9CA3AF"/>
                </a:solidFill>
                <a:latin typeface="Noto Sans SC"/>
                <a:ea typeface="Noto Sans SC"/>
                <a:cs typeface="Noto Sans SC"/>
                <a:sym typeface="Noto Sans SC"/>
              </a:rPr>
              <a:t>Pregnancies, BloodPressure...</a:t>
            </a:r>
            <a:endParaRPr lang="en-US" sz="11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74151"/>
                </a:solidFill>
                <a:latin typeface="Noto Sans SC"/>
                <a:ea typeface="Noto Sans SC"/>
                <a:cs typeface="Noto Sans SC"/>
                <a:sym typeface="Noto Sans SC"/>
              </a:rPr>
              <a:t>07 总结与展望</a:t>
            </a:r>
            <a:endParaRPr lang="en-US" sz="1100"/>
          </a:p>
        </p:txBody>
      </p:sp>
      <p:sp>
        <p:nvSpPr>
          <p:cNvPr id="4" name="AutoShape 4"/>
          <p:cNvSpPr/>
          <p:nvPr/>
        </p:nvSpPr>
        <p:spPr>
          <a:xfrm>
            <a:off x="762000" y="1778000"/>
            <a:ext cx="3429000" cy="4445000"/>
          </a:xfrm>
          <a:prstGeom prst="roundRect">
            <a:avLst>
              <a:gd name="adj" fmla="val 4444"/>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5" name="AutoShape 5"/>
          <p:cNvSpPr/>
          <p:nvPr/>
        </p:nvSpPr>
        <p:spPr>
          <a:xfrm>
            <a:off x="1016000" y="2032000"/>
            <a:ext cx="292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22C55E"/>
                </a:solidFill>
                <a:latin typeface="Noto Sans SC"/>
                <a:ea typeface="Noto Sans SC"/>
                <a:cs typeface="Noto Sans SC"/>
                <a:sym typeface="Noto Sans SC"/>
              </a:rPr>
              <a:t>📊 项目成果总结</a:t>
            </a:r>
            <a:endParaRPr lang="en-US" sz="1100"/>
          </a:p>
        </p:txBody>
      </p:sp>
      <p:sp>
        <p:nvSpPr>
          <p:cNvPr id="6" name="AutoShape 6"/>
          <p:cNvSpPr/>
          <p:nvPr/>
        </p:nvSpPr>
        <p:spPr>
          <a:xfrm>
            <a:off x="1016000" y="2794000"/>
            <a:ext cx="2921000" cy="952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500" b="1" i="0" u="none" strike="noStrike">
                <a:solidFill>
                  <a:srgbClr val="374151"/>
                </a:solidFill>
                <a:latin typeface="Noto Sans SC"/>
                <a:ea typeface="Noto Sans SC"/>
                <a:cs typeface="Noto Sans SC"/>
                <a:sym typeface="Noto Sans SC"/>
              </a:rPr>
              <a:t>数据预处理至关重要</a:t>
            </a:r>
            <a:endParaRPr lang="en-US" sz="1100"/>
          </a:p>
          <a:p>
            <a:pPr indent="0" algn="l">
              <a:lnSpc>
                <a:spcPct val="108000"/>
              </a:lnSpc>
              <a:spcBef>
                <a:spcPts val="600"/>
              </a:spcBef>
            </a:pPr>
            <a:r>
              <a:rPr lang="en-US" sz="1200" b="0" i="0" u="none" strike="noStrike">
                <a:solidFill>
                  <a:srgbClr val="6B7280"/>
                </a:solidFill>
                <a:latin typeface="Noto Sans SC"/>
                <a:ea typeface="Noto Sans SC"/>
                <a:cs typeface="Noto Sans SC"/>
                <a:sym typeface="Noto Sans SC"/>
              </a:rPr>
              <a:t>对异常零值的合理填充显著提升了模型性能，夯实了数据基础。</a:t>
            </a:r>
            <a:endParaRPr lang="en-US" sz="1200" b="0" i="0" u="none" strike="noStrike">
              <a:solidFill>
                <a:srgbClr val="6B7280"/>
              </a:solidFill>
              <a:latin typeface="Noto Sans SC"/>
              <a:ea typeface="Noto Sans SC"/>
              <a:cs typeface="Noto Sans SC"/>
              <a:sym typeface="Noto Sans SC"/>
            </a:endParaRPr>
          </a:p>
        </p:txBody>
      </p:sp>
      <p:sp>
        <p:nvSpPr>
          <p:cNvPr id="7" name="AutoShape 7"/>
          <p:cNvSpPr/>
          <p:nvPr/>
        </p:nvSpPr>
        <p:spPr>
          <a:xfrm>
            <a:off x="1016000" y="3937000"/>
            <a:ext cx="2921000" cy="952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500" b="1" i="0" u="none" strike="noStrike">
                <a:solidFill>
                  <a:srgbClr val="374151"/>
                </a:solidFill>
                <a:latin typeface="Noto Sans SC"/>
                <a:ea typeface="Noto Sans SC"/>
                <a:cs typeface="Noto Sans SC"/>
                <a:sym typeface="Noto Sans SC"/>
              </a:rPr>
              <a:t>集成模型表现优异</a:t>
            </a:r>
            <a:endParaRPr lang="en-US" sz="1100"/>
          </a:p>
          <a:p>
            <a:pPr indent="0" algn="l">
              <a:lnSpc>
                <a:spcPct val="108000"/>
              </a:lnSpc>
              <a:spcBef>
                <a:spcPts val="600"/>
              </a:spcBef>
            </a:pPr>
            <a:r>
              <a:rPr lang="en-US" sz="1200" b="0" i="0" u="none" strike="noStrike">
                <a:solidFill>
                  <a:srgbClr val="6B7280"/>
                </a:solidFill>
                <a:latin typeface="Noto Sans SC"/>
                <a:ea typeface="Noto Sans SC"/>
                <a:cs typeface="Noto Sans SC"/>
                <a:sym typeface="Noto Sans SC"/>
              </a:rPr>
              <a:t>随机森林和支持向量机在综合准确率与泛化能力上，全面优于传统单一分类模型。</a:t>
            </a:r>
            <a:endParaRPr lang="en-US" sz="1200" b="0" i="0" u="none" strike="noStrike">
              <a:solidFill>
                <a:srgbClr val="6B7280"/>
              </a:solidFill>
              <a:latin typeface="Noto Sans SC"/>
              <a:ea typeface="Noto Sans SC"/>
              <a:cs typeface="Noto Sans SC"/>
              <a:sym typeface="Noto Sans SC"/>
            </a:endParaRPr>
          </a:p>
        </p:txBody>
      </p:sp>
      <p:sp>
        <p:nvSpPr>
          <p:cNvPr id="8" name="AutoShape 8"/>
          <p:cNvSpPr/>
          <p:nvPr/>
        </p:nvSpPr>
        <p:spPr>
          <a:xfrm>
            <a:off x="1016000" y="5080000"/>
            <a:ext cx="2921000" cy="952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500" b="1" i="0" u="none" strike="noStrike">
                <a:solidFill>
                  <a:srgbClr val="374151"/>
                </a:solidFill>
                <a:latin typeface="Noto Sans SC"/>
                <a:ea typeface="Noto Sans SC"/>
                <a:cs typeface="Noto Sans SC"/>
                <a:sym typeface="Noto Sans SC"/>
              </a:rPr>
              <a:t>关键特征明确</a:t>
            </a:r>
            <a:endParaRPr lang="en-US" sz="1100"/>
          </a:p>
          <a:p>
            <a:pPr indent="0" algn="l">
              <a:lnSpc>
                <a:spcPct val="108000"/>
              </a:lnSpc>
              <a:spcBef>
                <a:spcPts val="600"/>
              </a:spcBef>
            </a:pPr>
            <a:r>
              <a:rPr lang="en-US" sz="1200" b="0" i="0" u="none" strike="noStrike">
                <a:solidFill>
                  <a:srgbClr val="6B7280"/>
                </a:solidFill>
                <a:latin typeface="Noto Sans SC"/>
                <a:ea typeface="Noto Sans SC"/>
                <a:cs typeface="Noto Sans SC"/>
                <a:sym typeface="Noto Sans SC"/>
              </a:rPr>
              <a:t>血糖浓度(Glucose)、体重指数(BMI)和年龄(Age)是预测糖尿病最强有力的三大指标。</a:t>
            </a:r>
            <a:endParaRPr lang="en-US" sz="1200" b="0" i="0" u="none" strike="noStrike">
              <a:solidFill>
                <a:srgbClr val="6B7280"/>
              </a:solidFill>
              <a:latin typeface="Noto Sans SC"/>
              <a:ea typeface="Noto Sans SC"/>
              <a:cs typeface="Noto Sans SC"/>
              <a:sym typeface="Noto Sans SC"/>
            </a:endParaRPr>
          </a:p>
        </p:txBody>
      </p:sp>
      <p:pic>
        <p:nvPicPr>
          <p:cNvPr id="9" name="Picture 9"/>
          <p:cNvPicPr>
            <a:picLocks noChangeAspect="1"/>
          </p:cNvPicPr>
          <p:nvPr/>
        </p:nvPicPr>
        <p:blipFill>
          <a:blip r:embed="rId2"/>
          <a:srcRect l="18949" r="18949"/>
          <a:stretch>
            <a:fillRect/>
          </a:stretch>
        </p:blipFill>
        <p:spPr>
          <a:xfrm>
            <a:off x="4381500" y="2032000"/>
            <a:ext cx="3429000" cy="3683000"/>
          </a:xfrm>
          <a:prstGeom prst="roundRect">
            <a:avLst>
              <a:gd name="adj" fmla="val 5925"/>
            </a:avLst>
          </a:prstGeom>
          <a:noFill/>
          <a:ln w="25400" cap="flat" cmpd="sng">
            <a:noFill/>
            <a:prstDash val="solid"/>
            <a:round/>
          </a:ln>
          <a:effectLst>
            <a:outerShdw blurRad="444500" dist="190500" dir="2700000" algn="tl" rotWithShape="0">
              <a:srgbClr val="000000">
                <a:alpha val="25000"/>
              </a:srgbClr>
            </a:outerShdw>
          </a:effectLst>
        </p:spPr>
      </p:pic>
      <p:sp>
        <p:nvSpPr>
          <p:cNvPr id="10" name="AutoShape 10"/>
          <p:cNvSpPr/>
          <p:nvPr/>
        </p:nvSpPr>
        <p:spPr>
          <a:xfrm>
            <a:off x="8001000" y="1778000"/>
            <a:ext cx="3429000" cy="4445000"/>
          </a:xfrm>
          <a:prstGeom prst="roundRect">
            <a:avLst>
              <a:gd name="adj" fmla="val 4444"/>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11" name="AutoShape 11"/>
          <p:cNvSpPr/>
          <p:nvPr/>
        </p:nvSpPr>
        <p:spPr>
          <a:xfrm>
            <a:off x="8255000" y="2032000"/>
            <a:ext cx="292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22C55E"/>
                </a:solidFill>
                <a:latin typeface="Noto Sans SC"/>
                <a:ea typeface="Noto Sans SC"/>
                <a:cs typeface="Noto Sans SC"/>
                <a:sym typeface="Noto Sans SC"/>
              </a:rPr>
              <a:t>🚀 未来工作展望</a:t>
            </a:r>
            <a:endParaRPr lang="en-US" sz="1100"/>
          </a:p>
        </p:txBody>
      </p:sp>
      <p:sp>
        <p:nvSpPr>
          <p:cNvPr id="12" name="AutoShape 12"/>
          <p:cNvSpPr/>
          <p:nvPr/>
        </p:nvSpPr>
        <p:spPr>
          <a:xfrm>
            <a:off x="8255000" y="2794000"/>
            <a:ext cx="2921000" cy="762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400" b="1" i="0" u="none" strike="noStrike">
                <a:solidFill>
                  <a:srgbClr val="374151"/>
                </a:solidFill>
                <a:latin typeface="Noto Sans SC"/>
                <a:ea typeface="Noto Sans SC"/>
                <a:cs typeface="Noto Sans SC"/>
                <a:sym typeface="Noto Sans SC"/>
              </a:rPr>
              <a:t>引入多维特征数据</a:t>
            </a:r>
            <a:endParaRPr lang="en-US" sz="1100"/>
          </a:p>
          <a:p>
            <a:pPr indent="0" algn="l">
              <a:lnSpc>
                <a:spcPct val="108000"/>
              </a:lnSpc>
              <a:spcBef>
                <a:spcPts val="400"/>
              </a:spcBef>
            </a:pPr>
            <a:r>
              <a:rPr lang="en-US" sz="1200" b="0" i="0" u="none" strike="noStrike">
                <a:solidFill>
                  <a:srgbClr val="6B7280"/>
                </a:solidFill>
                <a:latin typeface="Noto Sans SC"/>
                <a:ea typeface="Noto Sans SC"/>
                <a:cs typeface="Noto Sans SC"/>
                <a:sym typeface="Noto Sans SC"/>
              </a:rPr>
              <a:t>整合饮食习惯、运动频率、家族病史及基因测序数据，丰富数据维度。</a:t>
            </a:r>
            <a:endParaRPr lang="en-US" sz="1200" b="0" i="0" u="none" strike="noStrike">
              <a:solidFill>
                <a:srgbClr val="6B7280"/>
              </a:solidFill>
              <a:latin typeface="Noto Sans SC"/>
              <a:ea typeface="Noto Sans SC"/>
              <a:cs typeface="Noto Sans SC"/>
              <a:sym typeface="Noto Sans SC"/>
            </a:endParaRPr>
          </a:p>
        </p:txBody>
      </p:sp>
      <p:sp>
        <p:nvSpPr>
          <p:cNvPr id="13" name="AutoShape 13"/>
          <p:cNvSpPr/>
          <p:nvPr/>
        </p:nvSpPr>
        <p:spPr>
          <a:xfrm>
            <a:off x="8255000" y="3683000"/>
            <a:ext cx="2921000" cy="762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400" b="1" i="0" u="none" strike="noStrike">
                <a:solidFill>
                  <a:srgbClr val="374151"/>
                </a:solidFill>
                <a:latin typeface="Noto Sans SC"/>
                <a:ea typeface="Noto Sans SC"/>
                <a:cs typeface="Noto Sans SC"/>
                <a:sym typeface="Noto Sans SC"/>
              </a:rPr>
              <a:t>尝试更复杂的模型</a:t>
            </a:r>
            <a:endParaRPr lang="en-US" sz="1100"/>
          </a:p>
          <a:p>
            <a:pPr indent="0" algn="l">
              <a:lnSpc>
                <a:spcPct val="108000"/>
              </a:lnSpc>
              <a:spcBef>
                <a:spcPts val="400"/>
              </a:spcBef>
            </a:pPr>
            <a:r>
              <a:rPr lang="en-US" sz="1200" b="0" i="0" u="none" strike="noStrike">
                <a:solidFill>
                  <a:srgbClr val="6B7280"/>
                </a:solidFill>
                <a:latin typeface="Noto Sans SC"/>
                <a:ea typeface="Noto Sans SC"/>
                <a:cs typeface="Noto Sans SC"/>
                <a:sym typeface="Noto Sans SC"/>
              </a:rPr>
              <a:t>探索XGBoost、LightGBM等进阶集成算法，或引入深度学习模型挖掘非线性关系。</a:t>
            </a:r>
            <a:endParaRPr lang="en-US" sz="1200" b="0" i="0" u="none" strike="noStrike">
              <a:solidFill>
                <a:srgbClr val="6B7280"/>
              </a:solidFill>
              <a:latin typeface="Noto Sans SC"/>
              <a:ea typeface="Noto Sans SC"/>
              <a:cs typeface="Noto Sans SC"/>
              <a:sym typeface="Noto Sans SC"/>
            </a:endParaRPr>
          </a:p>
        </p:txBody>
      </p:sp>
      <p:sp>
        <p:nvSpPr>
          <p:cNvPr id="14" name="AutoShape 14"/>
          <p:cNvSpPr/>
          <p:nvPr/>
        </p:nvSpPr>
        <p:spPr>
          <a:xfrm>
            <a:off x="8255000" y="4572000"/>
            <a:ext cx="2921000" cy="762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400" b="1" i="0" u="none" strike="noStrike">
                <a:solidFill>
                  <a:srgbClr val="374151"/>
                </a:solidFill>
                <a:latin typeface="Noto Sans SC"/>
                <a:ea typeface="Noto Sans SC"/>
                <a:cs typeface="Noto Sans SC"/>
                <a:sym typeface="Noto Sans SC"/>
              </a:rPr>
              <a:t>落地部署与可解释性</a:t>
            </a:r>
            <a:endParaRPr lang="en-US" sz="1100"/>
          </a:p>
          <a:p>
            <a:pPr indent="0" algn="l">
              <a:lnSpc>
                <a:spcPct val="108000"/>
              </a:lnSpc>
              <a:spcBef>
                <a:spcPts val="400"/>
              </a:spcBef>
            </a:pPr>
            <a:r>
              <a:rPr lang="en-US" sz="1200" b="0" i="0" u="none" strike="noStrike">
                <a:solidFill>
                  <a:srgbClr val="6B7280"/>
                </a:solidFill>
                <a:latin typeface="Noto Sans SC"/>
                <a:ea typeface="Noto Sans SC"/>
                <a:cs typeface="Noto Sans SC"/>
                <a:sym typeface="Noto Sans SC"/>
              </a:rPr>
              <a:t>将模型封装为API或Web应用，并利用SHAP方法增强模型可解释性，辅助临床决策。</a:t>
            </a:r>
            <a:endParaRPr lang="en-US" sz="1200" b="0" i="0" u="none" strike="noStrike">
              <a:solidFill>
                <a:srgbClr val="6B7280"/>
              </a:solidFill>
              <a:latin typeface="Noto Sans SC"/>
              <a:ea typeface="Noto Sans SC"/>
              <a:cs typeface="Noto Sans SC"/>
              <a:sym typeface="Noto Sans SC"/>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1778000"/>
            <a:ext cx="12192000" cy="889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000" b="1" i="0" u="none" strike="noStrike">
                <a:solidFill>
                  <a:srgbClr val="374151"/>
                </a:solidFill>
                <a:latin typeface="Noto Sans SC"/>
                <a:ea typeface="Noto Sans SC"/>
                <a:cs typeface="Noto Sans SC"/>
                <a:sym typeface="Noto Sans SC"/>
              </a:rPr>
              <a:t>感谢聆听</a:t>
            </a:r>
            <a:endParaRPr lang="en-US" sz="1100"/>
          </a:p>
        </p:txBody>
      </p:sp>
      <p:sp>
        <p:nvSpPr>
          <p:cNvPr id="4" name="AutoShape 4"/>
          <p:cNvSpPr/>
          <p:nvPr/>
        </p:nvSpPr>
        <p:spPr>
          <a:xfrm>
            <a:off x="0" y="3048000"/>
            <a:ext cx="12192000" cy="165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9600" b="1" i="0" u="none" strike="noStrike">
                <a:solidFill>
                  <a:srgbClr val="22C55E"/>
                </a:solidFill>
                <a:latin typeface="Noto Sans SC"/>
                <a:ea typeface="Noto Sans SC"/>
                <a:cs typeface="Noto Sans SC"/>
                <a:sym typeface="Noto Sans SC"/>
              </a:rPr>
              <a:t>Q &amp; A</a:t>
            </a:r>
            <a:endParaRPr lang="en-US" sz="1100"/>
          </a:p>
        </p:txBody>
      </p:sp>
      <p:sp>
        <p:nvSpPr>
          <p:cNvPr id="5" name="AutoShape 5"/>
          <p:cNvSpPr/>
          <p:nvPr/>
        </p:nvSpPr>
        <p:spPr>
          <a:xfrm>
            <a:off x="0" y="5207000"/>
            <a:ext cx="12192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0" i="0" u="none" strike="noStrike">
                <a:solidFill>
                  <a:srgbClr val="6B7280"/>
                </a:solidFill>
                <a:latin typeface="Noto Sans SC"/>
                <a:ea typeface="Noto Sans SC"/>
                <a:cs typeface="Noto Sans SC"/>
                <a:sym typeface="Noto Sans SC"/>
              </a:rPr>
              <a:t>欢迎提问与交流</a:t>
            </a:r>
            <a:endParaRPr lang="en-US" sz="1100"/>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5739</Words>
  <Application>WPS 演示</Application>
  <PresentationFormat/>
  <Paragraphs>364</Paragraphs>
  <Slides>18</Slides>
  <Notes>0</Notes>
  <HiddenSlides>0</HiddenSlides>
  <MMClips>0</MMClips>
  <ScaleCrop>false</ScaleCrop>
  <HeadingPairs>
    <vt:vector size="6" baseType="variant">
      <vt:variant>
        <vt:lpstr>已用的字体</vt:lpstr>
      </vt:variant>
      <vt:variant>
        <vt:i4>10</vt:i4>
      </vt:variant>
      <vt:variant>
        <vt:lpstr>主题</vt:lpstr>
      </vt:variant>
      <vt:variant>
        <vt:i4>3</vt:i4>
      </vt:variant>
      <vt:variant>
        <vt:lpstr>幻灯片标题</vt:lpstr>
      </vt:variant>
      <vt:variant>
        <vt:i4>18</vt:i4>
      </vt:variant>
    </vt:vector>
  </HeadingPairs>
  <TitlesOfParts>
    <vt:vector size="31" baseType="lpstr">
      <vt:lpstr>Arial</vt:lpstr>
      <vt:lpstr>宋体</vt:lpstr>
      <vt:lpstr>Wingdings</vt:lpstr>
      <vt:lpstr>Arial</vt:lpstr>
      <vt:lpstr>Noto Sans SC</vt:lpstr>
      <vt:lpstr>Segoe Print</vt:lpstr>
      <vt:lpstr>Source Code Pro</vt:lpstr>
      <vt:lpstr>Roboto Mono</vt:lpstr>
      <vt:lpstr>微软雅黑</vt:lpstr>
      <vt:lpstr>Arial Unicode MS</vt:lpstr>
      <vt:lpstr>Office 主题​​</vt:lpstr>
      <vt:lpstr>默认主题</vt:lpstr>
      <vt:lpstr>1_默认主题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生鱼</cp:lastModifiedBy>
  <cp:revision>4</cp:revision>
  <dcterms:created xsi:type="dcterms:W3CDTF">2026-05-15T00:27:00Z</dcterms:created>
  <dcterms:modified xsi:type="dcterms:W3CDTF">2026-05-27T03:11:35Z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02AF7B0C3C9547C38870069C8793F1EA_12</vt:lpwstr>
  </property>
  <property fmtid="{D5CDD505-2E9C-101B-9397-08002B2CF9AE}" pid="3" name="KSOProductBuildVer">
    <vt:lpwstr>2052-12.1.0.25225</vt:lpwstr>
  </property>
</Properties>
</file>